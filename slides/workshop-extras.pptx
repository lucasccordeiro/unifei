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Formal Verification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Session 1 — Fundamentals and Real-World Applications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18:00 – 21:00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Built on the COMP63342 Software Security course (University of Manchester)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Tonight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235440"/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Welcome + a question for you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Why software fails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Exercise 1: spot the bug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Testing vs. verification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Break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From programs to formulas: SAT, SMT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Bounded model checking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Exercise 2: predict the 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Who uses this in the real world?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Quiz + what to install for Session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Icebreaker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>
                <a:solidFill>
                  <a:srgbClr val="212121"/>
                </a:solidFill>
              </a:rPr>
              <a:t>Name a software failure that made the news.</a:t>
            </a:r>
          </a:p>
          <a:p>
            <a:pPr>
              <a:spcAft>
                <a:spcPts val="800"/>
              </a:spcAft>
            </a:pPr>
            <a:r>
              <a:rPr sz="3000">
                <a:solidFill>
                  <a:srgbClr val="212121"/>
                </a:solidFill>
              </a:rPr>
              <a:t>Any failure. Any decade. Shout it out / drop it in the poll.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Exercise 1 — Spot the Bug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In pairs, 7 minutes, on the handout: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*zPtr;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*aPtr = NULL;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void *sPtr = NULL;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number, i;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z[5] = {1, 2, 3, 4, 5};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sPtr = z;   ++zPtr;   number = zPtr;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number = *zPtr[2];   number = *sPtr;   ++z;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For each bug: WHAT is wrong, and what could happen at runtime?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There are at least six. Debrief: one bug per 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Where does your technique sit?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3566160"/>
              </a:tblGrid>
              <a:tr h="3657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Complete (no false alarms)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Incomplete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Sound (no missed bugs)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the 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abstract 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Unsound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bounded model checking*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testing, code review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789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* sound up to its bound — tonight's central fine print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Think–pair–share (5 min): place testing, code review, compiler warnings, and “prove it with maths” on this grid. Defend your placement.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Exercise 2 — Predict the Verdict (15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Groups of 3–4. Three short C programs on the handout (predict1.c, predict2.c, predict3.c).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For each program, write down BEFORE we run anything: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Will the model checker say VERIFICATION FAILED or SUCCESSFUL?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If FAILED — which line is the culprit?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Then we run ESBMC live and settle every bet.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Who uses this? — Model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Amazon Web Services — CBMC proves memory safety of the TLS library s2n; bounded proofs run in CI on every commit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ESBMC / CBMC — the tools from tonight's demos; compete yearly in SV-COMP on tens of thousands of benchmarks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counterexample you saw for getpassword.c is the same artefact AWS engineers read when a proof fails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Who uses this? — Symbolic execution &amp; fuzzing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KLEE found 56 bugs in GNU coreutils — code tested for 15 years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Microsoft SAGE fuzzed Windows file parsers with symbolic execution; credited with finding 1/3 of all Win7 file-parsing bugs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AFL / OSS-Fuzz — Google fuzzes ~1,000 open-source projects continuously; tens of thousands of bugs found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pragmatic cousin of verification: no proofs, ruthless effectiveness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Who uses this? — Proofs all the way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Astrée (abstract interpretation) proved absence of runtime errors in Airbus A380 fly-by-wire control code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seL4 — an OS microkernel with a machine-checked proof of functional correctness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CompCert — a C compiler with a proof that compilation preserves semantics; fuzzers find zero wrong-code bugs in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If verification can prove the absence of bugs…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why isn't all software verified?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(Let's collect reasons — then I'll tell you which ones the industry actually cites.)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Closing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1. A tool that never raises a false alarm is called …?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2. ESBMC returns UNSAT for C ∧ ¬P at --unwind 10. What do we know?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3. What's inside a counterexample?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4. Which technique proved the A380 flight-control code free of runtime errors?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5. Why can't testing prove the getPassword program safe?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Before Session 2 — 10 minutes of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Follow handouts/setup.md in the repo: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1.  pip install z3-solver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2.  download ESBMC: github.com/esbmc/esbmc/releases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3.  smoke test:  esbmc labs/lab4/float.c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→ should print VERIFICATION FAILED (yes, failed — that's the point)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Can't make it work? Come at 17:45 — we'll fix it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Formal Verification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Session 2 — Hands-On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18:00 – 21:00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Tonight you drive.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Recap quiz (while machines boot)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1. To prove property P with a solver, you ask whether … is satisfiable?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2. sat + a model in that setup means …?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3. --unwind 5 reports a violated unwinding assertion. Is the program buggy?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Smoke test, everyone: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esbmc lab4/float.c   →  VERIFICATION FAILED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Tonight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589520"/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18:15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Constraint solving with Z3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Bug hunting with ESBMC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Lab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Writing your own specifications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Team challenge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Debrief + where next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Work in pairs · keep labs/CHEATSHEET.md open · predict before you 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1 — Constraint solving (35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labs/lab1/lab1.py — three stages, instructions inside.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one trick behind the whole evening: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to prove P, ask the solver if ¬P is satisfiable.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unsat ⇒ P holds.   A model ⇒ a counterexample.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Checkpoint before Lab 2: what does unsat mean in Stage 1 vs. Stage 3?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2 — Bug hunting (40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predict → verify → READ THE COUNTEREXAMPLE → fix → re-verify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7498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7548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8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By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overflow.c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leak.c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19:05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vla.c  (two bugs!)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19:20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getpassword.c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stretch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7899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Done = VERIFICATION SUCCESSFUL on your fixed file, same flags.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Finished early? You are now a TA — help the pair next to you.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3 — Specifications (35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triangle.c verifies SUCCESSFUL as shipped.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Does that mean it's correct?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Write the two TODO properties and find out.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The tool checks what you specify — with a weak spec, green is cheap.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3, Part 2 — what did we prove?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unwind.c --unwind 5      →  ?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unwind.c --unwind 20     →  ?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unwind.c --unwind 60     →  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What is the unwinding assertion telling you at 5 and 20?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At 60 — what exactly is proven, and for which n?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Stretch: --k-induction answers VERIFICATION UNKNOWN. Why is the unbounded question fundamentally harder?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4 — Team challenge (30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Teams of 3–4. Points on the whiteboard: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1 pt — verdict predicted correctly in writing, before running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2 pts — file fixed and re-verified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Track A:  race.c — write down the failing interleaving first, then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race.c --context-bound 2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Track B:  float.c — primary-school arithmetic. Or is it?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One thing the tool caught that YOU wouldn't have?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arc you just walked: intuition → concepts → tools → application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Where next: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SV-COMP benchmarks: sv-comp.sosy-lab.org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Full course: COMP63342 Software Security (slides online)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ESBMC: esbmc.org · Z3: github.com/Z3Prover/z3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The complementary technique: fuzzing (AFL, OSS-Fuzz)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Feedback poll: pace / best lab / one improvement.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