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compatMode="1" strictFirstAndLastChars="0" saveSubsetFonts="1" autoCompressPictures="0">
  <p:sldMasterIdLst>
    <p:sldMasterId id="2147483649" r:id="rId1"/>
    <p:sldMasterId id="2147483791" r:id="rId2"/>
    <p:sldMasterId id="2147483851" r:id="rId3"/>
  </p:sldMasterIdLst>
  <p:notesMasterIdLst>
    <p:notesMasterId r:id="rId9"/>
  </p:notesMasterIdLst>
  <p:handoutMasterIdLst>
    <p:handoutMasterId r:id="rId10"/>
  </p:handoutMasterIdLst>
  <p:sldIdLst>
    <p:sldId id="331" r:id="rId4"/>
    <p:sldId id="514" r:id="rId5"/>
    <p:sldId id="517" r:id="rId6"/>
    <p:sldId id="519" r:id="rId7"/>
    <p:sldId id="524" r:id="rId8"/>
  </p:sldIdLst>
  <p:sldSz cx="12192000" cy="6858000" type="screen4x3"/>
  <p:notesSz cx="6946900" cy="92329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8">
          <p15:clr>
            <a:srgbClr val="A4A3A4"/>
          </p15:clr>
        </p15:guide>
        <p15:guide id="2" pos="218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howGuides="1">
      <p:cViewPr varScale="1">
        <p:scale>
          <a:sx n="120" d="100"/>
          <a:sy n="120" d="100"/>
        </p:scale>
        <p:origin x="1944" y="184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0" d="100"/>
          <a:sy n="60" d="100"/>
        </p:scale>
        <p:origin x="-1710" y="-72"/>
      </p:cViewPr>
      <p:guideLst>
        <p:guide orient="horz" pos="2908"/>
        <p:guide pos="218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6C1FE7-22DB-D41D-266E-7E4BE20E12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9900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E4CE38-B883-FCFF-453D-B0861CD9B8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5413" y="0"/>
            <a:ext cx="3009900" cy="4619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028150E-840C-7944-8A21-A499093C86BB}" type="datetimeFigureOut">
              <a:rPr lang="en-US" altLang="en-US"/>
              <a:pPr/>
              <a:t>6/11/26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BC30C-F714-B74E-9DBF-7DD3F79820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69350"/>
            <a:ext cx="3009900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57DBF-6873-E5F1-6998-5823853485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5413" y="8769350"/>
            <a:ext cx="3009900" cy="4619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208C217-FE06-3941-9BB5-7A19E842829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A749AC95-29B0-DE26-149D-C95EE794E4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C343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2455" tIns="46227" rIns="92455" bIns="46227" numCol="1" anchor="ctr" anchorCtr="0" compatLnSpc="1">
            <a:prstTxWarp prst="textNoShape">
              <a:avLst/>
            </a:prstTxWarp>
          </a:bodyPr>
          <a:lstStyle>
            <a:lvl1pPr defTabSz="923925">
              <a:defRPr sz="1200" i="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7E18BA4D-6E5C-04CB-4C13-EDB915FD4FD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37000" y="0"/>
            <a:ext cx="30099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C343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2455" tIns="46227" rIns="92455" bIns="4622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 i="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7E30646A-C318-6F5C-07C0-EE6678C95F2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5225" y="692150"/>
            <a:ext cx="4616450" cy="3462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C97FE7D5-422C-A3EC-624E-9C63803720A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5513" y="4386263"/>
            <a:ext cx="5095875" cy="415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C343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2455" tIns="46227" rIns="92455" bIns="4622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B6C60D50-09CF-87DC-AE41-E0D5D2EB3E9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0938"/>
            <a:ext cx="30099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C343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2455" tIns="46227" rIns="92455" bIns="46227" numCol="1" anchor="b" anchorCtr="0" compatLnSpc="1">
            <a:prstTxWarp prst="textNoShape">
              <a:avLst/>
            </a:prstTxWarp>
          </a:bodyPr>
          <a:lstStyle>
            <a:lvl1pPr defTabSz="923925">
              <a:defRPr sz="1200" i="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3" name="Rectangle 7">
            <a:extLst>
              <a:ext uri="{FF2B5EF4-FFF2-40B4-BE49-F238E27FC236}">
                <a16:creationId xmlns:a16="http://schemas.microsoft.com/office/drawing/2014/main" id="{926B682C-1E61-68A9-C46A-8D4469C4C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7000" y="8770938"/>
            <a:ext cx="30099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C343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2455" tIns="46227" rIns="92455" bIns="4622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i="0">
                <a:latin typeface="Times New Roman" panose="02020603050405020304" pitchFamily="18" charset="0"/>
              </a:defRPr>
            </a:lvl1pPr>
          </a:lstStyle>
          <a:p>
            <a:fld id="{FD9A4250-9421-B447-9683-CA77C1AC2AA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A693EC-9C16-519D-4B06-9819D6463A0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A23E4C7F-42F7-1843-BF46-239597709957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7AA889FC-E746-E74F-BA9E-5A15F5468FAA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6621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914EBA5-249C-5CC1-B403-7352C56E2E4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58C32B26-1606-A849-B237-37CD19D31722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7AA889FC-E746-E74F-BA9E-5A15F5468FAA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252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6C38FF4-D204-E1A0-5B80-F6F096FD5BE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4B5BFED2-86D7-394E-8278-2CB589F7D54E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7AA889FC-E746-E74F-BA9E-5A15F5468FAA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1195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24000"/>
            <a:ext cx="53848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848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80DF4A-22F8-C723-17EE-1E95764384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4A096951-BF4B-9A41-A106-C3888453C2C4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7AA889FC-E746-E74F-BA9E-5A15F5468FAA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5509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46337C9-3C07-FDA7-DFD6-5E13EDB25B5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03B7EE89-36FF-144F-BC22-EBC8B2C03AF8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7AA889FC-E746-E74F-BA9E-5A15F5468FAA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3004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4C60E1C-F577-7D6A-1E6D-541062730D3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D4120209-4066-CB4B-8C89-2D20FF59BA96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7AA889FC-E746-E74F-BA9E-5A15F5468FAA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6482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3ADC558-6C20-5E73-6C3A-16C8973B003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9EC68671-EE97-F54B-AC1D-76C47BD48BA8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7AA889FC-E746-E74F-BA9E-5A15F5468FAA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9440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CCEC8C-F040-CAB2-A5D5-2A76C6B187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2F1BDBCD-5C2B-6C4F-8BA3-A8D4361A42F4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7AA889FC-E746-E74F-BA9E-5A15F5468FAA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538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E40D99-2132-50FB-7A45-38230867C31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04184CBE-590B-2D44-9BCC-14DE39FD3DE6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7AA889FC-E746-E74F-BA9E-5A15F5468FAA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996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" y="137160"/>
            <a:ext cx="11588496" cy="914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F0617B-5058-F79A-F88C-8EE4DDB527D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A3D4862E-0442-164A-99E5-FB941FD7D692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7AA889FC-E746-E74F-BA9E-5A15F5468FAA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6664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28600"/>
            <a:ext cx="27432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80264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CED7F9-A7E2-CB8A-9756-25B0729A89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D9807620-3ECA-D14C-98CE-70B4E35823FC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7AA889FC-E746-E74F-BA9E-5A15F5468FAA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6951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51165F-8DA4-9682-D812-37116C89D81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20683CAE-9F50-734C-B524-AB06B87B1E92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261638B5-C0CC-C14D-A874-175FE69EF6AD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4598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1A13735-0198-B278-27D8-4376E8BD2D5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AE5BCFD1-11CF-104D-897D-D294F71796CD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261638B5-C0CC-C14D-A874-175FE69EF6AD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589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A6A997F-75C3-4A70-5533-76ADED8454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80E4FB40-1CAB-4B47-A816-A79859C478C9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261638B5-C0CC-C14D-A874-175FE69EF6AD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70017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24000"/>
            <a:ext cx="53848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848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A3C0A9-995C-769D-3701-5A9F4271F24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2C268AE0-3C45-6D40-A9AE-179E08ADE73E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261638B5-C0CC-C14D-A874-175FE69EF6AD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43221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D6B0A49-7A17-48DB-FCB8-345121AC06E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A6C9E499-73D2-D546-AA75-C87F95091FC2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261638B5-C0CC-C14D-A874-175FE69EF6AD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9743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09EA74E-B8A8-D570-0325-CC03016152D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9CB93A60-2E02-9C46-A3E9-09ED21DFB21E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261638B5-C0CC-C14D-A874-175FE69EF6AD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23625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A620C7C-B0FF-0810-DF38-ACA8FFBDF03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D28FD3DA-0EFE-A340-84E8-76C4F1DFFC3E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261638B5-C0CC-C14D-A874-175FE69EF6AD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10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FA1BA6-F172-EA2F-EC0A-5F96488FCD6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966B0E2C-C222-AF44-9FBE-15C14F3186C5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261638B5-C0CC-C14D-A874-175FE69EF6AD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3382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615271-B2EB-CF6B-D54C-6B1ED135FD9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D1B60A59-F782-6A40-A62B-D86F8C982103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261638B5-C0CC-C14D-A874-175FE69EF6AD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9517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" y="137160"/>
            <a:ext cx="11588496" cy="914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D392B5-FB0F-EB62-5B45-76F6B7BA897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FA2AE989-A260-E745-87CD-C315D2CCB84C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261638B5-C0CC-C14D-A874-175FE69EF6AD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735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28600"/>
            <a:ext cx="27432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80264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8E4D73D-30E2-4EBA-3025-D59801B2FF0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624257FB-35AC-254B-94BB-CC8F9A0AA26A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261638B5-C0CC-C14D-A874-175FE69EF6AD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12067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xfrm>
            <a:off x="301752" y="137160"/>
            <a:ext cx="11588496" cy="9144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idx="1"/>
          </p:nvPr>
        </p:nvSpPr>
        <p:spPr>
          <a:xfrm>
            <a:off x="301752" y="137160"/>
            <a:ext cx="11588496" cy="9144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42052FF3-5788-F79C-CF7D-FED13F264671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>
          <a:xfrm>
            <a:off x="11514666" y="6453188"/>
            <a:ext cx="279400" cy="914400"/>
          </a:xfrm>
          <a:prstGeom prst="rect">
            <a:avLst/>
          </a:prstGeom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81ADC26A-4CEB-794F-95EF-4250A2354B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2345456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3889AD-F8C0-1D19-0CF4-E6DD75F2DC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137160"/>
            <a:ext cx="379306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3F30609D-C1C8-1249-B8B5-A32E90BE914D}" type="datetimeFigureOut">
              <a:rPr lang="en-GB" altLang="en-US"/>
              <a:pPr/>
              <a:t>11/06/2026</a:t>
            </a:fld>
            <a:endParaRPr lang="en-GB" alt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BE096C-060A-F038-798A-2A6BE2968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i="1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36D274-83E2-A2D3-4659-D9BF5EF9A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1752" y="137160"/>
            <a:ext cx="1158849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22659A63-8218-EA4A-9A57-6B405914753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745344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GB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C19F7A-88B4-F0FF-0C42-16A9DEF914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137160"/>
            <a:ext cx="379306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9E327EBA-E941-174F-BCEC-1725E08D99DC}" type="datetimeFigureOut">
              <a:rPr lang="en-GB" altLang="en-US"/>
              <a:pPr/>
              <a:t>11/06/2026</a:t>
            </a:fld>
            <a:endParaRPr lang="en-GB" alt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E234F5-4074-970A-9C3D-05257E11C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i="1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98EC68-98F5-EE72-6C0D-ECA780A9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1752" y="137160"/>
            <a:ext cx="1158849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9C994614-32B1-2440-9FCC-D71959AE0A4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277778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41FEA2-19FE-1D78-AA39-7381DD6307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137160"/>
            <a:ext cx="379306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1F6005FF-C763-7643-B8DA-1CD98379025B}" type="datetimeFigureOut">
              <a:rPr lang="en-GB" altLang="en-US"/>
              <a:pPr/>
              <a:t>11/06/2026</a:t>
            </a:fld>
            <a:endParaRPr lang="en-GB" alt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E9C819-9CA5-9A3B-C5CD-0B8395181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i="1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E54008-3149-D178-43F2-E4EF2227A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1752" y="137160"/>
            <a:ext cx="1158849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5567F46F-7639-DE4C-BB62-FE15D277476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312396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50C2D6-8C40-0D5C-F7FB-C375A4EFBB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137160"/>
            <a:ext cx="379306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4348093A-CDBF-DB4C-ACE1-CBFC9FD2087A}" type="datetimeFigureOut">
              <a:rPr lang="en-GB" altLang="en-US"/>
              <a:pPr/>
              <a:t>11/06/2026</a:t>
            </a:fld>
            <a:endParaRPr lang="en-GB" alt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454113-9812-28F3-B39D-3F8AEECB2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i="1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AF09E6-6065-E2ED-F3D1-F050A633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1752" y="137160"/>
            <a:ext cx="1158849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22EA0D6D-A131-C54E-B817-169A6D04D00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744474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1752" y="137160"/>
            <a:ext cx="11588496" cy="9144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83E6B7A-F142-F018-D08B-73D5653410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137160"/>
            <a:ext cx="379306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BAC8C1D2-CD7C-D94E-AED8-C88BA499BFCE}" type="datetimeFigureOut">
              <a:rPr lang="en-GB" altLang="en-US"/>
              <a:pPr/>
              <a:t>11/06/2026</a:t>
            </a:fld>
            <a:endParaRPr lang="en-GB" alt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0A90FF-46B0-A736-13B4-B0587EA6E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i="1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0644D15-B33D-0F38-3FF0-F4AC7E301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1752" y="137160"/>
            <a:ext cx="1158849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D8B03E65-A5A2-2846-BEAC-71F390CB04A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360965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5F66220-9E3D-516A-D2D3-6BF532F7E4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137160"/>
            <a:ext cx="379306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3E8CF0A7-B1CA-9C44-83C8-64B10C8EC227}" type="datetimeFigureOut">
              <a:rPr lang="en-GB" altLang="en-US"/>
              <a:pPr/>
              <a:t>11/06/2026</a:t>
            </a:fld>
            <a:endParaRPr lang="en-GB" alt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69BFE4B-318D-E510-A5A5-BAF778A2A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i="1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2540B86-C11F-E059-4FF4-31CB15A8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1752" y="137160"/>
            <a:ext cx="1158849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118D1BEA-39F0-064E-B6EB-08160053609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478323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AA988A2-1A8E-C359-AF28-34FE78D500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137160"/>
            <a:ext cx="379306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B24DEAB8-C399-3A49-A492-59C48FEF5B48}" type="datetimeFigureOut">
              <a:rPr lang="en-GB" altLang="en-US"/>
              <a:pPr/>
              <a:t>11/06/2026</a:t>
            </a:fld>
            <a:endParaRPr lang="en-GB" alt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8CFFA1C-E22F-2B18-00A4-B91DBCA35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i="1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D138B5-DF36-C7C3-1167-12810EEC9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1752" y="137160"/>
            <a:ext cx="1158849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5794EBEE-B36B-F547-8F5A-D5B58719AB9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199145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713179-D86D-542D-F2DA-A5489E2D46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137160"/>
            <a:ext cx="379306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E8A819B3-5707-C14C-8DBC-E35A7D4C9A2D}" type="datetimeFigureOut">
              <a:rPr lang="en-GB" altLang="en-US"/>
              <a:pPr/>
              <a:t>11/06/2026</a:t>
            </a:fld>
            <a:endParaRPr lang="en-GB" alt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160BD6-850E-FDB8-9F93-B463A617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i="1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4736EB-ABA1-6D98-76CD-E95EBC1F0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1752" y="137160"/>
            <a:ext cx="1158849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09A08D82-EC0B-714C-A31A-713656B9640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270317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C36CD7-4998-9AE2-A7FF-402E5550A8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137160"/>
            <a:ext cx="379306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ECCC4FBA-B144-984D-9E6B-103359D26CC7}" type="datetimeFigureOut">
              <a:rPr lang="en-GB" altLang="en-US"/>
              <a:pPr/>
              <a:t>11/06/2026</a:t>
            </a:fld>
            <a:endParaRPr lang="en-GB" alt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1D9802-F660-AF0A-B319-302DF55D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i="1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05D9FA6-3189-94DA-97DE-A5AFE521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1752" y="137160"/>
            <a:ext cx="1158849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4266D7E1-9C08-3648-B417-F92F67ACF56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96258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01752" y="137160"/>
            <a:ext cx="11588496" cy="9144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6DDE6E-13AF-F693-3EA9-F3A023ADF5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137160"/>
            <a:ext cx="379306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C2A26890-5E06-714D-9F26-A7C2C10235B1}" type="datetimeFigureOut">
              <a:rPr lang="en-GB" altLang="en-US"/>
              <a:pPr/>
              <a:t>11/06/2026</a:t>
            </a:fld>
            <a:endParaRPr lang="en-GB" alt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AC5DDC-06C8-A7A6-DC5D-2008BBD32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i="1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579F8C-D86A-1D59-D800-CF42F03C6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1752" y="137160"/>
            <a:ext cx="1158849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286707A2-7C14-3A41-8F48-C8DD5FBDF9D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445190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  <a:endParaRPr lang="en-GB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BDBF40-720B-83FE-457E-C3375953EA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137160"/>
            <a:ext cx="379306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33BC3A9F-26B5-024C-B3C1-E4F39A228F8F}" type="datetimeFigureOut">
              <a:rPr lang="en-GB" altLang="en-US"/>
              <a:pPr/>
              <a:t>11/06/2026</a:t>
            </a:fld>
            <a:endParaRPr lang="en-GB" alt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5C9832-8069-7870-94F3-4B46AD11A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i="1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F06222-E304-D3CD-012C-2B0D4936A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1752" y="137160"/>
            <a:ext cx="11588496" cy="914400"/>
          </a:xfrm>
        </p:spPr>
        <p:txBody>
          <a:bodyPr/>
          <a:lstStyle>
            <a:lvl1pPr eaLnBrk="0" hangingPunct="0">
              <a:defRPr i="1"/>
            </a:lvl1pPr>
          </a:lstStyle>
          <a:p>
            <a:fld id="{95D805A5-70C4-6642-9088-7E19DFFE287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64347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2859FAF-80BB-1888-00F7-D9932045D16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53200"/>
            <a:ext cx="1097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900" b="1" i="0"/>
            </a:lvl1pPr>
          </a:lstStyle>
          <a:p>
            <a:r>
              <a:rPr lang="en-US" altLang="en-US"/>
              <a:t>David Luebke				         </a:t>
            </a:r>
            <a:fld id="{E1992987-B4B8-B044-AFA1-4AA22F61D1DC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7AA889FC-E746-E74F-BA9E-5A15F5468FAA}" type="datetime1">
              <a:rPr lang="en-US" altLang="en-US"/>
              <a:pPr/>
              <a:t>6/11/26</a:t>
            </a:fld>
            <a:endParaRPr lang="en-US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CD7FF6B4-0114-1435-9C0A-C6E5602C67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10972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89B1ED8B-DFA1-7F3B-5344-545DACE9E9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24000"/>
            <a:ext cx="109728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0" r:id="rId1"/>
    <p:sldLayoutId id="2147484691" r:id="rId2"/>
    <p:sldLayoutId id="2147484692" r:id="rId3"/>
    <p:sldLayoutId id="2147484693" r:id="rId4"/>
    <p:sldLayoutId id="2147484694" r:id="rId5"/>
    <p:sldLayoutId id="2147484695" r:id="rId6"/>
    <p:sldLayoutId id="2147484696" r:id="rId7"/>
    <p:sldLayoutId id="2147484697" r:id="rId8"/>
    <p:sldLayoutId id="2147484698" r:id="rId9"/>
    <p:sldLayoutId id="2147484699" r:id="rId10"/>
    <p:sldLayoutId id="214748470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25000"/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o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]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32DE3B6-514E-67DB-1517-286CCAF4C28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53200"/>
            <a:ext cx="1097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900" b="1" i="0">
                <a:solidFill>
                  <a:srgbClr val="000000"/>
                </a:solidFill>
              </a:defRPr>
            </a:lvl1pPr>
          </a:lstStyle>
          <a:p>
            <a:r>
              <a:rPr lang="en-US" altLang="en-US"/>
              <a:t>David Luebke				         </a:t>
            </a:r>
            <a:fld id="{87F44C77-4FD4-C447-8357-2DB1F781A7C1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261638B5-C0CC-C14D-A874-175FE69EF6AD}" type="datetime1">
              <a:rPr lang="en-US" altLang="en-US"/>
              <a:pPr/>
              <a:t>6/11/26</a:t>
            </a:fld>
            <a:endParaRPr lang="en-US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6DE36569-7604-6B66-82C2-437B2733F6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10972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CC9CEFE2-11BA-F77E-57A5-561BD205C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24000"/>
            <a:ext cx="109728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12" r:id="rId1"/>
    <p:sldLayoutId id="2147484713" r:id="rId2"/>
    <p:sldLayoutId id="2147484714" r:id="rId3"/>
    <p:sldLayoutId id="2147484715" r:id="rId4"/>
    <p:sldLayoutId id="2147484716" r:id="rId5"/>
    <p:sldLayoutId id="2147484717" r:id="rId6"/>
    <p:sldLayoutId id="2147484718" r:id="rId7"/>
    <p:sldLayoutId id="2147484719" r:id="rId8"/>
    <p:sldLayoutId id="2147484720" r:id="rId9"/>
    <p:sldLayoutId id="2147484721" r:id="rId10"/>
    <p:sldLayoutId id="2147484722" r:id="rId11"/>
    <p:sldLayoutId id="2147484766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25000"/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o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]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ço Reservado para Título 1">
            <a:extLst>
              <a:ext uri="{FF2B5EF4-FFF2-40B4-BE49-F238E27FC236}">
                <a16:creationId xmlns:a16="http://schemas.microsoft.com/office/drawing/2014/main" id="{5F7A68D1-DB77-98C5-90D3-6C036E872A4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  <a:endParaRPr lang="en-GB" altLang="en-US"/>
          </a:p>
        </p:txBody>
      </p:sp>
      <p:sp>
        <p:nvSpPr>
          <p:cNvPr id="28675" name="Espaço Reservado para Texto 2">
            <a:extLst>
              <a:ext uri="{FF2B5EF4-FFF2-40B4-BE49-F238E27FC236}">
                <a16:creationId xmlns:a16="http://schemas.microsoft.com/office/drawing/2014/main" id="{12AE2DF5-B02C-D39E-D6C2-17CEC46D78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os estilos do texto mestre</a:t>
            </a:r>
          </a:p>
          <a:p>
            <a:pPr lvl="1"/>
            <a:r>
              <a:rPr lang="pt-BR" altLang="en-US"/>
              <a:t>Segundo nível</a:t>
            </a:r>
          </a:p>
          <a:p>
            <a:pPr lvl="2"/>
            <a:r>
              <a:rPr lang="pt-BR" altLang="en-US"/>
              <a:t>Terceiro nível</a:t>
            </a:r>
          </a:p>
          <a:p>
            <a:pPr lvl="3"/>
            <a:r>
              <a:rPr lang="pt-BR" altLang="en-US"/>
              <a:t>Quarto nível</a:t>
            </a:r>
          </a:p>
          <a:p>
            <a:pPr lvl="4"/>
            <a:r>
              <a:rPr lang="pt-BR" altLang="en-US"/>
              <a:t>Quinto nível</a:t>
            </a:r>
            <a:endParaRPr lang="en-GB" alt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22BE7A-C78E-3A3E-AB40-3605BB0057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i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77559717-4C49-2249-8D7A-FC3CAE89B12C}" type="datetimeFigureOut">
              <a:rPr lang="en-GB" altLang="en-US"/>
              <a:pPr/>
              <a:t>11/06/2026</a:t>
            </a:fld>
            <a:endParaRPr lang="en-GB" alt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4870AE-9C97-CEB5-06A1-93003168C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i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6BEB3F-0065-878B-73F0-582F9C16D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i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B313564F-21F7-C04B-8785-F6351F809BD5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67" r:id="rId1"/>
    <p:sldLayoutId id="2147484768" r:id="rId2"/>
    <p:sldLayoutId id="2147484769" r:id="rId3"/>
    <p:sldLayoutId id="2147484770" r:id="rId4"/>
    <p:sldLayoutId id="2147484771" r:id="rId5"/>
    <p:sldLayoutId id="2147484772" r:id="rId6"/>
    <p:sldLayoutId id="2147484773" r:id="rId7"/>
    <p:sldLayoutId id="2147484774" r:id="rId8"/>
    <p:sldLayoutId id="2147484775" r:id="rId9"/>
    <p:sldLayoutId id="2147484776" r:id="rId10"/>
    <p:sldLayoutId id="214748477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lucas.cordeiro@cs.ox.ac.uk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37">
            <a:extLst>
              <a:ext uri="{FF2B5EF4-FFF2-40B4-BE49-F238E27FC236}">
                <a16:creationId xmlns:a16="http://schemas.microsoft.com/office/drawing/2014/main" id="{6498534A-13AB-C177-1798-BAE4E037E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017" y="2062163"/>
            <a:ext cx="10769600" cy="212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3" tIns="45713" rIns="45713" bIns="45713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i="0" kern="0" dirty="0">
                <a:solidFill>
                  <a:srgbClr val="8064A2">
                    <a:lumMod val="75000"/>
                  </a:srgbClr>
                </a:solidFill>
                <a:latin typeface="Arial"/>
                <a:ea typeface="Calibri"/>
                <a:cs typeface="Arial"/>
                <a:sym typeface="Calibri"/>
              </a:rPr>
              <a:t>Detection of Software Vulnerabilities: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i="0" kern="0" dirty="0">
                <a:solidFill>
                  <a:srgbClr val="8064A2">
                    <a:lumMod val="75000"/>
                  </a:srgbClr>
                </a:solidFill>
                <a:latin typeface="Arial"/>
                <a:ea typeface="Calibri"/>
                <a:cs typeface="Arial"/>
                <a:sym typeface="Calibri"/>
              </a:rPr>
              <a:t>Static Analysis</a:t>
            </a:r>
          </a:p>
        </p:txBody>
      </p:sp>
      <p:sp>
        <p:nvSpPr>
          <p:cNvPr id="12" name="Shape 238">
            <a:extLst>
              <a:ext uri="{FF2B5EF4-FFF2-40B4-BE49-F238E27FC236}">
                <a16:creationId xmlns:a16="http://schemas.microsoft.com/office/drawing/2014/main" id="{21A91032-F0FC-DB1B-B9D5-D6430F017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33" y="5589588"/>
            <a:ext cx="11523133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4994" tIns="44994" rIns="44994" bIns="44994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sz="1800" b="1" i="0" kern="0" dirty="0">
                <a:solidFill>
                  <a:sysClr val="windowText" lastClr="000000"/>
                </a:solidFill>
                <a:latin typeface="Arial"/>
                <a:ea typeface="Arial"/>
                <a:cs typeface="Arial"/>
                <a:sym typeface="Arial"/>
              </a:rPr>
              <a:t>Lucas Cordeiro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lang="x-none" sz="1800" b="1" i="0" kern="0" dirty="0">
                <a:solidFill>
                  <a:sysClr val="windowText" lastClr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800" b="1" i="0" kern="0" dirty="0">
              <a:solidFill>
                <a:sysClr val="windowText" lastClr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>
                <a:solidFill>
                  <a:srgbClr val="2A78BC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800" i="0" kern="0" dirty="0">
                <a:solidFill>
                  <a:srgbClr val="2A78BC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2"/>
              </a:rPr>
              <a:t>lucas.cordeiro@</a:t>
            </a:r>
            <a:r>
              <a:rPr lang="x-none" sz="1800" i="0" kern="0" dirty="0">
                <a:solidFill>
                  <a:srgbClr val="2A78BC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2"/>
              </a:rPr>
              <a:t>manchester</a:t>
            </a:r>
            <a:r>
              <a:rPr sz="1800" i="0" kern="0" dirty="0">
                <a:solidFill>
                  <a:srgbClr val="2A78BC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2"/>
              </a:rPr>
              <a:t>.ac.uk</a:t>
            </a:r>
          </a:p>
        </p:txBody>
      </p:sp>
      <p:pic>
        <p:nvPicPr>
          <p:cNvPr id="71683" name="Picture 6">
            <a:extLst>
              <a:ext uri="{FF2B5EF4-FFF2-40B4-BE49-F238E27FC236}">
                <a16:creationId xmlns:a16="http://schemas.microsoft.com/office/drawing/2014/main" id="{7326C4E3-3FFA-982C-CC8F-AF7878D32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5731" y="228600"/>
            <a:ext cx="2338388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Shape 238">
            <a:extLst>
              <a:ext uri="{FF2B5EF4-FFF2-40B4-BE49-F238E27FC236}">
                <a16:creationId xmlns:a16="http://schemas.microsoft.com/office/drawing/2014/main" id="{4A3891C3-3CAD-F892-332F-E7B0279E8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766" y="354013"/>
            <a:ext cx="6034617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4994" tIns="44994" rIns="44994" bIns="44994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kern="0" dirty="0">
                <a:solidFill>
                  <a:sysClr val="windowText" lastClr="000000"/>
                </a:solidFill>
                <a:latin typeface="Arial"/>
                <a:ea typeface="Arial"/>
                <a:cs typeface="Arial"/>
                <a:sym typeface="Arial"/>
              </a:rPr>
              <a:t>Systems and Software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kern="0" dirty="0">
                <a:solidFill>
                  <a:sysClr val="windowText" lastClr="000000"/>
                </a:solidFill>
                <a:latin typeface="Arial"/>
                <a:ea typeface="Arial"/>
                <a:cs typeface="Arial"/>
                <a:sym typeface="Arial"/>
              </a:rPr>
              <a:t>Verification Laboratory</a:t>
            </a:r>
            <a:endParaRPr sz="1800" b="1" i="0" kern="0" dirty="0">
              <a:solidFill>
                <a:sysClr val="windowText" lastClr="000000"/>
              </a:solidFill>
              <a:latin typeface="Arial"/>
              <a:ea typeface="Arial"/>
              <a:cs typeface="Arial"/>
              <a:sym typeface="Arial"/>
              <a:hlinkClick r:id="rId2"/>
            </a:endParaRPr>
          </a:p>
        </p:txBody>
      </p:sp>
      <p:pic>
        <p:nvPicPr>
          <p:cNvPr id="71685" name="Picture 14">
            <a:extLst>
              <a:ext uri="{FF2B5EF4-FFF2-40B4-BE49-F238E27FC236}">
                <a16:creationId xmlns:a16="http://schemas.microsoft.com/office/drawing/2014/main" id="{75CB3362-0B4D-399E-5C89-F1D08DCF15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228600"/>
            <a:ext cx="990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Bounded Model Checking">
            <a:extLst>
              <a:ext uri="{FF2B5EF4-FFF2-40B4-BE49-F238E27FC236}">
                <a16:creationId xmlns:a16="http://schemas.microsoft.com/office/drawing/2014/main" id="{C4AB252E-1E1B-37AF-9545-7924EBA50C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1752" y="137160"/>
            <a:ext cx="11588496" cy="9144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Revisiting BMC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235" name="Basic Idea: given a transition system M, check negation of a given property φ up to given depth k">
            <a:extLst>
              <a:ext uri="{FF2B5EF4-FFF2-40B4-BE49-F238E27FC236}">
                <a16:creationId xmlns:a16="http://schemas.microsoft.com/office/drawing/2014/main" id="{E49435CF-ED31-C229-5A05-8B7263E366C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535517" y="1303338"/>
            <a:ext cx="11120966" cy="982662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buClrTx/>
            </a:pPr>
            <a:r>
              <a:rPr lang="en-US" altLang="en-US"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Idea: given a transition system </a:t>
            </a:r>
            <a:r>
              <a:rPr lang="en-US" altLang="en-US" sz="2600" i="1">
                <a:solidFill>
                  <a:srgbClr val="000000"/>
                </a:solidFill>
                <a:latin typeface="Arial" panose="020B0604020202020204" pitchFamily="34" charset="0"/>
                <a:ea typeface="Helvetica Neue" panose="02000503000000020004" pitchFamily="2" charset="0"/>
                <a:sym typeface="Helvetica Neue" panose="02000503000000020004" pitchFamily="2" charset="0"/>
              </a:rPr>
              <a:t>M</a:t>
            </a:r>
            <a:r>
              <a:rPr lang="en-US" altLang="en-US"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check negation of a given property φ up to given depth </a:t>
            </a:r>
            <a:r>
              <a:rPr lang="en-US" altLang="en-US" sz="2600" i="1">
                <a:solidFill>
                  <a:srgbClr val="000000"/>
                </a:solidFill>
                <a:latin typeface="Arial" panose="020B0604020202020204" pitchFamily="34" charset="0"/>
                <a:sym typeface="Helvetica Neue" panose="02000503000000020004" pitchFamily="2" charset="0"/>
              </a:rPr>
              <a:t>k</a:t>
            </a:r>
            <a:r>
              <a:rPr lang="en-GB" altLang="en-US" sz="2600" i="1">
                <a:solidFill>
                  <a:srgbClr val="000000"/>
                </a:solidFill>
                <a:latin typeface="Arial" panose="020B0604020202020204" pitchFamily="34" charset="0"/>
                <a:sym typeface="Helvetica Neue" panose="02000503000000020004" pitchFamily="2" charset="0"/>
              </a:rPr>
              <a:t>:</a:t>
            </a:r>
            <a:endParaRPr lang="en-US" altLang="en-US" sz="2600" i="1">
              <a:solidFill>
                <a:srgbClr val="000000"/>
              </a:solidFill>
              <a:latin typeface="Arial" panose="020B0604020202020204" pitchFamily="34" charset="0"/>
              <a:sym typeface="Helvetica Neue" panose="02000503000000020004" pitchFamily="2" charset="0"/>
            </a:endParaRPr>
          </a:p>
        </p:txBody>
      </p:sp>
      <p:sp>
        <p:nvSpPr>
          <p:cNvPr id="236" name="Translated into a VC ψ such that: ψ is satisfiable iff φ has counterexample of max. depth k…">
            <a:extLst>
              <a:ext uri="{FF2B5EF4-FFF2-40B4-BE49-F238E27FC236}">
                <a16:creationId xmlns:a16="http://schemas.microsoft.com/office/drawing/2014/main" id="{383D2BBA-98CD-518C-7FED-922BC56A5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484" y="4191000"/>
            <a:ext cx="10977033" cy="87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Tx/>
              <a:buSzPct val="125000"/>
              <a:buChar char="•"/>
              <a:defRPr sz="2600">
                <a:solidFill>
                  <a:srgbClr val="000000"/>
                </a:solidFill>
                <a:latin typeface="Arial"/>
                <a:ea typeface="+mn-ea"/>
                <a:cs typeface="Arial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charset="0"/>
              <a:buChar char="§"/>
              <a:defRPr sz="2800">
                <a:latin typeface="+mn-lt"/>
                <a:ea typeface="+mn-ea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latin typeface="+mn-lt"/>
                <a:ea typeface="+mn-ea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charset="0"/>
              <a:buChar char="]"/>
              <a:defRPr>
                <a:latin typeface="+mn-lt"/>
                <a:ea typeface="+mn-ea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latin typeface="+mn-lt"/>
                <a:ea typeface="+mn-ea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latin typeface="+mn-lt"/>
                <a:ea typeface="+mn-ea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latin typeface="+mn-lt"/>
                <a:ea typeface="+mn-ea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latin typeface="+mn-lt"/>
                <a:ea typeface="+mn-ea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i="0" dirty="0"/>
              <a:t>Translated into a VC </a:t>
            </a:r>
            <a:r>
              <a:rPr lang="en-GB" sz="2400" dirty="0">
                <a:cs typeface="Arial" charset="0"/>
                <a:sym typeface="Symbol" charset="0"/>
              </a:rPr>
              <a:t></a:t>
            </a:r>
            <a:r>
              <a:rPr i="0" dirty="0"/>
              <a:t> such that: </a:t>
            </a:r>
            <a:r>
              <a:rPr lang="en-GB" sz="2800" dirty="0">
                <a:cs typeface="Arial" charset="0"/>
                <a:sym typeface="Symbol" charset="0"/>
              </a:rPr>
              <a:t> </a:t>
            </a:r>
            <a:r>
              <a:rPr lang="en-GB" sz="2800" dirty="0" err="1">
                <a:cs typeface="Arial" charset="0"/>
                <a:sym typeface="Symbol" charset="0"/>
              </a:rPr>
              <a:t>satisfiable</a:t>
            </a:r>
            <a:r>
              <a:rPr lang="en-GB" sz="2800" dirty="0">
                <a:cs typeface="Arial" charset="0"/>
                <a:sym typeface="Symbol" charset="0"/>
              </a:rPr>
              <a:t> iff  has counterexample of max. depth k</a:t>
            </a:r>
            <a:endParaRPr dirty="0">
              <a:sym typeface="Helvetica Neue"/>
            </a:endParaRPr>
          </a:p>
        </p:txBody>
      </p:sp>
      <p:pic>
        <p:nvPicPr>
          <p:cNvPr id="129028" name="Image" descr="Image">
            <a:extLst>
              <a:ext uri="{FF2B5EF4-FFF2-40B4-BE49-F238E27FC236}">
                <a16:creationId xmlns:a16="http://schemas.microsoft.com/office/drawing/2014/main" id="{A720782A-4B04-EA4D-81D7-476AEB0CA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775" y="2525713"/>
            <a:ext cx="6572250" cy="136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29029" name="Image" descr="Image">
            <a:extLst>
              <a:ext uri="{FF2B5EF4-FFF2-40B4-BE49-F238E27FC236}">
                <a16:creationId xmlns:a16="http://schemas.microsoft.com/office/drawing/2014/main" id="{0675B288-BB96-4CC4-7899-45C906751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004" y="2514600"/>
            <a:ext cx="1635125" cy="121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E8E7000-1A63-5503-D215-6B96CE831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0" y="5202238"/>
            <a:ext cx="10261600" cy="1292225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b="1" i="0" dirty="0">
                <a:solidFill>
                  <a:schemeClr val="dk1"/>
                </a:solidFill>
                <a:latin typeface="Arial"/>
                <a:ea typeface="+mn-ea"/>
                <a:cs typeface="Arial"/>
              </a:rPr>
              <a:t>BMC is aimed at finding bugs; it cannot prove correctness, unless the bound </a:t>
            </a:r>
            <a:r>
              <a:rPr lang="en-US" sz="2600" b="1" dirty="0">
                <a:solidFill>
                  <a:schemeClr val="dk1"/>
                </a:solidFill>
                <a:latin typeface="Arial"/>
                <a:ea typeface="Helvetica Neue"/>
                <a:cs typeface="Arial"/>
                <a:sym typeface="Helvetica Neue"/>
              </a:rPr>
              <a:t>k</a:t>
            </a:r>
            <a:r>
              <a:rPr lang="en-US" sz="2600" b="1" i="0" dirty="0">
                <a:solidFill>
                  <a:schemeClr val="dk1"/>
                </a:solidFill>
                <a:latin typeface="Arial"/>
                <a:ea typeface="+mn-ea"/>
                <a:cs typeface="Arial"/>
              </a:rPr>
              <a:t> safely reaches all program states</a:t>
            </a:r>
            <a:endParaRPr lang="en-US" sz="2600" b="1" dirty="0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 descr=" 8194">
            <a:extLst>
              <a:ext uri="{FF2B5EF4-FFF2-40B4-BE49-F238E27FC236}">
                <a16:creationId xmlns:a16="http://schemas.microsoft.com/office/drawing/2014/main" id="{F6D5B4E5-9584-AECC-764C-35BBA647D7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2317" y="252413"/>
            <a:ext cx="11525249" cy="873125"/>
          </a:xfrm>
        </p:spPr>
        <p:txBody>
          <a:bodyPr/>
          <a:lstStyle/>
          <a:p>
            <a:pPr algn="l" eaLnBrk="1" hangingPunct="1">
              <a:defRPr/>
            </a:pPr>
            <a:r>
              <a:rPr lang="en-GB" sz="3600" b="1" dirty="0">
                <a:solidFill>
                  <a:srgbClr val="000000"/>
                </a:solidFill>
                <a:cs typeface="Arial" charset="0"/>
              </a:rPr>
              <a:t>D</a:t>
            </a:r>
            <a:r>
              <a:rPr lang="en-US" sz="3600" b="1" dirty="0" err="1">
                <a:solidFill>
                  <a:srgbClr val="000000"/>
                </a:solidFill>
                <a:cs typeface="Arial" charset="0"/>
              </a:rPr>
              <a:t>ifficulties</a:t>
            </a:r>
            <a:r>
              <a:rPr lang="en-US" sz="3600" b="1" dirty="0">
                <a:solidFill>
                  <a:srgbClr val="000000"/>
                </a:solidFill>
                <a:cs typeface="Arial" charset="0"/>
              </a:rPr>
              <a:t> in proving the correctness of programs with loops in BMC</a:t>
            </a:r>
            <a:endParaRPr lang="en-GB" sz="360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30050" name="Rectangle 3" descr=" 5">
            <a:extLst>
              <a:ext uri="{FF2B5EF4-FFF2-40B4-BE49-F238E27FC236}">
                <a16:creationId xmlns:a16="http://schemas.microsoft.com/office/drawing/2014/main" id="{A1FDD900-5B5D-A0D2-CF53-0E8FBA70F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325563"/>
            <a:ext cx="11648017" cy="527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42900" indent="-3429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2400" i="0">
                <a:solidFill>
                  <a:srgbClr val="000000"/>
                </a:solidFill>
                <a:cs typeface="Arial" panose="020B0604020202020204" pitchFamily="34" charset="0"/>
              </a:rPr>
              <a:t>BMC techniques can falsify properties up to a given depth k</a:t>
            </a:r>
            <a:endParaRPr lang="en-GB" altLang="en-US" sz="2400" i="0">
              <a:solidFill>
                <a:srgbClr val="000000"/>
              </a:solidFill>
              <a:latin typeface="Arial (Body)" charset="0"/>
            </a:endParaRPr>
          </a:p>
          <a:p>
            <a:pPr lvl="1" eaLnBrk="1" hangingPunct="1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–"/>
            </a:pPr>
            <a:r>
              <a:rPr lang="en-US" altLang="en-US" sz="2200" i="0">
                <a:solidFill>
                  <a:srgbClr val="000000"/>
                </a:solidFill>
                <a:latin typeface="Arial (Body)" charset="0"/>
              </a:rPr>
              <a:t>they can prove correctness only if an upper bound of k is known (</a:t>
            </a:r>
            <a:r>
              <a:rPr lang="en-US" altLang="en-US" sz="2200" b="1" i="0">
                <a:solidFill>
                  <a:srgbClr val="000000"/>
                </a:solidFill>
                <a:latin typeface="Arial (Body)" charset="0"/>
              </a:rPr>
              <a:t>unwinding assertion</a:t>
            </a:r>
            <a:r>
              <a:rPr lang="en-US" altLang="en-US" sz="2200" i="0">
                <a:solidFill>
                  <a:srgbClr val="000000"/>
                </a:solidFill>
                <a:latin typeface="Arial (Body)" charset="0"/>
              </a:rPr>
              <a:t>)</a:t>
            </a:r>
            <a:endParaRPr lang="en-GB" altLang="en-US" sz="2200" i="0">
              <a:solidFill>
                <a:srgbClr val="000000"/>
              </a:solidFill>
              <a:latin typeface="Arial (Body)" charset="0"/>
            </a:endParaRPr>
          </a:p>
          <a:p>
            <a:pPr lvl="2" eaLnBrk="1" hangingPunct="1">
              <a:spcBef>
                <a:spcPts val="400"/>
              </a:spcBef>
              <a:spcAft>
                <a:spcPts val="400"/>
              </a:spcAft>
            </a:pPr>
            <a:r>
              <a:rPr lang="en-US" altLang="en-US" i="0">
                <a:solidFill>
                  <a:srgbClr val="000000"/>
                </a:solidFill>
                <a:latin typeface="Tahoma" panose="020B0604030504040204" pitchFamily="34" charset="0"/>
              </a:rPr>
              <a:t>» </a:t>
            </a:r>
            <a:r>
              <a:rPr lang="en-US" altLang="en-US" i="0">
                <a:solidFill>
                  <a:srgbClr val="000000"/>
                </a:solidFill>
                <a:latin typeface="Arial (Body)" charset="0"/>
              </a:rPr>
              <a:t>BMC tools typically fail to verify programs that contain bounded and unbounded loops</a:t>
            </a:r>
            <a:endParaRPr lang="en-GB" altLang="en-US" i="0">
              <a:solidFill>
                <a:srgbClr val="000000"/>
              </a:solidFill>
              <a:latin typeface="Arial (Body)" charset="0"/>
            </a:endParaRPr>
          </a:p>
        </p:txBody>
      </p:sp>
      <p:pic>
        <p:nvPicPr>
          <p:cNvPr id="130051" name="Imagem 6" descr=" 2">
            <a:extLst>
              <a:ext uri="{FF2B5EF4-FFF2-40B4-BE49-F238E27FC236}">
                <a16:creationId xmlns:a16="http://schemas.microsoft.com/office/drawing/2014/main" id="{66BF2F04-30F0-F313-F38F-1E5296CD1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9617" y="3213100"/>
            <a:ext cx="4419600" cy="315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0052" name="Imagem 3" descr=" 3">
            <a:extLst>
              <a:ext uri="{FF2B5EF4-FFF2-40B4-BE49-F238E27FC236}">
                <a16:creationId xmlns:a16="http://schemas.microsoft.com/office/drawing/2014/main" id="{A15B679F-C689-C6FE-C56F-5C9078AB5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167" y="3508375"/>
            <a:ext cx="28575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ounded Rectangular Callout 4" descr=" 7">
            <a:extLst>
              <a:ext uri="{FF2B5EF4-FFF2-40B4-BE49-F238E27FC236}">
                <a16:creationId xmlns:a16="http://schemas.microsoft.com/office/drawing/2014/main" id="{D53294D6-D013-E209-3BD9-0940F34C0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5154613"/>
            <a:ext cx="5945717" cy="1039812"/>
          </a:xfrm>
          <a:prstGeom prst="wedgeRoundRectCallout">
            <a:avLst>
              <a:gd name="adj1" fmla="val -21718"/>
              <a:gd name="adj2" fmla="val -119926"/>
              <a:gd name="adj3" fmla="val 16667"/>
            </a:avLst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sx="102000" sy="102000" algn="tl" rotWithShape="0">
              <a:srgbClr val="000000">
                <a:alpha val="39998"/>
              </a:srgbClr>
            </a:outerShdw>
          </a:effectLst>
        </p:spPr>
        <p:txBody>
          <a:bodyPr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i="0" kern="0" dirty="0" err="1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the</a:t>
            </a:r>
            <a:r>
              <a:rPr lang="pt-BR" i="0" kern="0" dirty="0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 loop </a:t>
            </a:r>
            <a:r>
              <a:rPr lang="pt-BR" i="0" kern="0" dirty="0" err="1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will</a:t>
            </a:r>
            <a:r>
              <a:rPr lang="pt-BR" i="0" kern="0" dirty="0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 </a:t>
            </a:r>
            <a:r>
              <a:rPr lang="pt-BR" i="0" kern="0" dirty="0" err="1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be</a:t>
            </a:r>
            <a:r>
              <a:rPr lang="pt-BR" i="0" kern="0" dirty="0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 </a:t>
            </a:r>
            <a:r>
              <a:rPr lang="pt-BR" i="0" kern="0" dirty="0" err="1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unfolded</a:t>
            </a:r>
            <a:r>
              <a:rPr lang="pt-BR" i="0" kern="0" dirty="0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 2</a:t>
            </a:r>
            <a:r>
              <a:rPr lang="pt-BR" i="0" kern="0" baseline="30000" dirty="0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n-1</a:t>
            </a:r>
            <a:r>
              <a:rPr lang="pt-BR" i="0" kern="0" dirty="0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 times (in </a:t>
            </a:r>
            <a:r>
              <a:rPr lang="pt-BR" i="0" kern="0" dirty="0" err="1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the</a:t>
            </a:r>
            <a:r>
              <a:rPr lang="pt-BR" i="0" kern="0" dirty="0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 </a:t>
            </a:r>
            <a:r>
              <a:rPr lang="pt-BR" i="0" kern="0" dirty="0" err="1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worst</a:t>
            </a:r>
            <a:r>
              <a:rPr lang="pt-BR" i="0" kern="0" dirty="0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 case, 2</a:t>
            </a:r>
            <a:r>
              <a:rPr lang="pt-BR" i="0" kern="0" baseline="30000" dirty="0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32-1</a:t>
            </a:r>
            <a:r>
              <a:rPr lang="pt-BR" i="0" kern="0" dirty="0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 times </a:t>
            </a:r>
            <a:r>
              <a:rPr lang="pt-BR" i="0" kern="0" dirty="0" err="1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on</a:t>
            </a:r>
            <a:r>
              <a:rPr lang="pt-BR" i="0" kern="0" dirty="0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 32 bits </a:t>
            </a:r>
            <a:r>
              <a:rPr lang="pt-BR" i="0" kern="0" dirty="0" err="1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integer</a:t>
            </a:r>
            <a:r>
              <a:rPr lang="pt-BR" i="0" kern="0" dirty="0">
                <a:solidFill>
                  <a:prstClr val="black"/>
                </a:solidFill>
                <a:ea typeface="+mn-ea"/>
                <a:cs typeface="Arial" panose="020B0604020202020204" pitchFamily="34" charset="0"/>
              </a:rPr>
              <a:t>)</a:t>
            </a:r>
            <a:endParaRPr lang="en-GB" i="0" kern="0" dirty="0"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130054" name="Retângulo 8" descr=" 6">
            <a:extLst>
              <a:ext uri="{FF2B5EF4-FFF2-40B4-BE49-F238E27FC236}">
                <a16:creationId xmlns:a16="http://schemas.microsoft.com/office/drawing/2014/main" id="{E4E557CD-E29D-39D4-9B5C-1D714D3E9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966" y="5073650"/>
            <a:ext cx="161713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pt-BR" altLang="en-US" sz="1600" b="1">
                <a:solidFill>
                  <a:srgbClr val="0000FF"/>
                </a:solidFill>
                <a:latin typeface="Verdana" panose="020B0604030504040204" pitchFamily="34" charset="0"/>
              </a:rPr>
              <a:t>sn=sn+a</a:t>
            </a:r>
          </a:p>
        </p:txBody>
      </p:sp>
      <p:sp>
        <p:nvSpPr>
          <p:cNvPr id="130055" name="Retângulo 10" descr=" 9">
            <a:extLst>
              <a:ext uri="{FF2B5EF4-FFF2-40B4-BE49-F238E27FC236}">
                <a16:creationId xmlns:a16="http://schemas.microsoft.com/office/drawing/2014/main" id="{B8620798-0A93-51E9-438A-A58ED96A6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3817" y="4170363"/>
            <a:ext cx="814916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pt-BR" altLang="en-US" sz="1600" b="1">
                <a:solidFill>
                  <a:srgbClr val="0000FF"/>
                </a:solidFill>
                <a:latin typeface="Verdana" panose="020B0604030504040204" pitchFamily="34" charset="0"/>
              </a:rPr>
              <a:t>i++</a:t>
            </a:r>
          </a:p>
        </p:txBody>
      </p:sp>
      <p:sp>
        <p:nvSpPr>
          <p:cNvPr id="130056" name="Retângulo 9" descr=" 10">
            <a:extLst>
              <a:ext uri="{FF2B5EF4-FFF2-40B4-BE49-F238E27FC236}">
                <a16:creationId xmlns:a16="http://schemas.microsoft.com/office/drawing/2014/main" id="{0DAD47A5-0AE2-A372-2EFD-24DCBF5C5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3033" y="6237288"/>
            <a:ext cx="165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pt-BR" altLang="en-US" sz="1600" b="1">
                <a:solidFill>
                  <a:srgbClr val="0000FF"/>
                </a:solidFill>
                <a:latin typeface="Verdana" panose="020B0604030504040204" pitchFamily="34" charset="0"/>
              </a:rPr>
              <a:t>sn==n*a</a:t>
            </a:r>
          </a:p>
        </p:txBody>
      </p:sp>
      <p:sp>
        <p:nvSpPr>
          <p:cNvPr id="22" name="Seta para a direita 5" descr=" 8">
            <a:extLst>
              <a:ext uri="{FF2B5EF4-FFF2-40B4-BE49-F238E27FC236}">
                <a16:creationId xmlns:a16="http://schemas.microsoft.com/office/drawing/2014/main" id="{170E1C0A-5089-1C7F-9B69-0FBC9F05260C}"/>
              </a:ext>
            </a:extLst>
          </p:cNvPr>
          <p:cNvSpPr/>
          <p:nvPr/>
        </p:nvSpPr>
        <p:spPr>
          <a:xfrm>
            <a:off x="5010150" y="3716338"/>
            <a:ext cx="893233" cy="360362"/>
          </a:xfrm>
          <a:prstGeom prst="rightArrow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1800" i="0" kern="0">
              <a:solidFill>
                <a:prstClr val="white"/>
              </a:solidFill>
              <a:latin typeface="Calibri"/>
              <a:ea typeface="+mn-ea"/>
            </a:endParaRPr>
          </a:p>
        </p:txBody>
      </p:sp>
      <p:sp>
        <p:nvSpPr>
          <p:cNvPr id="130058" name="Retângulo 11" descr=" 4">
            <a:extLst>
              <a:ext uri="{FF2B5EF4-FFF2-40B4-BE49-F238E27FC236}">
                <a16:creationId xmlns:a16="http://schemas.microsoft.com/office/drawing/2014/main" id="{AA26227E-145F-BBF0-5AB8-211A4E61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8450" y="3213100"/>
            <a:ext cx="24511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pt-BR" altLang="en-US">
                <a:solidFill>
                  <a:srgbClr val="FF0000"/>
                </a:solidFill>
                <a:cs typeface="Arial" panose="020B0604020202020204" pitchFamily="34" charset="0"/>
              </a:rPr>
              <a:t>4,294,967,295 </a:t>
            </a:r>
          </a:p>
          <a:p>
            <a:pPr algn="ctr" eaLnBrk="1" hangingPunct="1"/>
            <a:r>
              <a:rPr lang="pt-BR" altLang="en-US">
                <a:solidFill>
                  <a:srgbClr val="FF0000"/>
                </a:solidFill>
                <a:cs typeface="Arial" panose="020B0604020202020204" pitchFamily="34" charset="0"/>
              </a:rPr>
              <a:t>loop unwindings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04E0179-3195-8EA5-8990-A9DA4808F5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2317" y="109538"/>
            <a:ext cx="11525249" cy="871537"/>
          </a:xfrm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GB" sz="4000" b="1" spc="-20" dirty="0">
                <a:latin typeface="Arial" pitchFamily="34" charset="0"/>
                <a:ea typeface="+mj-ea"/>
                <a:cs typeface="Arial" pitchFamily="34" charset="0"/>
              </a:rPr>
              <a:t>Induction-Based Verification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BAACA46-0C51-39F5-EBA2-3642D8DC9CAD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981075"/>
            <a:ext cx="11887200" cy="5272088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2800" b="1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k</a:t>
            </a:r>
            <a:r>
              <a:rPr lang="en-GB" sz="2800" b="1" i="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-induction</a:t>
            </a:r>
            <a:r>
              <a:rPr lang="en-GB" sz="2800" i="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 checks...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Tx/>
              <a:buChar char="•"/>
              <a:defRPr/>
            </a:pPr>
            <a:r>
              <a:rPr lang="en-GB" sz="2800" b="1" i="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base case</a:t>
            </a:r>
            <a:r>
              <a:rPr lang="en-GB" sz="2800" b="1" i="0" kern="0" dirty="0">
                <a:solidFill>
                  <a:srgbClr val="0000FF"/>
                </a:solidFill>
                <a:ea typeface="+mn-ea"/>
                <a:cs typeface="Arial" pitchFamily="34" charset="0"/>
              </a:rPr>
              <a:t> (</a:t>
            </a:r>
            <a:r>
              <a:rPr lang="en-GB" sz="2800" b="1" kern="0" dirty="0" err="1">
                <a:solidFill>
                  <a:srgbClr val="0000FF"/>
                </a:solidFill>
                <a:ea typeface="+mn-ea"/>
                <a:cs typeface="Arial" pitchFamily="34" charset="0"/>
              </a:rPr>
              <a:t>base</a:t>
            </a:r>
            <a:r>
              <a:rPr lang="en-GB" sz="2800" b="1" kern="0" baseline="-25000" dirty="0" err="1">
                <a:solidFill>
                  <a:srgbClr val="0000FF"/>
                </a:solidFill>
                <a:ea typeface="+mn-ea"/>
                <a:cs typeface="Arial" pitchFamily="34" charset="0"/>
              </a:rPr>
              <a:t>k</a:t>
            </a:r>
            <a:r>
              <a:rPr lang="en-GB" sz="2800" b="1" i="0" kern="0" dirty="0">
                <a:solidFill>
                  <a:srgbClr val="0000FF"/>
                </a:solidFill>
                <a:ea typeface="+mn-ea"/>
                <a:cs typeface="Arial" pitchFamily="34" charset="0"/>
              </a:rPr>
              <a:t>)</a:t>
            </a:r>
            <a:r>
              <a:rPr lang="en-GB" sz="2800" b="1" i="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: </a:t>
            </a:r>
            <a:r>
              <a:rPr lang="en-GB" sz="2800" i="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find a counter-example with up to </a:t>
            </a:r>
            <a:r>
              <a:rPr lang="en-GB" sz="280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k</a:t>
            </a:r>
            <a:r>
              <a:rPr lang="en-GB" sz="2800" i="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 loop </a:t>
            </a:r>
            <a:r>
              <a:rPr lang="en-GB" sz="2800" i="0" kern="0" dirty="0" err="1">
                <a:solidFill>
                  <a:prstClr val="black"/>
                </a:solidFill>
                <a:ea typeface="+mn-ea"/>
                <a:cs typeface="Arial" pitchFamily="34" charset="0"/>
              </a:rPr>
              <a:t>unwindings</a:t>
            </a:r>
            <a:r>
              <a:rPr lang="en-GB" sz="2800" i="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 (plain BMC)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Tx/>
              <a:buChar char="•"/>
              <a:defRPr/>
            </a:pPr>
            <a:r>
              <a:rPr lang="en-GB" sz="2800" b="1" i="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forward condition</a:t>
            </a:r>
            <a:r>
              <a:rPr lang="en-GB" sz="2800" b="1" i="0" kern="0" dirty="0">
                <a:solidFill>
                  <a:srgbClr val="339966"/>
                </a:solidFill>
                <a:ea typeface="+mn-ea"/>
                <a:cs typeface="Arial" pitchFamily="34" charset="0"/>
              </a:rPr>
              <a:t> (</a:t>
            </a:r>
            <a:r>
              <a:rPr lang="en-GB" sz="2800" b="1" kern="0" dirty="0" err="1">
                <a:solidFill>
                  <a:srgbClr val="339966"/>
                </a:solidFill>
                <a:ea typeface="+mn-ea"/>
                <a:cs typeface="Arial" pitchFamily="34" charset="0"/>
              </a:rPr>
              <a:t>fwd</a:t>
            </a:r>
            <a:r>
              <a:rPr lang="en-GB" sz="2800" b="1" kern="0" baseline="-25000" dirty="0" err="1">
                <a:solidFill>
                  <a:srgbClr val="339966"/>
                </a:solidFill>
                <a:ea typeface="+mn-ea"/>
                <a:cs typeface="Arial" pitchFamily="34" charset="0"/>
              </a:rPr>
              <a:t>k</a:t>
            </a:r>
            <a:r>
              <a:rPr lang="en-GB" sz="2800" b="1" i="0" kern="0" dirty="0">
                <a:solidFill>
                  <a:srgbClr val="339966"/>
                </a:solidFill>
                <a:ea typeface="+mn-ea"/>
                <a:cs typeface="Arial" pitchFamily="34" charset="0"/>
              </a:rPr>
              <a:t>)</a:t>
            </a:r>
            <a:r>
              <a:rPr lang="en-GB" sz="2800" b="1" i="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:</a:t>
            </a:r>
            <a:r>
              <a:rPr lang="en-GB" sz="2800" b="1" i="0" kern="0" dirty="0">
                <a:solidFill>
                  <a:srgbClr val="339966"/>
                </a:solidFill>
                <a:ea typeface="+mn-ea"/>
                <a:cs typeface="Arial" pitchFamily="34" charset="0"/>
              </a:rPr>
              <a:t> </a:t>
            </a:r>
            <a:r>
              <a:rPr lang="en-GB" sz="2800" i="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check that </a:t>
            </a:r>
            <a:r>
              <a:rPr lang="en-GB" sz="280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P</a:t>
            </a:r>
            <a:r>
              <a:rPr lang="en-GB" sz="2800" i="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 holds in all states reachable within </a:t>
            </a:r>
            <a:r>
              <a:rPr lang="en-GB" sz="280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k</a:t>
            </a:r>
            <a:r>
              <a:rPr lang="en-GB" sz="2800" i="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 </a:t>
            </a:r>
            <a:r>
              <a:rPr lang="en-GB" sz="2800" i="0" kern="0" dirty="0" err="1">
                <a:solidFill>
                  <a:prstClr val="black"/>
                </a:solidFill>
                <a:ea typeface="+mn-ea"/>
                <a:cs typeface="Arial" pitchFamily="34" charset="0"/>
              </a:rPr>
              <a:t>unwindings</a:t>
            </a:r>
            <a:endParaRPr lang="en-GB" sz="2800" i="0" kern="0" dirty="0">
              <a:solidFill>
                <a:prstClr val="black"/>
              </a:solidFill>
              <a:ea typeface="+mn-ea"/>
              <a:cs typeface="Arial" pitchFamily="34" charset="0"/>
            </a:endParaRP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Tx/>
              <a:buChar char="•"/>
              <a:defRPr/>
            </a:pPr>
            <a:r>
              <a:rPr lang="en-GB" sz="2800" b="1" i="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inductive step</a:t>
            </a:r>
            <a:r>
              <a:rPr lang="en-GB" b="1" i="0" kern="0" dirty="0">
                <a:solidFill>
                  <a:srgbClr val="FF0000"/>
                </a:solidFill>
                <a:ea typeface="+mn-ea"/>
                <a:cs typeface="Arial" pitchFamily="34" charset="0"/>
              </a:rPr>
              <a:t> </a:t>
            </a:r>
            <a:r>
              <a:rPr lang="en-GB" sz="2800" b="1" i="0" kern="0" dirty="0">
                <a:solidFill>
                  <a:srgbClr val="FF0000"/>
                </a:solidFill>
                <a:ea typeface="+mn-ea"/>
                <a:cs typeface="Arial" pitchFamily="34" charset="0"/>
              </a:rPr>
              <a:t>(</a:t>
            </a:r>
            <a:r>
              <a:rPr lang="en-GB" sz="2800" b="1" kern="0" dirty="0" err="1">
                <a:solidFill>
                  <a:srgbClr val="FF0000"/>
                </a:solidFill>
                <a:ea typeface="+mn-ea"/>
                <a:cs typeface="Arial" pitchFamily="34" charset="0"/>
              </a:rPr>
              <a:t>step</a:t>
            </a:r>
            <a:r>
              <a:rPr lang="en-GB" sz="2800" b="1" kern="0" baseline="-25000" dirty="0" err="1">
                <a:solidFill>
                  <a:srgbClr val="FF0000"/>
                </a:solidFill>
                <a:ea typeface="+mn-ea"/>
                <a:cs typeface="Arial" pitchFamily="34" charset="0"/>
              </a:rPr>
              <a:t>k</a:t>
            </a:r>
            <a:r>
              <a:rPr lang="en-GB" sz="2800" b="1" i="0" kern="0" dirty="0">
                <a:solidFill>
                  <a:srgbClr val="FF0000"/>
                </a:solidFill>
                <a:ea typeface="+mn-ea"/>
                <a:cs typeface="Arial" pitchFamily="34" charset="0"/>
              </a:rPr>
              <a:t>)</a:t>
            </a:r>
            <a:r>
              <a:rPr lang="en-GB" sz="2800" b="1" i="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:</a:t>
            </a:r>
            <a:r>
              <a:rPr lang="en-GB" sz="2800" i="0" kern="0" dirty="0">
                <a:solidFill>
                  <a:srgbClr val="FF0000"/>
                </a:solidFill>
                <a:ea typeface="+mn-ea"/>
                <a:cs typeface="Arial" pitchFamily="34" charset="0"/>
              </a:rPr>
              <a:t> </a:t>
            </a:r>
            <a:r>
              <a:rPr lang="en-GB" sz="2800" i="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check that whenever </a:t>
            </a:r>
            <a:r>
              <a:rPr lang="en-GB" sz="280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P</a:t>
            </a:r>
            <a:r>
              <a:rPr lang="en-GB" sz="2800" i="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 holds for </a:t>
            </a:r>
            <a:r>
              <a:rPr lang="en-GB" sz="280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k</a:t>
            </a:r>
            <a:r>
              <a:rPr lang="en-GB" sz="2800" i="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 </a:t>
            </a:r>
            <a:r>
              <a:rPr lang="en-GB" sz="2800" i="0" kern="0" dirty="0" err="1">
                <a:solidFill>
                  <a:prstClr val="black"/>
                </a:solidFill>
                <a:ea typeface="+mn-ea"/>
                <a:cs typeface="Arial" pitchFamily="34" charset="0"/>
              </a:rPr>
              <a:t>unwindings</a:t>
            </a:r>
            <a:r>
              <a:rPr lang="en-GB" sz="2800" i="0" kern="0" dirty="0">
                <a:solidFill>
                  <a:prstClr val="black"/>
                </a:solidFill>
                <a:ea typeface="+mn-ea"/>
                <a:cs typeface="Arial" pitchFamily="34" charset="0"/>
              </a:rPr>
              <a:t>, it also holds after next unwinding</a:t>
            </a:r>
          </a:p>
          <a:p>
            <a:pPr marL="742950" lvl="1" indent="-285750" eaLnBrk="1" fontAlgn="auto" hangingPunct="1">
              <a:spcBef>
                <a:spcPts val="0"/>
              </a:spcBef>
              <a:spcAft>
                <a:spcPts val="300"/>
              </a:spcAft>
              <a:buFont typeface="Arial" pitchFamily="34" charset="0"/>
              <a:buChar char="–"/>
              <a:defRPr/>
            </a:pPr>
            <a:r>
              <a:rPr lang="en-GB" sz="2400" i="0" dirty="0">
                <a:solidFill>
                  <a:prstClr val="black"/>
                </a:solidFill>
                <a:ea typeface="+mn-ea"/>
                <a:cs typeface="Arial" pitchFamily="34" charset="0"/>
              </a:rPr>
              <a:t>havoc state</a:t>
            </a:r>
          </a:p>
          <a:p>
            <a:pPr marL="742950" lvl="1" indent="-285750" eaLnBrk="1" fontAlgn="auto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/>
            </a:pPr>
            <a:r>
              <a:rPr lang="en-GB" sz="2400" i="0" dirty="0">
                <a:solidFill>
                  <a:prstClr val="black"/>
                </a:solidFill>
                <a:ea typeface="+mn-ea"/>
                <a:cs typeface="Arial" pitchFamily="34" charset="0"/>
              </a:rPr>
              <a:t>run </a:t>
            </a:r>
            <a:r>
              <a:rPr lang="en-GB" sz="2400" dirty="0">
                <a:solidFill>
                  <a:prstClr val="black"/>
                </a:solidFill>
                <a:ea typeface="+mn-ea"/>
                <a:cs typeface="Arial" pitchFamily="34" charset="0"/>
              </a:rPr>
              <a:t>k</a:t>
            </a:r>
            <a:r>
              <a:rPr lang="en-GB" sz="2400" i="0" dirty="0">
                <a:solidFill>
                  <a:prstClr val="black"/>
                </a:solidFill>
                <a:ea typeface="+mn-ea"/>
                <a:cs typeface="Arial" pitchFamily="34" charset="0"/>
              </a:rPr>
              <a:t> iterations</a:t>
            </a:r>
          </a:p>
          <a:p>
            <a:pPr marL="742950" lvl="1" indent="-285750" eaLnBrk="1" fontAlgn="auto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/>
            </a:pPr>
            <a:r>
              <a:rPr lang="en-GB" sz="2400" i="0" dirty="0">
                <a:solidFill>
                  <a:prstClr val="black"/>
                </a:solidFill>
                <a:ea typeface="+mn-ea"/>
                <a:cs typeface="Arial" pitchFamily="34" charset="0"/>
              </a:rPr>
              <a:t>assume invariant</a:t>
            </a:r>
          </a:p>
          <a:p>
            <a:pPr marL="742950" lvl="1" indent="-285750" eaLnBrk="1" fontAlgn="auto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/>
            </a:pPr>
            <a:r>
              <a:rPr lang="en-GB" sz="2400" i="0" dirty="0">
                <a:solidFill>
                  <a:prstClr val="black"/>
                </a:solidFill>
                <a:ea typeface="+mn-ea"/>
                <a:cs typeface="Arial" pitchFamily="34" charset="0"/>
              </a:rPr>
              <a:t>run final iteration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Arial Unicode MS" pitchFamily="34" charset="-128"/>
              <a:buChar char="⇒"/>
              <a:defRPr/>
            </a:pPr>
            <a:r>
              <a:rPr lang="en-GB" sz="2800" i="0" dirty="0">
                <a:solidFill>
                  <a:prstClr val="black"/>
                </a:solidFill>
                <a:ea typeface="+mn-ea"/>
                <a:cs typeface="Arial" pitchFamily="34" charset="0"/>
              </a:rPr>
              <a:t>iterative deepening if inconclusive</a:t>
            </a:r>
            <a:endParaRPr lang="en-GB" sz="2800" i="0" kern="0" dirty="0">
              <a:solidFill>
                <a:prstClr val="black"/>
              </a:solidFill>
              <a:ea typeface="+mn-ea"/>
              <a:cs typeface="Arial" pitchFamily="34" charset="0"/>
            </a:endParaRPr>
          </a:p>
          <a:p>
            <a:pPr marL="742950" lvl="1" indent="-285750" eaLnBrk="1" fontAlgn="auto" hangingPunct="1">
              <a:spcBef>
                <a:spcPts val="400"/>
              </a:spcBef>
              <a:spcAft>
                <a:spcPts val="400"/>
              </a:spcAft>
              <a:buFont typeface="Arial" pitchFamily="34" charset="0"/>
              <a:buChar char="–"/>
              <a:defRPr/>
            </a:pPr>
            <a:endParaRPr lang="en-GB" sz="2400" i="0" dirty="0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2B52092-5E06-0049-6B5C-0F466F857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2317" y="109538"/>
            <a:ext cx="11525249" cy="871537"/>
          </a:xfrm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GB" sz="4000" b="1" spc="-20" dirty="0">
                <a:latin typeface="Arial" pitchFamily="34" charset="0"/>
                <a:ea typeface="+mj-ea"/>
                <a:cs typeface="Arial" pitchFamily="34" charset="0"/>
              </a:rPr>
              <a:t>The </a:t>
            </a:r>
            <a:r>
              <a:rPr lang="en-GB" sz="4000" b="1" i="1" spc="-20" dirty="0">
                <a:latin typeface="Arial" pitchFamily="34" charset="0"/>
                <a:ea typeface="+mj-ea"/>
                <a:cs typeface="Arial" pitchFamily="34" charset="0"/>
              </a:rPr>
              <a:t>k</a:t>
            </a:r>
            <a:r>
              <a:rPr lang="en-GB" sz="4000" b="1" spc="-20" dirty="0">
                <a:latin typeface="Arial" pitchFamily="34" charset="0"/>
                <a:ea typeface="+mj-ea"/>
                <a:cs typeface="Arial" pitchFamily="34" charset="0"/>
              </a:rPr>
              <a:t>-induction algorithm</a:t>
            </a:r>
          </a:p>
        </p:txBody>
      </p:sp>
      <p:sp>
        <p:nvSpPr>
          <p:cNvPr id="137218" name="Retângulo 4">
            <a:extLst>
              <a:ext uri="{FF2B5EF4-FFF2-40B4-BE49-F238E27FC236}">
                <a16:creationId xmlns:a16="http://schemas.microsoft.com/office/drawing/2014/main" id="{91502F75-6104-23EF-BAF6-A10BCF558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33" y="1268413"/>
            <a:ext cx="11063817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400"/>
              </a:spcAft>
            </a:pPr>
            <a:r>
              <a:rPr lang="en-GB" altLang="en-US" sz="2400">
                <a:solidFill>
                  <a:srgbClr val="000000"/>
                </a:solidFill>
                <a:latin typeface="Verdana" panose="020B0604030504040204" pitchFamily="34" charset="0"/>
              </a:rPr>
              <a:t>k</a:t>
            </a:r>
            <a:r>
              <a:rPr lang="en-GB" altLang="en-US" sz="2400" i="0">
                <a:solidFill>
                  <a:srgbClr val="000000"/>
                </a:solidFill>
                <a:latin typeface="Verdana" panose="020B0604030504040204" pitchFamily="34" charset="0"/>
              </a:rPr>
              <a:t>=initial bound</a:t>
            </a:r>
          </a:p>
          <a:p>
            <a:pPr eaLnBrk="1" hangingPunct="1">
              <a:spcBef>
                <a:spcPts val="400"/>
              </a:spcBef>
              <a:spcAft>
                <a:spcPts val="400"/>
              </a:spcAft>
            </a:pPr>
            <a:r>
              <a:rPr lang="en-GB" altLang="en-US" sz="2400" b="1" i="0">
                <a:solidFill>
                  <a:srgbClr val="000000"/>
                </a:solidFill>
                <a:latin typeface="Verdana" panose="020B0604030504040204" pitchFamily="34" charset="0"/>
              </a:rPr>
              <a:t>while</a:t>
            </a:r>
            <a:r>
              <a:rPr lang="en-GB" altLang="en-US" sz="2400" i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GB" altLang="en-US" sz="2400">
                <a:solidFill>
                  <a:srgbClr val="000000"/>
                </a:solidFill>
                <a:latin typeface="Verdana" panose="020B0604030504040204" pitchFamily="34" charset="0"/>
              </a:rPr>
              <a:t>true</a:t>
            </a:r>
            <a:r>
              <a:rPr lang="en-GB" altLang="en-US" sz="2400" i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GB" altLang="en-US" sz="2400" b="1" i="0">
                <a:solidFill>
                  <a:srgbClr val="000000"/>
                </a:solidFill>
                <a:latin typeface="Verdana" panose="020B0604030504040204" pitchFamily="34" charset="0"/>
              </a:rPr>
              <a:t>do</a:t>
            </a:r>
          </a:p>
          <a:p>
            <a:pPr eaLnBrk="1" hangingPunct="1">
              <a:spcBef>
                <a:spcPts val="400"/>
              </a:spcBef>
              <a:spcAft>
                <a:spcPts val="400"/>
              </a:spcAft>
            </a:pPr>
            <a:r>
              <a:rPr lang="en-GB" altLang="en-US" sz="2400" i="0">
                <a:solidFill>
                  <a:srgbClr val="000000"/>
                </a:solidFill>
                <a:latin typeface="Verdana" panose="020B0604030504040204" pitchFamily="34" charset="0"/>
              </a:rPr>
              <a:t>    </a:t>
            </a:r>
            <a:r>
              <a:rPr lang="en-GB" altLang="en-US" sz="2400" b="1" i="0">
                <a:solidFill>
                  <a:srgbClr val="000000"/>
                </a:solidFill>
                <a:latin typeface="Verdana" panose="020B0604030504040204" pitchFamily="34" charset="0"/>
              </a:rPr>
              <a:t>if</a:t>
            </a:r>
            <a:r>
              <a:rPr lang="en-GB" altLang="en-US" sz="2400" i="0">
                <a:solidFill>
                  <a:srgbClr val="000000"/>
                </a:solidFill>
                <a:latin typeface="Verdana" panose="020B0604030504040204" pitchFamily="34" charset="0"/>
              </a:rPr>
              <a:t>  </a:t>
            </a:r>
            <a:r>
              <a:rPr lang="en-GB" altLang="en-US" sz="2400">
                <a:solidFill>
                  <a:srgbClr val="0000FF"/>
                </a:solidFill>
                <a:latin typeface="Verdana" panose="020B0604030504040204" pitchFamily="34" charset="0"/>
              </a:rPr>
              <a:t>base</a:t>
            </a:r>
            <a:r>
              <a:rPr lang="en-GB" altLang="en-US" sz="2400" baseline="-25000">
                <a:solidFill>
                  <a:srgbClr val="0000FF"/>
                </a:solidFill>
                <a:latin typeface="Verdana" panose="020B0604030504040204" pitchFamily="34" charset="0"/>
              </a:rPr>
              <a:t>k</a:t>
            </a:r>
            <a:r>
              <a:rPr lang="en-GB" altLang="en-US" sz="2400" i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GB" altLang="en-US" sz="2400" b="1" i="0">
                <a:solidFill>
                  <a:srgbClr val="000000"/>
                </a:solidFill>
                <a:latin typeface="Verdana" panose="020B0604030504040204" pitchFamily="34" charset="0"/>
              </a:rPr>
              <a:t>then</a:t>
            </a:r>
          </a:p>
          <a:p>
            <a:pPr eaLnBrk="1" hangingPunct="1">
              <a:spcBef>
                <a:spcPts val="400"/>
              </a:spcBef>
              <a:spcAft>
                <a:spcPts val="400"/>
              </a:spcAft>
            </a:pPr>
            <a:r>
              <a:rPr lang="en-GB" altLang="en-US" sz="2400" b="1" i="0">
                <a:solidFill>
                  <a:srgbClr val="000000"/>
                </a:solidFill>
                <a:latin typeface="Verdana" panose="020B0604030504040204" pitchFamily="34" charset="0"/>
              </a:rPr>
              <a:t>        return</a:t>
            </a:r>
            <a:r>
              <a:rPr lang="en-GB" altLang="en-US" sz="2400" i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GB" altLang="en-US" sz="2400">
                <a:solidFill>
                  <a:srgbClr val="000000"/>
                </a:solidFill>
                <a:latin typeface="Verdana" panose="020B0604030504040204" pitchFamily="34" charset="0"/>
              </a:rPr>
              <a:t>trace s[0..k]  </a:t>
            </a:r>
          </a:p>
          <a:p>
            <a:pPr eaLnBrk="1" hangingPunct="1">
              <a:spcBef>
                <a:spcPts val="400"/>
              </a:spcBef>
              <a:spcAft>
                <a:spcPts val="400"/>
              </a:spcAft>
            </a:pPr>
            <a:r>
              <a:rPr lang="en-GB" altLang="en-US" sz="2400" i="0">
                <a:solidFill>
                  <a:srgbClr val="000000"/>
                </a:solidFill>
                <a:latin typeface="Verdana" panose="020B0604030504040204" pitchFamily="34" charset="0"/>
              </a:rPr>
              <a:t>    </a:t>
            </a:r>
            <a:r>
              <a:rPr lang="en-GB" altLang="en-US" sz="2400" b="1" i="0">
                <a:solidFill>
                  <a:srgbClr val="000000"/>
                </a:solidFill>
                <a:latin typeface="Verdana" panose="020B0604030504040204" pitchFamily="34" charset="0"/>
              </a:rPr>
              <a:t>else if </a:t>
            </a:r>
            <a:r>
              <a:rPr lang="en-GB" altLang="en-US" sz="2400">
                <a:solidFill>
                  <a:srgbClr val="339966"/>
                </a:solidFill>
                <a:latin typeface="Verdana" panose="020B0604030504040204" pitchFamily="34" charset="0"/>
              </a:rPr>
              <a:t>fwd</a:t>
            </a:r>
            <a:r>
              <a:rPr lang="en-GB" altLang="en-US" sz="2400" baseline="-25000">
                <a:solidFill>
                  <a:srgbClr val="339966"/>
                </a:solidFill>
                <a:latin typeface="Verdana" panose="020B0604030504040204" pitchFamily="34" charset="0"/>
              </a:rPr>
              <a:t>k</a:t>
            </a:r>
          </a:p>
          <a:p>
            <a:pPr eaLnBrk="1" hangingPunct="1">
              <a:spcBef>
                <a:spcPts val="400"/>
              </a:spcBef>
              <a:spcAft>
                <a:spcPts val="400"/>
              </a:spcAft>
            </a:pPr>
            <a:r>
              <a:rPr lang="en-GB" altLang="en-US" sz="2400" i="0">
                <a:solidFill>
                  <a:srgbClr val="000000"/>
                </a:solidFill>
                <a:latin typeface="Verdana" panose="020B0604030504040204" pitchFamily="34" charset="0"/>
              </a:rPr>
              <a:t>        </a:t>
            </a:r>
            <a:r>
              <a:rPr lang="en-GB" altLang="en-US" sz="2400" b="1" i="0">
                <a:solidFill>
                  <a:srgbClr val="000000"/>
                </a:solidFill>
                <a:latin typeface="Verdana" panose="020B0604030504040204" pitchFamily="34" charset="0"/>
              </a:rPr>
              <a:t>return</a:t>
            </a:r>
            <a:r>
              <a:rPr lang="en-GB" altLang="en-US" sz="2400" i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GB" altLang="en-US" sz="2400">
                <a:solidFill>
                  <a:srgbClr val="000000"/>
                </a:solidFill>
                <a:latin typeface="Verdana" panose="020B0604030504040204" pitchFamily="34" charset="0"/>
              </a:rPr>
              <a:t>true</a:t>
            </a:r>
            <a:r>
              <a:rPr lang="en-GB" altLang="en-US" sz="2400" i="0">
                <a:solidFill>
                  <a:srgbClr val="000000"/>
                </a:solidFill>
                <a:latin typeface="Verdana" panose="020B0604030504040204" pitchFamily="34" charset="0"/>
              </a:rPr>
              <a:t>  </a:t>
            </a:r>
          </a:p>
          <a:p>
            <a:pPr eaLnBrk="1" hangingPunct="1">
              <a:spcBef>
                <a:spcPts val="400"/>
              </a:spcBef>
              <a:spcAft>
                <a:spcPts val="400"/>
              </a:spcAft>
            </a:pPr>
            <a:r>
              <a:rPr lang="en-GB" altLang="en-US" sz="2400" b="1" i="0">
                <a:solidFill>
                  <a:srgbClr val="000000"/>
                </a:solidFill>
                <a:latin typeface="Verdana" panose="020B0604030504040204" pitchFamily="34" charset="0"/>
              </a:rPr>
              <a:t>    else if</a:t>
            </a:r>
            <a:r>
              <a:rPr lang="en-GB" altLang="en-US" sz="2400" i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GB" altLang="en-US" sz="2400">
                <a:solidFill>
                  <a:srgbClr val="FF0000"/>
                </a:solidFill>
                <a:latin typeface="Verdana" panose="020B0604030504040204" pitchFamily="34" charset="0"/>
              </a:rPr>
              <a:t>step</a:t>
            </a:r>
            <a:r>
              <a:rPr lang="en-GB" altLang="en-US" sz="2400" baseline="-25000">
                <a:solidFill>
                  <a:srgbClr val="FF0000"/>
                </a:solidFill>
                <a:latin typeface="Verdana" panose="020B0604030504040204" pitchFamily="34" charset="0"/>
              </a:rPr>
              <a:t>k</a:t>
            </a:r>
            <a:r>
              <a:rPr lang="en-GB" altLang="en-US" sz="2400" i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GB" altLang="en-US" sz="2400" b="1" i="0">
                <a:solidFill>
                  <a:srgbClr val="000000"/>
                </a:solidFill>
                <a:latin typeface="Verdana" panose="020B0604030504040204" pitchFamily="34" charset="0"/>
              </a:rPr>
              <a:t>then</a:t>
            </a:r>
          </a:p>
          <a:p>
            <a:pPr eaLnBrk="1" hangingPunct="1">
              <a:spcBef>
                <a:spcPts val="400"/>
              </a:spcBef>
              <a:spcAft>
                <a:spcPts val="400"/>
              </a:spcAft>
            </a:pPr>
            <a:r>
              <a:rPr lang="en-GB" altLang="en-US" sz="2400" b="1" i="0">
                <a:solidFill>
                  <a:srgbClr val="000000"/>
                </a:solidFill>
                <a:latin typeface="Verdana" panose="020B0604030504040204" pitchFamily="34" charset="0"/>
              </a:rPr>
              <a:t>        return</a:t>
            </a:r>
            <a:r>
              <a:rPr lang="en-GB" altLang="en-US" sz="2400" i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GB" altLang="en-US" sz="2400">
                <a:solidFill>
                  <a:srgbClr val="000000"/>
                </a:solidFill>
                <a:latin typeface="Verdana" panose="020B0604030504040204" pitchFamily="34" charset="0"/>
              </a:rPr>
              <a:t>true</a:t>
            </a:r>
          </a:p>
          <a:p>
            <a:pPr eaLnBrk="1" hangingPunct="1">
              <a:spcBef>
                <a:spcPts val="400"/>
              </a:spcBef>
              <a:spcAft>
                <a:spcPts val="400"/>
              </a:spcAft>
            </a:pPr>
            <a:r>
              <a:rPr lang="en-GB" altLang="en-US" sz="2400" b="1" i="0">
                <a:solidFill>
                  <a:srgbClr val="000000"/>
                </a:solidFill>
                <a:latin typeface="Verdana" panose="020B0604030504040204" pitchFamily="34" charset="0"/>
              </a:rPr>
              <a:t>    end if</a:t>
            </a:r>
          </a:p>
          <a:p>
            <a:pPr eaLnBrk="1" hangingPunct="1">
              <a:spcBef>
                <a:spcPts val="400"/>
              </a:spcBef>
              <a:spcAft>
                <a:spcPts val="400"/>
              </a:spcAft>
            </a:pPr>
            <a:r>
              <a:rPr lang="en-GB" altLang="en-US" sz="2400">
                <a:solidFill>
                  <a:srgbClr val="000000"/>
                </a:solidFill>
                <a:latin typeface="Verdana" panose="020B0604030504040204" pitchFamily="34" charset="0"/>
              </a:rPr>
              <a:t>    k=k+1</a:t>
            </a:r>
          </a:p>
          <a:p>
            <a:pPr eaLnBrk="1" hangingPunct="1">
              <a:spcBef>
                <a:spcPts val="400"/>
              </a:spcBef>
              <a:spcAft>
                <a:spcPts val="400"/>
              </a:spcAft>
            </a:pPr>
            <a:r>
              <a:rPr lang="en-GB" altLang="en-US" sz="2400" b="1" i="0">
                <a:solidFill>
                  <a:srgbClr val="000000"/>
                </a:solidFill>
                <a:latin typeface="Verdana" panose="020B0604030504040204" pitchFamily="34" charset="0"/>
              </a:rPr>
              <a:t>end</a:t>
            </a:r>
          </a:p>
        </p:txBody>
      </p:sp>
      <p:sp>
        <p:nvSpPr>
          <p:cNvPr id="9" name="Rounded Rectangular Callout 21">
            <a:extLst>
              <a:ext uri="{FF2B5EF4-FFF2-40B4-BE49-F238E27FC236}">
                <a16:creationId xmlns:a16="http://schemas.microsoft.com/office/drawing/2014/main" id="{D5C797A1-396B-6B6D-F0C5-5F71EE4B5A13}"/>
              </a:ext>
            </a:extLst>
          </p:cNvPr>
          <p:cNvSpPr/>
          <p:nvPr/>
        </p:nvSpPr>
        <p:spPr>
          <a:xfrm>
            <a:off x="6096000" y="2492375"/>
            <a:ext cx="4320117" cy="1296988"/>
          </a:xfrm>
          <a:prstGeom prst="wedgeRoundRectCallout">
            <a:avLst>
              <a:gd name="adj1" fmla="val -98809"/>
              <a:gd name="adj2" fmla="val 25513"/>
              <a:gd name="adj3" fmla="val 16667"/>
            </a:avLst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i="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inserts unwinding assertion after each loop</a:t>
            </a:r>
          </a:p>
        </p:txBody>
      </p:sp>
      <p:sp>
        <p:nvSpPr>
          <p:cNvPr id="10" name="Rounded Rectangular Callout 21">
            <a:extLst>
              <a:ext uri="{FF2B5EF4-FFF2-40B4-BE49-F238E27FC236}">
                <a16:creationId xmlns:a16="http://schemas.microsoft.com/office/drawing/2014/main" id="{79FD79A9-B3BB-B9AC-D57D-BC459A844862}"/>
              </a:ext>
            </a:extLst>
          </p:cNvPr>
          <p:cNvSpPr/>
          <p:nvPr/>
        </p:nvSpPr>
        <p:spPr>
          <a:xfrm>
            <a:off x="6096000" y="981075"/>
            <a:ext cx="4320117" cy="1295400"/>
          </a:xfrm>
          <a:prstGeom prst="wedgeRoundRectCallout">
            <a:avLst>
              <a:gd name="adj1" fmla="val -96204"/>
              <a:gd name="adj2" fmla="val 48305"/>
              <a:gd name="adj3" fmla="val 16667"/>
            </a:avLst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i="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inserts unwinding assumption after each loop</a:t>
            </a:r>
          </a:p>
        </p:txBody>
      </p:sp>
      <p:sp>
        <p:nvSpPr>
          <p:cNvPr id="11" name="Rounded Rectangular Callout 21">
            <a:extLst>
              <a:ext uri="{FF2B5EF4-FFF2-40B4-BE49-F238E27FC236}">
                <a16:creationId xmlns:a16="http://schemas.microsoft.com/office/drawing/2014/main" id="{5DA921C9-1590-2C30-FAAA-A7DA271BF4AA}"/>
              </a:ext>
            </a:extLst>
          </p:cNvPr>
          <p:cNvSpPr/>
          <p:nvPr/>
        </p:nvSpPr>
        <p:spPr>
          <a:xfrm>
            <a:off x="6576484" y="4076700"/>
            <a:ext cx="4320116" cy="1296988"/>
          </a:xfrm>
          <a:prstGeom prst="wedgeRoundRectCallout">
            <a:avLst>
              <a:gd name="adj1" fmla="val -89258"/>
              <a:gd name="adj2" fmla="val -27669"/>
              <a:gd name="adj3" fmla="val 16667"/>
            </a:avLst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 i="0">
                <a:solidFill>
                  <a:srgbClr val="FF0000"/>
                </a:solidFill>
                <a:cs typeface="Arial" panose="020B0604020202020204" pitchFamily="34" charset="0"/>
              </a:rPr>
              <a:t>havoc variables that occur in the loop’s termination condition</a:t>
            </a:r>
            <a:endParaRPr lang="en-GB" altLang="en-US" sz="2400" i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12" name="Rounded Rectangular Callout 21">
            <a:extLst>
              <a:ext uri="{FF2B5EF4-FFF2-40B4-BE49-F238E27FC236}">
                <a16:creationId xmlns:a16="http://schemas.microsoft.com/office/drawing/2014/main" id="{A0E40605-B9EC-28F8-0556-BA0C2A7E75C4}"/>
              </a:ext>
            </a:extLst>
          </p:cNvPr>
          <p:cNvSpPr/>
          <p:nvPr/>
        </p:nvSpPr>
        <p:spPr>
          <a:xfrm>
            <a:off x="4176184" y="5589588"/>
            <a:ext cx="4320116" cy="1008062"/>
          </a:xfrm>
          <a:prstGeom prst="wedgeRoundRectCallout">
            <a:avLst>
              <a:gd name="adj1" fmla="val -86219"/>
              <a:gd name="adj2" fmla="val -39608"/>
              <a:gd name="adj3" fmla="val 16667"/>
            </a:avLst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i="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unable to falsify or prove the property</a:t>
            </a:r>
            <a:endParaRPr lang="en-GB" sz="2400" i="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computer-bunny.blue.pot">
      <a:majorFont>
        <a:latin typeface="Arial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computer-bunny.blue.po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uter-bunny.blue.po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8">
        <a:dk1>
          <a:srgbClr val="000000"/>
        </a:dk1>
        <a:lt1>
          <a:srgbClr val="FFFFFF"/>
        </a:lt1>
        <a:dk2>
          <a:srgbClr val="CC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computer-bunny.blue.pot">
      <a:majorFont>
        <a:latin typeface="Arial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computer-bunny.blue.po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uter-bunny.blue.po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8">
        <a:dk1>
          <a:srgbClr val="000000"/>
        </a:dk1>
        <a:lt1>
          <a:srgbClr val="FFFFFF"/>
        </a:lt1>
        <a:dk2>
          <a:srgbClr val="CC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K:\doc\Presentations\computer-bunny.blue.pot</Template>
  <TotalTime>36145</TotalTime>
  <Words>329</Words>
  <Application>Microsoft Macintosh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23" baseType="lpstr">
      <vt:lpstr>Arial</vt:lpstr>
      <vt:lpstr>ＭＳ Ｐゴシック</vt:lpstr>
      <vt:lpstr>Times New Roman</vt:lpstr>
      <vt:lpstr>Wingdings</vt:lpstr>
      <vt:lpstr>Monotype Sorts</vt:lpstr>
      <vt:lpstr>MT Extra</vt:lpstr>
      <vt:lpstr>Calibri</vt:lpstr>
      <vt:lpstr>Verdana</vt:lpstr>
      <vt:lpstr>Symbol</vt:lpstr>
      <vt:lpstr>Arial Unicode MS</vt:lpstr>
      <vt:lpstr>Arial (Body)</vt:lpstr>
      <vt:lpstr>Helvetica Neue</vt:lpstr>
      <vt:lpstr>Tahoma</vt:lpstr>
      <vt:lpstr>맑은 고딕</vt:lpstr>
      <vt:lpstr>Courier New</vt:lpstr>
      <vt:lpstr>computer-bunny.blue</vt:lpstr>
      <vt:lpstr>1_computer-bunny.blue</vt:lpstr>
      <vt:lpstr>1_Tema do Office</vt:lpstr>
      <vt:lpstr>PowerPoint Presentation</vt:lpstr>
      <vt:lpstr>Revisiting BMC</vt:lpstr>
      <vt:lpstr>Difficulties in proving the correctness of programs with loops in BMC</vt:lpstr>
      <vt:lpstr>Induction-Based Verification</vt:lpstr>
      <vt:lpstr>The k-induction algorithm</vt:lpstr>
    </vt:vector>
  </TitlesOfParts>
  <Company>University of Virginia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332: Algorithms</dc:title>
  <dc:creator>David Luebke</dc:creator>
  <cp:lastModifiedBy>Lucas Cordeiro</cp:lastModifiedBy>
  <cp:revision>591</cp:revision>
  <cp:lastPrinted>1998-11-03T18:33:01Z</cp:lastPrinted>
  <dcterms:created xsi:type="dcterms:W3CDTF">1998-11-02T19:17:54Z</dcterms:created>
  <dcterms:modified xsi:type="dcterms:W3CDTF">2026-06-11T16:13:30Z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95</vt:i4>
  </property>
  <property fmtid="{D5CDD505-2E9C-101B-9397-08002B2CF9AE}" pid="5" name="ScreenSize">
    <vt:i4>3</vt:i4>
  </property>
  <property fmtid="{D5CDD505-2E9C-101B-9397-08002B2CF9AE}" pid="6" name="ScreenUsage">
    <vt:i4>2</vt:i4>
  </property>
  <property fmtid="{D5CDD505-2E9C-101B-9397-08002B2CF9AE}" pid="7" name="MailAddress">
    <vt:lpwstr>luebke@cs.virginia.edu</vt:lpwstr>
  </property>
  <property fmtid="{D5CDD505-2E9C-101B-9397-08002B2CF9AE}" pid="8" name="HomePage">
    <vt:lpwstr>http://www.cs.virginia.edu/~luebke</vt:lpwstr>
  </property>
  <property fmtid="{D5CDD505-2E9C-101B-9397-08002B2CF9AE}" pid="9" name="Other">
    <vt:lpwstr>CS 551: Intro Computer Graphics_x000d_
David Luebke, UVA</vt:lpwstr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4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\\athena\luebke\public_html\cs332</vt:lpwstr>
  </property>
</Properties>
</file>