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compatMode="1" strictFirstAndLastChars="0" saveSubsetFonts="1" autoCompressPictures="0">
  <p:sldMasterIdLst>
    <p:sldMasterId id="2147483649" r:id="rId1"/>
  </p:sldMasterIdLst>
  <p:notesMasterIdLst>
    <p:notesMasterId r:id="rId6"/>
  </p:notesMasterIdLst>
  <p:handoutMasterIdLst>
    <p:handoutMasterId r:id="rId7"/>
  </p:handoutMasterIdLst>
  <p:sldIdLst>
    <p:sldId id="331" r:id="rId2"/>
    <p:sldId id="642" r:id="rId3"/>
    <p:sldId id="644" r:id="rId4"/>
    <p:sldId id="471" r:id="rId5"/>
    <p:sldId id="645" r:id="rId12"/>
    <p:sldId id="646" r:id="rId13"/>
    <p:sldId id="647" r:id="rId14"/>
    <p:sldId id="648" r:id="rId15"/>
    <p:sldId id="649" r:id="rId16"/>
  </p:sldIdLst>
  <p:sldSz cx="12192000" cy="6858000" type="screen4x3"/>
  <p:notesSz cx="6946900" cy="92329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8">
          <p15:clr>
            <a:srgbClr val="A4A3A4"/>
          </p15:clr>
        </p15:guide>
        <p15:guide id="2" pos="218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howGuides="1">
      <p:cViewPr varScale="1">
        <p:scale>
          <a:sx n="120" d="100"/>
          <a:sy n="120" d="100"/>
        </p:scale>
        <p:origin x="1944" y="184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0" d="100"/>
          <a:sy n="60" d="100"/>
        </p:scale>
        <p:origin x="-1710" y="-72"/>
      </p:cViewPr>
      <p:guideLst>
        <p:guide orient="horz" pos="2908"/>
        <p:guide pos="218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49073B-DE13-EAB7-1EDC-2D5480E967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9900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AE041-6D91-83A6-D231-528CCD6D014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5413" y="0"/>
            <a:ext cx="3009900" cy="4619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704B071-8AA9-DB41-97FA-07A965331998}" type="datetimeFigureOut">
              <a:rPr lang="en-US" altLang="en-US"/>
              <a:pPr/>
              <a:t>6/11/26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5D132-68DF-A95E-BE07-41E83652BE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69350"/>
            <a:ext cx="3009900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2B9771-80C6-38E0-6152-B509C24A05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5413" y="8769350"/>
            <a:ext cx="3009900" cy="4619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C02C910-33B5-0D46-877C-A1687817DA5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84C4921F-56D4-1027-571E-4B48C6A6192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C343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2455" tIns="46227" rIns="92455" bIns="46227" numCol="1" anchor="ctr" anchorCtr="0" compatLnSpc="1">
            <a:prstTxWarp prst="textNoShape">
              <a:avLst/>
            </a:prstTxWarp>
          </a:bodyPr>
          <a:lstStyle>
            <a:lvl1pPr defTabSz="923925">
              <a:defRPr sz="1200" i="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B80FBCC4-413C-9FE0-1A25-A6C157E37E9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37000" y="0"/>
            <a:ext cx="30099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C343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2455" tIns="46227" rIns="92455" bIns="4622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 i="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0A7F7D9F-FF6C-CEB5-44CC-5AB1215C499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5225" y="692150"/>
            <a:ext cx="4616450" cy="3462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D575569B-E309-E33A-8629-87FE4EFBDA6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5513" y="4386263"/>
            <a:ext cx="5095875" cy="415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C343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2455" tIns="46227" rIns="92455" bIns="4622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5F110421-707B-7EE8-F164-98D9C1C5D7E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0938"/>
            <a:ext cx="30099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C343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2455" tIns="46227" rIns="92455" bIns="46227" numCol="1" anchor="b" anchorCtr="0" compatLnSpc="1">
            <a:prstTxWarp prst="textNoShape">
              <a:avLst/>
            </a:prstTxWarp>
          </a:bodyPr>
          <a:lstStyle>
            <a:lvl1pPr defTabSz="923925">
              <a:defRPr sz="1200" i="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3" name="Rectangle 7">
            <a:extLst>
              <a:ext uri="{FF2B5EF4-FFF2-40B4-BE49-F238E27FC236}">
                <a16:creationId xmlns:a16="http://schemas.microsoft.com/office/drawing/2014/main" id="{A67D8FBA-ABE3-6DA1-80EF-339D25D66E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7000" y="8770938"/>
            <a:ext cx="30099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CC343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2455" tIns="46227" rIns="92455" bIns="4622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i="0">
                <a:latin typeface="Times New Roman" panose="02020603050405020304" pitchFamily="18" charset="0"/>
              </a:defRPr>
            </a:lvl1pPr>
          </a:lstStyle>
          <a:p>
            <a:fld id="{9773914E-49D6-334B-BA21-49560D6B9C2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5D8715C-2D77-3C12-1BF5-8EECF7E3133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3E565023-2643-9444-880B-CC18F8320326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8A562FA-E99A-8345-BE00-8381C13F0269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125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37160"/>
            <a:ext cx="11588496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752" y="137160"/>
            <a:ext cx="11588496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2DD9321-67B5-97EA-D74A-29936513DF6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6E1AE40E-6E57-9F46-8640-BECC693EC6E4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8A562FA-E99A-8345-BE00-8381C13F0269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0167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5CEEC24-2CCF-4160-5F10-0C95685B76F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29CE455C-CEC4-BF4F-95AE-E20CA81A268B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8A562FA-E99A-8345-BE00-8381C13F0269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538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37160"/>
            <a:ext cx="11588496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24000"/>
            <a:ext cx="53848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848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25EDD0-B14E-76E5-8A73-1CFE5C6F1CB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0B09438C-F860-1049-B485-98C7B09DDF73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8A562FA-E99A-8345-BE00-8381C13F0269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544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B9EEBB9-4179-5137-51FD-9AD265C62EB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C5653F95-CF11-5942-8624-76C5E28EC778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8A562FA-E99A-8345-BE00-8381C13F0269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0612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37160"/>
            <a:ext cx="11588496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6488A89-F019-1176-23A4-14DBB5A43C8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21811B95-6A86-0C47-9CC5-CDF893DA023E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8A562FA-E99A-8345-BE00-8381C13F0269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4213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7E460D0-A470-77A1-2960-9DED5B817A9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1948B428-62FE-5C46-8EEE-7EBF5C8FEF9B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8A562FA-E99A-8345-BE00-8381C13F0269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6055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512559-F57E-B0A9-B605-D074394B55E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ED3F4DE4-AC77-1E47-B28A-21E7C13F3F0B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8A562FA-E99A-8345-BE00-8381C13F0269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7109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8DBF81-C257-4A3B-3625-34B97C4198F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0E8AC1C9-0EB8-8D4F-BE96-DA712314E38F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8A562FA-E99A-8345-BE00-8381C13F0269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6282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37160"/>
            <a:ext cx="11588496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" y="137160"/>
            <a:ext cx="11588496" cy="914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58412C0-99D7-1FCF-8C90-9677A32EB49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0911B484-5D7E-5D42-A111-C90E7BB76546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8A562FA-E99A-8345-BE00-8381C13F0269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925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28600"/>
            <a:ext cx="27432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80264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BA84E6-5770-2A14-C9B2-18F0C24FAF7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301752" y="137160"/>
            <a:ext cx="11588496" cy="914400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F4576014-5E6A-AB4E-A4E1-C46112F54999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8A562FA-E99A-8345-BE00-8381C13F0269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07803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8481887B-95EE-D591-E2CF-A008F6A79E5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53200"/>
            <a:ext cx="1097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900" b="1" i="0"/>
            </a:lvl1pPr>
          </a:lstStyle>
          <a:p>
            <a:r>
              <a:rPr lang="en-US" altLang="en-US"/>
              <a:t>David Luebke				         </a:t>
            </a:r>
            <a:fld id="{7246F6FC-81D6-6E4E-B035-854698868726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8A562FA-E99A-8345-BE00-8381C13F0269}" type="datetime1">
              <a:rPr lang="en-US" altLang="en-US"/>
              <a:pPr/>
              <a:t>6/11/26</a:t>
            </a:fld>
            <a:endParaRPr lang="en-US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9C3B9449-0DFE-2C40-BA43-61433D778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10972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15D5F574-9C2B-909D-1FC2-7E08FF18FF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524000"/>
            <a:ext cx="109728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6" r:id="rId1"/>
    <p:sldLayoutId id="2147484687" r:id="rId2"/>
    <p:sldLayoutId id="2147484688" r:id="rId3"/>
    <p:sldLayoutId id="2147484689" r:id="rId4"/>
    <p:sldLayoutId id="2147484690" r:id="rId5"/>
    <p:sldLayoutId id="2147484691" r:id="rId6"/>
    <p:sldLayoutId id="2147484692" r:id="rId7"/>
    <p:sldLayoutId id="2147484693" r:id="rId8"/>
    <p:sldLayoutId id="2147484694" r:id="rId9"/>
    <p:sldLayoutId id="2147484695" r:id="rId10"/>
    <p:sldLayoutId id="214748469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25000"/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o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]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lucas.cordeiro@cs.ox.ac.uk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3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237">
            <a:extLst>
              <a:ext uri="{FF2B5EF4-FFF2-40B4-BE49-F238E27FC236}">
                <a16:creationId xmlns:a16="http://schemas.microsoft.com/office/drawing/2014/main" id="{5F6A82EE-0C05-CDAE-F238-A945DE24D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017" y="2062163"/>
            <a:ext cx="10769600" cy="212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3" tIns="45713" rIns="45713" bIns="45713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i="0" kern="0" dirty="0">
                <a:solidFill>
                  <a:srgbClr val="8064A2">
                    <a:lumMod val="75000"/>
                  </a:srgbClr>
                </a:solidFill>
                <a:latin typeface="Arial"/>
                <a:ea typeface="Calibri"/>
                <a:cs typeface="Arial"/>
                <a:sym typeface="Calibri"/>
              </a:rPr>
              <a:t>Detection of Software Vulnerabilities: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i="0" kern="0" dirty="0">
                <a:solidFill>
                  <a:srgbClr val="8064A2">
                    <a:lumMod val="75000"/>
                  </a:srgbClr>
                </a:solidFill>
                <a:latin typeface="Arial"/>
                <a:ea typeface="Calibri"/>
                <a:cs typeface="Arial"/>
                <a:sym typeface="Calibri"/>
              </a:rPr>
              <a:t>Static Analysis</a:t>
            </a:r>
          </a:p>
        </p:txBody>
      </p:sp>
      <p:sp>
        <p:nvSpPr>
          <p:cNvPr id="12" name="Shape 238">
            <a:extLst>
              <a:ext uri="{FF2B5EF4-FFF2-40B4-BE49-F238E27FC236}">
                <a16:creationId xmlns:a16="http://schemas.microsoft.com/office/drawing/2014/main" id="{10DC2647-CF38-94C3-A5D1-B9D3EA3C7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433" y="5589588"/>
            <a:ext cx="11523133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4994" tIns="44994" rIns="44994" bIns="44994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 b="1">
                <a:latin typeface="Arial"/>
                <a:ea typeface="Arial"/>
                <a:cs typeface="Arial"/>
                <a:sym typeface="Arial"/>
              </a:defRPr>
            </a:pPr>
            <a:r>
              <a:rPr sz="1800" b="1" i="0" kern="0" dirty="0">
                <a:solidFill>
                  <a:sysClr val="windowText" lastClr="000000"/>
                </a:solidFill>
                <a:latin typeface="Arial"/>
                <a:ea typeface="Arial"/>
                <a:cs typeface="Arial"/>
                <a:sym typeface="Arial"/>
              </a:rPr>
              <a:t>Lucas Cordeiro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 b="1">
                <a:latin typeface="Arial"/>
                <a:ea typeface="Arial"/>
                <a:cs typeface="Arial"/>
                <a:sym typeface="Arial"/>
              </a:defRPr>
            </a:pPr>
            <a:r>
              <a:rPr lang="x-none" sz="1800" b="1" i="0" kern="0" dirty="0">
                <a:solidFill>
                  <a:sysClr val="windowText" lastClr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800" b="1" i="0" kern="0" dirty="0">
              <a:solidFill>
                <a:sysClr val="windowText" lastClr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>
                <a:solidFill>
                  <a:srgbClr val="2A78BC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800" i="0" kern="0" dirty="0">
                <a:solidFill>
                  <a:srgbClr val="2A78BC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2"/>
              </a:rPr>
              <a:t>lucas.cordeiro@</a:t>
            </a:r>
            <a:r>
              <a:rPr lang="x-none" sz="1800" i="0" kern="0" dirty="0">
                <a:solidFill>
                  <a:srgbClr val="2A78BC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2"/>
              </a:rPr>
              <a:t>manchester</a:t>
            </a:r>
            <a:r>
              <a:rPr sz="1800" i="0" kern="0" dirty="0">
                <a:solidFill>
                  <a:srgbClr val="2A78BC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2"/>
              </a:rPr>
              <a:t>.ac.uk</a:t>
            </a:r>
          </a:p>
        </p:txBody>
      </p:sp>
      <p:pic>
        <p:nvPicPr>
          <p:cNvPr id="29699" name="Picture 6">
            <a:extLst>
              <a:ext uri="{FF2B5EF4-FFF2-40B4-BE49-F238E27FC236}">
                <a16:creationId xmlns:a16="http://schemas.microsoft.com/office/drawing/2014/main" id="{5094E154-F72D-61D5-0581-3B401D9103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5731" y="228600"/>
            <a:ext cx="2338388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Shape 238">
            <a:extLst>
              <a:ext uri="{FF2B5EF4-FFF2-40B4-BE49-F238E27FC236}">
                <a16:creationId xmlns:a16="http://schemas.microsoft.com/office/drawing/2014/main" id="{39435039-9412-7154-618E-72362DC69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766" y="354013"/>
            <a:ext cx="6034617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4994" tIns="44994" rIns="44994" bIns="44994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kern="0" dirty="0">
                <a:solidFill>
                  <a:sysClr val="windowText" lastClr="000000"/>
                </a:solidFill>
                <a:latin typeface="Arial"/>
                <a:ea typeface="Arial"/>
                <a:cs typeface="Arial"/>
                <a:sym typeface="Arial"/>
              </a:rPr>
              <a:t>Systems and Software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kern="0" dirty="0">
                <a:solidFill>
                  <a:sysClr val="windowText" lastClr="000000"/>
                </a:solidFill>
                <a:latin typeface="Arial"/>
                <a:ea typeface="Arial"/>
                <a:cs typeface="Arial"/>
                <a:sym typeface="Arial"/>
              </a:rPr>
              <a:t>Verification Laboratory</a:t>
            </a:r>
            <a:endParaRPr sz="1800" b="1" i="0" kern="0" dirty="0">
              <a:solidFill>
                <a:sysClr val="windowText" lastClr="000000"/>
              </a:solidFill>
              <a:latin typeface="Arial"/>
              <a:ea typeface="Arial"/>
              <a:cs typeface="Arial"/>
              <a:sym typeface="Arial"/>
              <a:hlinkClick r:id="rId2"/>
            </a:endParaRPr>
          </a:p>
        </p:txBody>
      </p:sp>
      <p:pic>
        <p:nvPicPr>
          <p:cNvPr id="29701" name="Picture 14">
            <a:extLst>
              <a:ext uri="{FF2B5EF4-FFF2-40B4-BE49-F238E27FC236}">
                <a16:creationId xmlns:a16="http://schemas.microsoft.com/office/drawing/2014/main" id="{AB7A252D-03FA-5319-A8B0-95600FEC52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228600"/>
            <a:ext cx="990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B6CC9D9B-2055-B383-C668-04A914331B3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119063"/>
            <a:ext cx="11785600" cy="719137"/>
          </a:xfrm>
        </p:spPr>
        <p:txBody>
          <a:bodyPr/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cs typeface="Arial" charset="0"/>
              </a:rPr>
              <a:t>Encoding of Memory Allocation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C1EF554-0670-851A-B9DA-CD4400C6D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84" y="925513"/>
            <a:ext cx="11684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1254125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1254125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1254125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1254125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1254125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254125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254125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254125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254125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400"/>
              </a:spcBef>
              <a:spcAft>
                <a:spcPts val="400"/>
              </a:spcAft>
              <a:buFontTx/>
              <a:buChar char="•"/>
            </a:pPr>
            <a:r>
              <a:rPr lang="en-GB" altLang="en-US" sz="2400" i="0">
                <a:cs typeface="Arial" panose="020B0604020202020204" pitchFamily="34" charset="0"/>
              </a:rPr>
              <a:t>model memory just as an array of bytes (array theories)</a:t>
            </a:r>
          </a:p>
          <a:p>
            <a:pPr lvl="1">
              <a:spcBef>
                <a:spcPts val="400"/>
              </a:spcBef>
              <a:spcAft>
                <a:spcPts val="400"/>
              </a:spcAft>
              <a:buFontTx/>
              <a:buChar char="–"/>
            </a:pPr>
            <a:r>
              <a:rPr lang="en-GB" altLang="en-US" sz="2200" i="0">
                <a:cs typeface="Arial" panose="020B0604020202020204" pitchFamily="34" charset="0"/>
              </a:rPr>
              <a:t>read and write operations to the memory array on the logic level</a:t>
            </a:r>
          </a:p>
          <a:p>
            <a:pPr>
              <a:spcBef>
                <a:spcPts val="400"/>
              </a:spcBef>
              <a:spcAft>
                <a:spcPts val="400"/>
              </a:spcAft>
              <a:buFontTx/>
              <a:buChar char="•"/>
            </a:pPr>
            <a:r>
              <a:rPr lang="en-GB" altLang="en-US" sz="2400" i="0">
                <a:cs typeface="Arial" panose="020B0604020202020204" pitchFamily="34" charset="0"/>
              </a:rPr>
              <a:t>each dynamic object </a:t>
            </a:r>
            <a:r>
              <a:rPr lang="en-GB" altLang="en-US" sz="2400" i="0"/>
              <a:t>d</a:t>
            </a:r>
            <a:r>
              <a:rPr lang="en-GB" altLang="en-US" sz="2400" i="0" baseline="-25000"/>
              <a:t>o </a:t>
            </a:r>
            <a:r>
              <a:rPr lang="en-GB" altLang="en-US" sz="2400" i="0">
                <a:cs typeface="Arial" panose="020B0604020202020204" pitchFamily="34" charset="0"/>
              </a:rPr>
              <a:t>consists of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Tx/>
              <a:buChar char="–"/>
            </a:pPr>
            <a:r>
              <a:rPr lang="en-GB" altLang="en-US" sz="2200" i="0">
                <a:cs typeface="Arial" panose="020B0604020202020204" pitchFamily="34" charset="0"/>
              </a:rPr>
              <a:t>m </a:t>
            </a:r>
            <a:r>
              <a:rPr lang="en-GB" altLang="en-US" sz="2200" i="0">
                <a:latin typeface="Arial Unicode MS" panose="020B0604020202020204" pitchFamily="34" charset="-128"/>
              </a:rPr>
              <a:t>≙ </a:t>
            </a:r>
            <a:r>
              <a:rPr lang="en-GB" altLang="en-US" sz="2200" i="0"/>
              <a:t>memory array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Tx/>
              <a:buChar char="–"/>
            </a:pPr>
            <a:r>
              <a:rPr lang="en-GB" altLang="en-US" sz="2200" i="0"/>
              <a:t>s  </a:t>
            </a:r>
            <a:r>
              <a:rPr lang="en-GB" altLang="en-US" sz="2200" i="0">
                <a:latin typeface="Arial Unicode MS" panose="020B0604020202020204" pitchFamily="34" charset="-128"/>
              </a:rPr>
              <a:t>≙ </a:t>
            </a:r>
            <a:r>
              <a:rPr lang="en-GB" altLang="en-US" sz="2200" i="0"/>
              <a:t>size in bytes of m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Tx/>
              <a:buChar char="–"/>
            </a:pPr>
            <a:r>
              <a:rPr lang="en-GB" altLang="en-US" sz="2200" i="0">
                <a:sym typeface="Symbol" pitchFamily="2" charset="2"/>
              </a:rPr>
              <a:t>  </a:t>
            </a:r>
            <a:r>
              <a:rPr lang="en-GB" altLang="en-US" sz="2200" i="0">
                <a:latin typeface="Arial Unicode MS" panose="020B0604020202020204" pitchFamily="34" charset="-128"/>
              </a:rPr>
              <a:t>≙ unique identifier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Tx/>
              <a:buChar char="–"/>
            </a:pPr>
            <a:r>
              <a:rPr lang="en-GB" altLang="en-US" sz="2200" i="0">
                <a:latin typeface="Arial Unicode MS" panose="020B0604020202020204" pitchFamily="34" charset="-128"/>
                <a:sym typeface="Symbol" pitchFamily="2" charset="2"/>
              </a:rPr>
              <a:t>  </a:t>
            </a:r>
            <a:r>
              <a:rPr lang="en-GB" altLang="en-US" sz="2200" i="0">
                <a:latin typeface="Arial Unicode MS" panose="020B0604020202020204" pitchFamily="34" charset="-128"/>
              </a:rPr>
              <a:t>≙ indicate whether the object is still alive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Tx/>
              <a:buChar char="–"/>
            </a:pPr>
            <a:r>
              <a:rPr lang="en-GB" altLang="en-US" sz="2200" i="0">
                <a:latin typeface="Arial Unicode MS" panose="020B0604020202020204" pitchFamily="34" charset="-128"/>
              </a:rPr>
              <a:t>l   ≙ the location in the execution where m is allocated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GB" altLang="en-US" sz="2400" i="0"/>
              <a:t>to detect invalid reads/writes, we check whether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Tx/>
              <a:buChar char="–"/>
            </a:pPr>
            <a:r>
              <a:rPr lang="en-GB" altLang="en-US" sz="2200" i="0"/>
              <a:t>d</a:t>
            </a:r>
            <a:r>
              <a:rPr lang="en-GB" altLang="en-US" sz="2200" i="0" baseline="-25000"/>
              <a:t>o</a:t>
            </a:r>
            <a:r>
              <a:rPr lang="en-GB" altLang="en-US" sz="2200" i="0"/>
              <a:t> is a dynamic object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Tx/>
              <a:buChar char="–"/>
            </a:pPr>
            <a:r>
              <a:rPr lang="en-GB" altLang="en-US" sz="2200" i="0"/>
              <a:t>i is within the bounds of the memory array</a:t>
            </a: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A17E9254-6710-43D6-66F3-DB76CC3BA4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6400" y="5803900"/>
          <a:ext cx="59944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690000" imgH="9944100" progId="Equation.3">
                  <p:embed/>
                </p:oleObj>
              </mc:Choice>
              <mc:Fallback>
                <p:oleObj name="Equation" r:id="rId2" imgW="59690000" imgH="99441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803900"/>
                        <a:ext cx="449580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7470A26E-D33D-FC30-8B66-02826A2997A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119063"/>
            <a:ext cx="11785600" cy="719137"/>
          </a:xfrm>
        </p:spPr>
        <p:txBody>
          <a:bodyPr/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cs typeface="Arial" charset="0"/>
              </a:rPr>
              <a:t>Encoding of Memory Allocation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B779D6E9-E957-1618-643C-B7859C3B1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584" y="1012825"/>
            <a:ext cx="11684000" cy="417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1254125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tabLst>
                <a:tab pos="1254125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1254125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1254125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1254125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254125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254125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254125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254125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sz="2400" i="0"/>
              <a:t>to check for invalid objects, we</a:t>
            </a:r>
          </a:p>
          <a:p>
            <a:pPr lvl="1">
              <a:spcBef>
                <a:spcPts val="500"/>
              </a:spcBef>
              <a:spcAft>
                <a:spcPts val="500"/>
              </a:spcAft>
              <a:buFontTx/>
              <a:buChar char="–"/>
            </a:pPr>
            <a:r>
              <a:rPr lang="en-GB" altLang="en-US" sz="2200" i="0"/>
              <a:t>set </a:t>
            </a:r>
            <a:r>
              <a:rPr lang="en-GB" altLang="en-US" sz="2200" i="0">
                <a:latin typeface="Arial Unicode MS" panose="020B0604020202020204" pitchFamily="34" charset="-128"/>
                <a:sym typeface="Symbol" pitchFamily="2" charset="2"/>
              </a:rPr>
              <a:t> to </a:t>
            </a:r>
            <a:r>
              <a:rPr lang="en-GB" altLang="en-US" sz="2200">
                <a:latin typeface="Arial Unicode MS" panose="020B0604020202020204" pitchFamily="34" charset="-128"/>
                <a:sym typeface="Symbol" pitchFamily="2" charset="2"/>
              </a:rPr>
              <a:t>true</a:t>
            </a:r>
            <a:r>
              <a:rPr lang="en-GB" altLang="en-US" sz="2200" i="0">
                <a:latin typeface="Arial Unicode MS" panose="020B0604020202020204" pitchFamily="34" charset="-128"/>
                <a:sym typeface="Symbol" pitchFamily="2" charset="2"/>
              </a:rPr>
              <a:t> when the function </a:t>
            </a:r>
            <a:r>
              <a:rPr lang="en-GB" altLang="en-US" sz="2200" i="0">
                <a:latin typeface="Courier" panose="02070309020205020404" pitchFamily="49" charset="0"/>
                <a:sym typeface="Symbol" pitchFamily="2" charset="2"/>
              </a:rPr>
              <a:t>malloc</a:t>
            </a:r>
            <a:r>
              <a:rPr lang="en-GB" altLang="en-US" sz="2200" i="0">
                <a:latin typeface="Arial Unicode MS" panose="020B0604020202020204" pitchFamily="34" charset="-128"/>
                <a:sym typeface="Symbol" pitchFamily="2" charset="2"/>
              </a:rPr>
              <a:t> is called (d</a:t>
            </a:r>
            <a:r>
              <a:rPr lang="en-GB" altLang="en-US" sz="2200" i="0" baseline="-25000">
                <a:latin typeface="Arial Unicode MS" panose="020B0604020202020204" pitchFamily="34" charset="-128"/>
                <a:sym typeface="Symbol" pitchFamily="2" charset="2"/>
              </a:rPr>
              <a:t>o</a:t>
            </a:r>
            <a:r>
              <a:rPr lang="en-GB" altLang="en-US" sz="2200" i="0">
                <a:latin typeface="Arial Unicode MS" panose="020B0604020202020204" pitchFamily="34" charset="-128"/>
                <a:sym typeface="Symbol" pitchFamily="2" charset="2"/>
              </a:rPr>
              <a:t> is alive)</a:t>
            </a:r>
            <a:endParaRPr lang="en-GB" altLang="en-US" sz="2200" i="0"/>
          </a:p>
          <a:p>
            <a:pPr lvl="1">
              <a:spcBef>
                <a:spcPts val="500"/>
              </a:spcBef>
              <a:spcAft>
                <a:spcPts val="500"/>
              </a:spcAft>
              <a:buFontTx/>
              <a:buChar char="–"/>
            </a:pPr>
            <a:r>
              <a:rPr lang="en-GB" altLang="en-US" sz="2200" i="0"/>
              <a:t>set </a:t>
            </a:r>
            <a:r>
              <a:rPr lang="en-GB" altLang="en-US" sz="2200" i="0">
                <a:latin typeface="Arial Unicode MS" panose="020B0604020202020204" pitchFamily="34" charset="-128"/>
                <a:sym typeface="Symbol" pitchFamily="2" charset="2"/>
              </a:rPr>
              <a:t> to </a:t>
            </a:r>
            <a:r>
              <a:rPr lang="en-GB" altLang="en-US" sz="2200">
                <a:latin typeface="Arial Unicode MS" panose="020B0604020202020204" pitchFamily="34" charset="-128"/>
                <a:sym typeface="Symbol" pitchFamily="2" charset="2"/>
              </a:rPr>
              <a:t>false</a:t>
            </a:r>
            <a:r>
              <a:rPr lang="en-GB" altLang="en-US" sz="2200" i="0">
                <a:latin typeface="Arial Unicode MS" panose="020B0604020202020204" pitchFamily="34" charset="-128"/>
                <a:sym typeface="Symbol" pitchFamily="2" charset="2"/>
              </a:rPr>
              <a:t> when the function </a:t>
            </a:r>
            <a:r>
              <a:rPr lang="en-GB" altLang="en-US" sz="2200" i="0">
                <a:latin typeface="Courier" panose="02070309020205020404" pitchFamily="49" charset="0"/>
                <a:sym typeface="Symbol" pitchFamily="2" charset="2"/>
              </a:rPr>
              <a:t>free</a:t>
            </a:r>
            <a:r>
              <a:rPr lang="en-GB" altLang="en-US" sz="2200" i="0">
                <a:latin typeface="Arial Unicode MS" panose="020B0604020202020204" pitchFamily="34" charset="-128"/>
                <a:sym typeface="Symbol" pitchFamily="2" charset="2"/>
              </a:rPr>
              <a:t> is called (d</a:t>
            </a:r>
            <a:r>
              <a:rPr lang="en-GB" altLang="en-US" sz="2200" i="0" baseline="-25000">
                <a:latin typeface="Arial Unicode MS" panose="020B0604020202020204" pitchFamily="34" charset="-128"/>
                <a:sym typeface="Symbol" pitchFamily="2" charset="2"/>
              </a:rPr>
              <a:t>o </a:t>
            </a:r>
            <a:r>
              <a:rPr lang="en-GB" altLang="en-US" sz="2200" i="0">
                <a:latin typeface="Arial Unicode MS" panose="020B0604020202020204" pitchFamily="34" charset="-128"/>
                <a:sym typeface="Symbol" pitchFamily="2" charset="2"/>
              </a:rPr>
              <a:t>is not longer alive)</a:t>
            </a:r>
          </a:p>
          <a:p>
            <a:pPr lvl="1">
              <a:spcBef>
                <a:spcPts val="500"/>
              </a:spcBef>
              <a:spcAft>
                <a:spcPts val="500"/>
              </a:spcAft>
              <a:buFontTx/>
              <a:buChar char="–"/>
            </a:pPr>
            <a:endParaRPr lang="en-GB" altLang="en-US" sz="2200" i="0">
              <a:latin typeface="Arial Unicode MS" panose="020B0604020202020204" pitchFamily="34" charset="-128"/>
              <a:sym typeface="Symbol" pitchFamily="2" charset="2"/>
            </a:endParaRPr>
          </a:p>
          <a:p>
            <a:pPr lvl="1">
              <a:spcBef>
                <a:spcPts val="500"/>
              </a:spcBef>
              <a:spcAft>
                <a:spcPts val="500"/>
              </a:spcAft>
              <a:buFontTx/>
              <a:buChar char="–"/>
            </a:pPr>
            <a:endParaRPr lang="en-GB" altLang="en-US" sz="2200" i="0">
              <a:latin typeface="Arial Unicode MS" panose="020B0604020202020204" pitchFamily="34" charset="-128"/>
              <a:sym typeface="Symbol" pitchFamily="2" charset="2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FontTx/>
              <a:buChar char="•"/>
            </a:pPr>
            <a:r>
              <a:rPr lang="en-GB" altLang="en-US" sz="2400" i="0">
                <a:latin typeface="Arial Unicode MS" panose="020B0604020202020204" pitchFamily="34" charset="-128"/>
                <a:sym typeface="Symbol" pitchFamily="2" charset="2"/>
              </a:rPr>
              <a:t>to detect forgotten memory, at the end of the (unrolled) program we check</a:t>
            </a:r>
          </a:p>
          <a:p>
            <a:pPr lvl="1">
              <a:spcBef>
                <a:spcPts val="500"/>
              </a:spcBef>
              <a:spcAft>
                <a:spcPts val="500"/>
              </a:spcAft>
              <a:buFontTx/>
              <a:buChar char="–"/>
            </a:pPr>
            <a:r>
              <a:rPr lang="en-GB" altLang="en-US" sz="2200" i="0">
                <a:latin typeface="Arial Unicode MS" panose="020B0604020202020204" pitchFamily="34" charset="-128"/>
                <a:sym typeface="Symbol" pitchFamily="2" charset="2"/>
              </a:rPr>
              <a:t>whether the d</a:t>
            </a:r>
            <a:r>
              <a:rPr lang="en-GB" altLang="en-US" sz="2200" i="0" baseline="-25000">
                <a:latin typeface="Arial Unicode MS" panose="020B0604020202020204" pitchFamily="34" charset="-128"/>
                <a:sym typeface="Symbol" pitchFamily="2" charset="2"/>
              </a:rPr>
              <a:t>o</a:t>
            </a:r>
            <a:r>
              <a:rPr lang="en-GB" altLang="en-US" sz="2200" i="0">
                <a:latin typeface="Arial Unicode MS" panose="020B0604020202020204" pitchFamily="34" charset="-128"/>
                <a:sym typeface="Symbol" pitchFamily="2" charset="2"/>
              </a:rPr>
              <a:t> has been deallocated by the function free</a:t>
            </a:r>
          </a:p>
          <a:p>
            <a:pPr lvl="1">
              <a:spcBef>
                <a:spcPts val="500"/>
              </a:spcBef>
              <a:spcAft>
                <a:spcPts val="500"/>
              </a:spcAft>
              <a:buFontTx/>
              <a:buChar char="–"/>
            </a:pPr>
            <a:endParaRPr lang="en-GB" altLang="en-US" sz="2200" i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47DD3E-1C12-EC80-6027-8D60434FC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0" y="5360988"/>
            <a:ext cx="7122584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kern="0">
                <a:solidFill>
                  <a:srgbClr val="000000"/>
                </a:solidFill>
              </a:rPr>
              <a:t>l</a:t>
            </a:r>
            <a:r>
              <a:rPr lang="en-GB" sz="2200" kern="0" baseline="-25000">
                <a:solidFill>
                  <a:srgbClr val="000000"/>
                </a:solidFill>
              </a:rPr>
              <a:t>deallocated_object</a:t>
            </a:r>
            <a:r>
              <a:rPr lang="en-GB" sz="2200" kern="0">
                <a:solidFill>
                  <a:srgbClr val="000000"/>
                </a:solidFill>
              </a:rPr>
              <a:t> </a:t>
            </a:r>
            <a:r>
              <a:rPr lang="en-GB" sz="2200" kern="0">
                <a:solidFill>
                  <a:srgbClr val="000000"/>
                </a:solidFill>
                <a:sym typeface="Symbol" charset="0"/>
              </a:rPr>
              <a:t>  (</a:t>
            </a:r>
            <a:r>
              <a:rPr lang="en-GB" sz="2200" kern="0">
                <a:solidFill>
                  <a:srgbClr val="000000"/>
                </a:solidFill>
              </a:rPr>
              <a:t>l</a:t>
            </a:r>
            <a:r>
              <a:rPr lang="en-GB" sz="2200" kern="0" baseline="-25000">
                <a:solidFill>
                  <a:srgbClr val="000000"/>
                </a:solidFill>
              </a:rPr>
              <a:t>is_dynamic_object </a:t>
            </a:r>
            <a:r>
              <a:rPr lang="en-GB" sz="2200" kern="0">
                <a:solidFill>
                  <a:srgbClr val="000000"/>
                </a:solidFill>
                <a:sym typeface="Symbol" charset="0"/>
              </a:rPr>
              <a:t>  d</a:t>
            </a:r>
            <a:r>
              <a:rPr lang="en-GB" sz="2200" kern="0" baseline="-25000">
                <a:solidFill>
                  <a:srgbClr val="000000"/>
                </a:solidFill>
                <a:sym typeface="Symbol" charset="0"/>
              </a:rPr>
              <a:t>o</a:t>
            </a:r>
            <a:r>
              <a:rPr lang="en-GB" sz="2200" kern="0">
                <a:solidFill>
                  <a:srgbClr val="000000"/>
                </a:solidFill>
                <a:sym typeface="Symbol" charset="0"/>
              </a:rPr>
              <a:t>.)</a:t>
            </a:r>
            <a:endParaRPr lang="en-GB" sz="2200" kern="0">
              <a:solidFill>
                <a:srgbClr val="000000"/>
              </a:solidFill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0FCDD782-6DC3-8A22-D2F5-B9F1A7379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5733" y="2922588"/>
            <a:ext cx="5971117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200" kern="0">
                <a:solidFill>
                  <a:srgbClr val="000000"/>
                </a:solidFill>
              </a:rPr>
              <a:t>l</a:t>
            </a:r>
            <a:r>
              <a:rPr lang="en-GB" sz="2200" kern="0" baseline="-25000">
                <a:solidFill>
                  <a:srgbClr val="000000"/>
                </a:solidFill>
              </a:rPr>
              <a:t>valid_object</a:t>
            </a:r>
            <a:r>
              <a:rPr lang="en-GB" sz="2200" kern="0">
                <a:solidFill>
                  <a:srgbClr val="000000"/>
                </a:solidFill>
              </a:rPr>
              <a:t> </a:t>
            </a:r>
            <a:r>
              <a:rPr lang="en-GB" sz="2200" kern="0">
                <a:solidFill>
                  <a:srgbClr val="000000"/>
                </a:solidFill>
                <a:sym typeface="Symbol" charset="0"/>
              </a:rPr>
              <a:t>  (</a:t>
            </a:r>
            <a:r>
              <a:rPr lang="en-GB" sz="2200" kern="0">
                <a:solidFill>
                  <a:srgbClr val="000000"/>
                </a:solidFill>
              </a:rPr>
              <a:t>l</a:t>
            </a:r>
            <a:r>
              <a:rPr lang="en-GB" sz="2200" kern="0" baseline="-25000">
                <a:solidFill>
                  <a:srgbClr val="000000"/>
                </a:solidFill>
              </a:rPr>
              <a:t>is_dynamic_object </a:t>
            </a:r>
            <a:r>
              <a:rPr lang="en-GB" sz="2200" kern="0">
                <a:solidFill>
                  <a:srgbClr val="000000"/>
                </a:solidFill>
                <a:sym typeface="Symbol" charset="0"/>
              </a:rPr>
              <a:t> d</a:t>
            </a:r>
            <a:r>
              <a:rPr lang="en-GB" sz="2200" kern="0" baseline="-25000">
                <a:solidFill>
                  <a:srgbClr val="000000"/>
                </a:solidFill>
                <a:sym typeface="Symbol" charset="0"/>
              </a:rPr>
              <a:t>o</a:t>
            </a:r>
            <a:r>
              <a:rPr lang="en-GB" sz="2200" kern="0">
                <a:solidFill>
                  <a:srgbClr val="000000"/>
                </a:solidFill>
                <a:sym typeface="Symbol" charset="0"/>
              </a:rPr>
              <a:t>.)</a:t>
            </a:r>
            <a:endParaRPr lang="en-GB" sz="2200" ker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">
            <a:extLst>
              <a:ext uri="{FF2B5EF4-FFF2-40B4-BE49-F238E27FC236}">
                <a16:creationId xmlns:a16="http://schemas.microsoft.com/office/drawing/2014/main" id="{1F3A672C-C6AE-467B-2A89-92BB27C72A2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119063"/>
            <a:ext cx="11785600" cy="719137"/>
          </a:xfrm>
        </p:spPr>
        <p:txBody>
          <a:bodyPr/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cs typeface="Arial" charset="0"/>
              </a:rPr>
              <a:t>Example of Memory Allocation</a:t>
            </a:r>
          </a:p>
        </p:txBody>
      </p:sp>
      <p:sp>
        <p:nvSpPr>
          <p:cNvPr id="194562" name="Text Box 4">
            <a:extLst>
              <a:ext uri="{FF2B5EF4-FFF2-40B4-BE49-F238E27FC236}">
                <a16:creationId xmlns:a16="http://schemas.microsoft.com/office/drawing/2014/main" id="{6DC9A14A-BCE1-4812-0331-1D7EDA226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517" y="1155700"/>
            <a:ext cx="5380566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GB" altLang="en-US" b="1">
                <a:latin typeface="Verdana" panose="020B0604030504040204" pitchFamily="34" charset="0"/>
                <a:cs typeface="Arial" panose="020B0604020202020204" pitchFamily="34" charset="0"/>
              </a:rPr>
              <a:t>#include &lt;stdlib.h&gt;</a:t>
            </a:r>
          </a:p>
          <a:p>
            <a:pPr eaLnBrk="1" hangingPunct="1">
              <a:lnSpc>
                <a:spcPct val="110000"/>
              </a:lnSpc>
            </a:pPr>
            <a:r>
              <a:rPr lang="en-GB" altLang="en-US" b="1">
                <a:latin typeface="Verdana" panose="020B0604030504040204" pitchFamily="34" charset="0"/>
                <a:cs typeface="Arial" panose="020B0604020202020204" pitchFamily="34" charset="0"/>
              </a:rPr>
              <a:t>void</a:t>
            </a:r>
            <a:r>
              <a:rPr lang="en-GB" altLang="en-US">
                <a:latin typeface="Verdana" panose="020B0604030504040204" pitchFamily="34" charset="0"/>
                <a:cs typeface="Arial" panose="020B0604020202020204" pitchFamily="34" charset="0"/>
              </a:rPr>
              <a:t> main() {</a:t>
            </a:r>
          </a:p>
          <a:p>
            <a:pPr eaLnBrk="1" hangingPunct="1">
              <a:lnSpc>
                <a:spcPct val="110000"/>
              </a:lnSpc>
            </a:pPr>
            <a:r>
              <a:rPr lang="en-GB" altLang="en-US">
                <a:latin typeface="Verdana" panose="020B0604030504040204" pitchFamily="34" charset="0"/>
                <a:cs typeface="Arial" panose="020B0604020202020204" pitchFamily="34" charset="0"/>
              </a:rPr>
              <a:t>  </a:t>
            </a:r>
            <a:r>
              <a:rPr lang="en-GB" altLang="en-US" b="1">
                <a:latin typeface="Verdana" panose="020B0604030504040204" pitchFamily="34" charset="0"/>
                <a:cs typeface="Arial" panose="020B0604020202020204" pitchFamily="34" charset="0"/>
              </a:rPr>
              <a:t>char</a:t>
            </a:r>
            <a:r>
              <a:rPr lang="en-GB" altLang="en-US">
                <a:latin typeface="Verdana" panose="020B0604030504040204" pitchFamily="34" charset="0"/>
                <a:cs typeface="Arial" panose="020B0604020202020204" pitchFamily="34" charset="0"/>
              </a:rPr>
              <a:t> *p = </a:t>
            </a:r>
            <a:r>
              <a:rPr lang="en-GB" altLang="en-US" b="1">
                <a:latin typeface="Verdana" panose="020B0604030504040204" pitchFamily="34" charset="0"/>
                <a:cs typeface="Arial" panose="020B0604020202020204" pitchFamily="34" charset="0"/>
              </a:rPr>
              <a:t>malloc</a:t>
            </a:r>
            <a:r>
              <a:rPr lang="en-GB" altLang="en-US">
                <a:latin typeface="Verdana" panose="020B0604030504040204" pitchFamily="34" charset="0"/>
                <a:cs typeface="Arial" panose="020B0604020202020204" pitchFamily="34" charset="0"/>
              </a:rPr>
              <a:t>(5);  </a:t>
            </a:r>
            <a:r>
              <a:rPr lang="en-GB" altLang="en-US">
                <a:solidFill>
                  <a:srgbClr val="00B050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// </a:t>
            </a:r>
            <a:r>
              <a:rPr lang="en-GB" altLang="en-US">
                <a:solidFill>
                  <a:srgbClr val="00B050"/>
                </a:solidFill>
                <a:latin typeface="Verdana" panose="020B0604030504040204" pitchFamily="34" charset="0"/>
                <a:cs typeface="Arial" panose="020B0604020202020204" pitchFamily="34" charset="0"/>
                <a:sym typeface="Symbol" pitchFamily="2" charset="2"/>
              </a:rPr>
              <a:t> = 1</a:t>
            </a:r>
            <a:endParaRPr lang="en-GB" altLang="en-US">
              <a:solidFill>
                <a:srgbClr val="00B050"/>
              </a:solidFill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GB" altLang="en-US">
                <a:latin typeface="Verdana" panose="020B0604030504040204" pitchFamily="34" charset="0"/>
                <a:cs typeface="Arial" panose="020B0604020202020204" pitchFamily="34" charset="0"/>
              </a:rPr>
              <a:t>  </a:t>
            </a:r>
            <a:r>
              <a:rPr lang="en-GB" altLang="en-US" b="1">
                <a:latin typeface="Verdana" panose="020B0604030504040204" pitchFamily="34" charset="0"/>
                <a:cs typeface="Arial" panose="020B0604020202020204" pitchFamily="34" charset="0"/>
              </a:rPr>
              <a:t>char</a:t>
            </a:r>
            <a:r>
              <a:rPr lang="en-GB" altLang="en-US">
                <a:latin typeface="Verdana" panose="020B0604030504040204" pitchFamily="34" charset="0"/>
                <a:cs typeface="Arial" panose="020B0604020202020204" pitchFamily="34" charset="0"/>
              </a:rPr>
              <a:t> *q = </a:t>
            </a:r>
            <a:r>
              <a:rPr lang="en-GB" altLang="en-US" b="1">
                <a:latin typeface="Verdana" panose="020B0604030504040204" pitchFamily="34" charset="0"/>
                <a:cs typeface="Arial" panose="020B0604020202020204" pitchFamily="34" charset="0"/>
              </a:rPr>
              <a:t>malloc</a:t>
            </a:r>
            <a:r>
              <a:rPr lang="en-GB" altLang="en-US">
                <a:latin typeface="Verdana" panose="020B0604030504040204" pitchFamily="34" charset="0"/>
                <a:cs typeface="Arial" panose="020B0604020202020204" pitchFamily="34" charset="0"/>
              </a:rPr>
              <a:t>(5);  </a:t>
            </a:r>
            <a:r>
              <a:rPr lang="en-GB" altLang="en-US">
                <a:solidFill>
                  <a:srgbClr val="00B050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// </a:t>
            </a:r>
            <a:r>
              <a:rPr lang="en-GB" altLang="en-US">
                <a:solidFill>
                  <a:srgbClr val="00B050"/>
                </a:solidFill>
                <a:latin typeface="Verdana" panose="020B0604030504040204" pitchFamily="34" charset="0"/>
                <a:cs typeface="Arial" panose="020B0604020202020204" pitchFamily="34" charset="0"/>
                <a:sym typeface="Symbol" pitchFamily="2" charset="2"/>
              </a:rPr>
              <a:t> = 2</a:t>
            </a:r>
            <a:endParaRPr lang="en-GB" altLang="en-US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GB" altLang="en-US">
                <a:latin typeface="Verdana" panose="020B0604030504040204" pitchFamily="34" charset="0"/>
                <a:cs typeface="Arial" panose="020B0604020202020204" pitchFamily="34" charset="0"/>
              </a:rPr>
              <a:t>  p=q;</a:t>
            </a:r>
          </a:p>
          <a:p>
            <a:pPr eaLnBrk="1" hangingPunct="1">
              <a:lnSpc>
                <a:spcPct val="110000"/>
              </a:lnSpc>
            </a:pPr>
            <a:r>
              <a:rPr lang="en-GB" altLang="en-US">
                <a:latin typeface="Verdana" panose="020B0604030504040204" pitchFamily="34" charset="0"/>
                <a:cs typeface="Arial" panose="020B0604020202020204" pitchFamily="34" charset="0"/>
              </a:rPr>
              <a:t>  </a:t>
            </a:r>
            <a:r>
              <a:rPr lang="en-GB" altLang="en-US" b="1">
                <a:latin typeface="Verdana" panose="020B0604030504040204" pitchFamily="34" charset="0"/>
                <a:cs typeface="Arial" panose="020B0604020202020204" pitchFamily="34" charset="0"/>
              </a:rPr>
              <a:t>free</a:t>
            </a:r>
            <a:r>
              <a:rPr lang="en-GB" altLang="en-US">
                <a:latin typeface="Verdana" panose="020B0604030504040204" pitchFamily="34" charset="0"/>
                <a:cs typeface="Arial" panose="020B0604020202020204" pitchFamily="34" charset="0"/>
              </a:rPr>
              <a:t>(p)</a:t>
            </a:r>
          </a:p>
          <a:p>
            <a:pPr eaLnBrk="1" hangingPunct="1">
              <a:lnSpc>
                <a:spcPct val="110000"/>
              </a:lnSpc>
            </a:pPr>
            <a:r>
              <a:rPr lang="en-GB" altLang="en-US">
                <a:latin typeface="Verdana" panose="020B0604030504040204" pitchFamily="34" charset="0"/>
                <a:cs typeface="Arial" panose="020B0604020202020204" pitchFamily="34" charset="0"/>
              </a:rPr>
              <a:t>  p = </a:t>
            </a:r>
            <a:r>
              <a:rPr lang="en-GB" altLang="en-US" b="1">
                <a:latin typeface="Verdana" panose="020B0604030504040204" pitchFamily="34" charset="0"/>
                <a:cs typeface="Arial" panose="020B0604020202020204" pitchFamily="34" charset="0"/>
              </a:rPr>
              <a:t>malloc</a:t>
            </a:r>
            <a:r>
              <a:rPr lang="en-GB" altLang="en-US">
                <a:latin typeface="Verdana" panose="020B0604030504040204" pitchFamily="34" charset="0"/>
                <a:cs typeface="Arial" panose="020B0604020202020204" pitchFamily="34" charset="0"/>
              </a:rPr>
              <a:t>(5);           </a:t>
            </a:r>
            <a:r>
              <a:rPr lang="en-GB" altLang="en-US">
                <a:solidFill>
                  <a:srgbClr val="00B050"/>
                </a:solidFill>
                <a:latin typeface="Verdana" panose="020B0604030504040204" pitchFamily="34" charset="0"/>
                <a:cs typeface="Arial" panose="020B0604020202020204" pitchFamily="34" charset="0"/>
              </a:rPr>
              <a:t>// </a:t>
            </a:r>
            <a:r>
              <a:rPr lang="en-GB" altLang="en-US">
                <a:solidFill>
                  <a:srgbClr val="00B050"/>
                </a:solidFill>
                <a:latin typeface="Verdana" panose="020B0604030504040204" pitchFamily="34" charset="0"/>
                <a:cs typeface="Arial" panose="020B0604020202020204" pitchFamily="34" charset="0"/>
                <a:sym typeface="Symbol" pitchFamily="2" charset="2"/>
              </a:rPr>
              <a:t> = 3</a:t>
            </a:r>
            <a:endParaRPr lang="en-GB" altLang="en-US">
              <a:latin typeface="Verdana" panose="020B060403050404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GB" altLang="en-US">
                <a:latin typeface="Verdana" panose="020B0604030504040204" pitchFamily="34" charset="0"/>
                <a:cs typeface="Arial" panose="020B0604020202020204" pitchFamily="34" charset="0"/>
              </a:rPr>
              <a:t>  </a:t>
            </a:r>
            <a:r>
              <a:rPr lang="en-GB" altLang="en-US" b="1">
                <a:latin typeface="Verdana" panose="020B0604030504040204" pitchFamily="34" charset="0"/>
                <a:cs typeface="Arial" panose="020B0604020202020204" pitchFamily="34" charset="0"/>
              </a:rPr>
              <a:t>free</a:t>
            </a:r>
            <a:r>
              <a:rPr lang="en-GB" altLang="en-US">
                <a:latin typeface="Verdana" panose="020B0604030504040204" pitchFamily="34" charset="0"/>
                <a:cs typeface="Arial" panose="020B0604020202020204" pitchFamily="34" charset="0"/>
              </a:rPr>
              <a:t>(p)</a:t>
            </a:r>
          </a:p>
          <a:p>
            <a:pPr eaLnBrk="1" hangingPunct="1">
              <a:lnSpc>
                <a:spcPct val="110000"/>
              </a:lnSpc>
            </a:pPr>
            <a:r>
              <a:rPr lang="en-GB" altLang="en-US">
                <a:latin typeface="Verdana" panose="020B0604030504040204" pitchFamily="34" charset="0"/>
                <a:cs typeface="Arial" panose="020B0604020202020204" pitchFamily="34" charset="0"/>
              </a:rPr>
              <a:t>}</a:t>
            </a:r>
          </a:p>
        </p:txBody>
      </p:sp>
      <p:grpSp>
        <p:nvGrpSpPr>
          <p:cNvPr id="194563" name="AutoShape 9">
            <a:extLst>
              <a:ext uri="{FF2B5EF4-FFF2-40B4-BE49-F238E27FC236}">
                <a16:creationId xmlns:a16="http://schemas.microsoft.com/office/drawing/2014/main" id="{B670393F-1FF7-F4C6-5F15-2B37146A08D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11200" y="4191000"/>
            <a:ext cx="455084" cy="688975"/>
            <a:chOff x="4835" y="1974"/>
            <a:chExt cx="215" cy="434"/>
          </a:xfrm>
        </p:grpSpPr>
        <p:pic>
          <p:nvPicPr>
            <p:cNvPr id="194577" name="AutoShape 9">
              <a:extLst>
                <a:ext uri="{FF2B5EF4-FFF2-40B4-BE49-F238E27FC236}">
                  <a16:creationId xmlns:a16="http://schemas.microsoft.com/office/drawing/2014/main" id="{9752114E-744C-95CB-1901-F5A544C2A903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35" y="1974"/>
              <a:ext cx="215" cy="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Text Box 11">
              <a:extLst>
                <a:ext uri="{FF2B5EF4-FFF2-40B4-BE49-F238E27FC236}">
                  <a16:creationId xmlns:a16="http://schemas.microsoft.com/office/drawing/2014/main" id="{3FFA4B28-0D03-14CE-8438-B6110DFB5A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4762" y="2117"/>
              <a:ext cx="36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i="0" kern="0">
                <a:solidFill>
                  <a:srgbClr val="000000"/>
                </a:solidFill>
              </a:endParaRPr>
            </a:p>
          </p:txBody>
        </p:sp>
      </p:grpSp>
      <p:grpSp>
        <p:nvGrpSpPr>
          <p:cNvPr id="194564" name="Group 16">
            <a:extLst>
              <a:ext uri="{FF2B5EF4-FFF2-40B4-BE49-F238E27FC236}">
                <a16:creationId xmlns:a16="http://schemas.microsoft.com/office/drawing/2014/main" id="{DC2D988D-517F-E802-7DA6-BBB07016D058}"/>
              </a:ext>
            </a:extLst>
          </p:cNvPr>
          <p:cNvGrpSpPr>
            <a:grpSpLocks/>
          </p:cNvGrpSpPr>
          <p:nvPr/>
        </p:nvGrpSpPr>
        <p:grpSpPr bwMode="auto">
          <a:xfrm>
            <a:off x="704850" y="4418013"/>
            <a:ext cx="7626349" cy="1754187"/>
            <a:chOff x="3124200" y="3819525"/>
            <a:chExt cx="5720378" cy="1754326"/>
          </a:xfrm>
        </p:grpSpPr>
        <p:sp>
          <p:nvSpPr>
            <p:cNvPr id="28" name="Text Box 12">
              <a:extLst>
                <a:ext uri="{FF2B5EF4-FFF2-40B4-BE49-F238E27FC236}">
                  <a16:creationId xmlns:a16="http://schemas.microsoft.com/office/drawing/2014/main" id="{53861CA8-22E2-18F0-86C4-512EA68E81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2301" y="3819525"/>
              <a:ext cx="5012277" cy="1754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fontAlgn="auto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d</a:t>
              </a:r>
              <a:r>
                <a:rPr lang="en-US" altLang="ko-KR" sz="1800" i="0" kern="0" baseline="-2500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o1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.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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=1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cs typeface="Arial Unicode MS" charset="0"/>
                </a:rPr>
                <a:t>∧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d</a:t>
              </a:r>
              <a:r>
                <a:rPr lang="en-US" altLang="ko-KR" sz="1800" i="0" kern="0" baseline="-2500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o1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.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s=5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cs typeface="Arial Unicode MS" charset="0"/>
                </a:rPr>
                <a:t>∧ </a:t>
              </a:r>
              <a:r>
                <a:rPr lang="en-US" altLang="ko-KR" sz="1800" b="1" i="0" kern="0">
                  <a:solidFill>
                    <a:srgbClr val="FF0000"/>
                  </a:solidFill>
                  <a:latin typeface="Verdana" charset="0"/>
                  <a:ea typeface="Gulim" charset="0"/>
                  <a:cs typeface="Gulim" charset="0"/>
                </a:rPr>
                <a:t>d</a:t>
              </a:r>
              <a:r>
                <a:rPr lang="en-US" altLang="ko-KR" sz="1800" b="1" i="0" kern="0" baseline="-25000">
                  <a:solidFill>
                    <a:srgbClr val="FF0000"/>
                  </a:solidFill>
                  <a:latin typeface="Verdana" charset="0"/>
                  <a:ea typeface="Gulim" charset="0"/>
                  <a:cs typeface="Gulim" charset="0"/>
                </a:rPr>
                <a:t>o1</a:t>
              </a:r>
              <a:r>
                <a:rPr lang="en-US" altLang="ko-KR" sz="1800" b="1" i="0" kern="0">
                  <a:solidFill>
                    <a:srgbClr val="FF0000"/>
                  </a:solidFill>
                  <a:latin typeface="Verdana" charset="0"/>
                  <a:ea typeface="Gulim" charset="0"/>
                  <a:cs typeface="Gulim" charset="0"/>
                </a:rPr>
                <a:t>.</a:t>
              </a:r>
              <a:r>
                <a:rPr lang="en-US" altLang="ko-KR" sz="1800" b="1" i="0" kern="0">
                  <a:solidFill>
                    <a:srgbClr val="FF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=</a:t>
              </a:r>
              <a:r>
                <a:rPr lang="en-US" altLang="ko-KR" sz="1800" b="1" kern="0">
                  <a:solidFill>
                    <a:srgbClr val="FF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true</a:t>
              </a:r>
              <a:r>
                <a:rPr lang="en-US" altLang="ko-KR" sz="1800" b="1" i="0" kern="0">
                  <a:solidFill>
                    <a:srgbClr val="FF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cs typeface="Arial Unicode MS" charset="0"/>
                </a:rPr>
                <a:t>∧ p=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d</a:t>
              </a:r>
              <a:r>
                <a:rPr lang="en-US" altLang="ko-KR" sz="1800" i="0" kern="0" baseline="-2500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o1</a:t>
              </a:r>
            </a:p>
            <a:p>
              <a:pPr eaLnBrk="1" fontAlgn="auto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cs typeface="Arial Unicode MS" charset="0"/>
                </a:rPr>
                <a:t>∧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d</a:t>
              </a:r>
              <a:r>
                <a:rPr lang="en-US" altLang="ko-KR" sz="1800" i="0" kern="0" baseline="-2500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o2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.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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=2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cs typeface="Arial Unicode MS" charset="0"/>
                </a:rPr>
                <a:t>∧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d</a:t>
              </a:r>
              <a:r>
                <a:rPr lang="en-US" altLang="ko-KR" sz="1800" i="0" kern="0" baseline="-2500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o2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.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s=5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cs typeface="Arial Unicode MS" charset="0"/>
                </a:rPr>
                <a:t>∧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d</a:t>
              </a:r>
              <a:r>
                <a:rPr lang="en-US" altLang="ko-KR" sz="1800" i="0" kern="0" baseline="-2500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o2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.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=</a:t>
              </a:r>
              <a:r>
                <a:rPr lang="en-US" altLang="ko-KR" sz="180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true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cs typeface="Arial Unicode MS" charset="0"/>
                </a:rPr>
                <a:t>∧ q=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d</a:t>
              </a:r>
              <a:r>
                <a:rPr lang="en-US" altLang="ko-KR" sz="1800" i="0" kern="0" baseline="-2500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o2 </a:t>
              </a:r>
            </a:p>
            <a:p>
              <a:pPr eaLnBrk="1" fontAlgn="auto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cs typeface="Arial Unicode MS" charset="0"/>
                </a:rPr>
                <a:t>∧ p=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d</a:t>
              </a:r>
              <a:r>
                <a:rPr lang="en-US" altLang="ko-KR" sz="1800" i="0" kern="0" baseline="-2500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o2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cs typeface="Arial Unicode MS" charset="0"/>
                </a:rPr>
                <a:t>∧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d</a:t>
              </a:r>
              <a:r>
                <a:rPr lang="en-US" altLang="ko-KR" sz="1800" i="0" kern="0" baseline="-2500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o2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.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=</a:t>
              </a:r>
              <a:r>
                <a:rPr lang="en-US" altLang="ko-KR" sz="180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false</a:t>
              </a:r>
              <a:endParaRPr lang="en-US" altLang="ko-KR" sz="1800" kern="0">
                <a:solidFill>
                  <a:srgbClr val="000000"/>
                </a:solidFill>
                <a:latin typeface="Verdana" charset="0"/>
                <a:ea typeface="Gulim" charset="0"/>
                <a:cs typeface="Gulim" charset="0"/>
              </a:endParaRPr>
            </a:p>
            <a:p>
              <a:pPr eaLnBrk="1" fontAlgn="auto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cs typeface="Arial Unicode MS" charset="0"/>
                </a:rPr>
                <a:t>∧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d</a:t>
              </a:r>
              <a:r>
                <a:rPr lang="en-US" altLang="ko-KR" sz="1800" i="0" kern="0" baseline="-2500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o3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.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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=3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cs typeface="Arial Unicode MS" charset="0"/>
                </a:rPr>
                <a:t>∧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d</a:t>
              </a:r>
              <a:r>
                <a:rPr lang="en-US" altLang="ko-KR" sz="1800" i="0" kern="0" baseline="-2500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o3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.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s=5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cs typeface="Arial Unicode MS" charset="0"/>
                </a:rPr>
                <a:t>∧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d</a:t>
              </a:r>
              <a:r>
                <a:rPr lang="en-US" altLang="ko-KR" sz="1800" i="0" kern="0" baseline="-2500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o3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.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=</a:t>
              </a:r>
              <a:r>
                <a:rPr lang="en-US" altLang="ko-KR" sz="180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true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cs typeface="Arial Unicode MS" charset="0"/>
                </a:rPr>
                <a:t>∧ p=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d</a:t>
              </a:r>
              <a:r>
                <a:rPr lang="en-US" altLang="ko-KR" sz="1800" i="0" kern="0" baseline="-2500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o3 </a:t>
              </a:r>
            </a:p>
            <a:p>
              <a:pPr eaLnBrk="1" fontAlgn="auto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cs typeface="Arial Unicode MS" charset="0"/>
                </a:rPr>
                <a:t>∧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d</a:t>
              </a:r>
              <a:r>
                <a:rPr lang="en-US" altLang="ko-KR" sz="1800" i="0" kern="0" baseline="-2500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o3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.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=</a:t>
              </a:r>
              <a:r>
                <a:rPr lang="en-US" altLang="ko-KR" sz="180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false</a:t>
              </a:r>
              <a:endParaRPr lang="en-US" altLang="ko-KR" sz="1800" i="0" kern="0">
                <a:solidFill>
                  <a:srgbClr val="000000"/>
                </a:solidFill>
                <a:latin typeface="Verdana" charset="0"/>
                <a:ea typeface="Gulim" charset="0"/>
                <a:cs typeface="Gulim" charset="0"/>
              </a:endParaRPr>
            </a:p>
          </p:txBody>
        </p:sp>
        <p:sp>
          <p:nvSpPr>
            <p:cNvPr id="29" name="AutoShape 7">
              <a:extLst>
                <a:ext uri="{FF2B5EF4-FFF2-40B4-BE49-F238E27FC236}">
                  <a16:creationId xmlns:a16="http://schemas.microsoft.com/office/drawing/2014/main" id="{5F54A3A7-C476-942B-4F48-0E0ACA5C6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074" y="3971937"/>
              <a:ext cx="46042" cy="1590801"/>
            </a:xfrm>
            <a:prstGeom prst="leftBracket">
              <a:avLst>
                <a:gd name="adj" fmla="val 266742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i="0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0" name="AutoShape 8">
              <a:extLst>
                <a:ext uri="{FF2B5EF4-FFF2-40B4-BE49-F238E27FC236}">
                  <a16:creationId xmlns:a16="http://schemas.microsoft.com/office/drawing/2014/main" id="{B6F69409-7D71-8150-C2DB-CC831B738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87399" y="3971937"/>
              <a:ext cx="44455" cy="1590801"/>
            </a:xfrm>
            <a:prstGeom prst="rightBracket">
              <a:avLst>
                <a:gd name="adj" fmla="val 27495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i="0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1" name="Text Box 9">
              <a:extLst>
                <a:ext uri="{FF2B5EF4-FFF2-40B4-BE49-F238E27FC236}">
                  <a16:creationId xmlns:a16="http://schemas.microsoft.com/office/drawing/2014/main" id="{65052146-41E7-CFD2-7196-49361641D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0" y="4572060"/>
              <a:ext cx="635068" cy="3667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800" i="0" kern="0">
                  <a:solidFill>
                    <a:srgbClr val="000000"/>
                  </a:solidFill>
                  <a:latin typeface="Verdana" charset="0"/>
                </a:rPr>
                <a:t>C:=</a:t>
              </a:r>
            </a:p>
          </p:txBody>
        </p:sp>
      </p:grpSp>
      <p:grpSp>
        <p:nvGrpSpPr>
          <p:cNvPr id="194565" name="AutoShape 9">
            <a:extLst>
              <a:ext uri="{FF2B5EF4-FFF2-40B4-BE49-F238E27FC236}">
                <a16:creationId xmlns:a16="http://schemas.microsoft.com/office/drawing/2014/main" id="{826AFDF3-7A0F-0107-B892-F90DF533B9D3}"/>
              </a:ext>
            </a:extLst>
          </p:cNvPr>
          <p:cNvGrpSpPr>
            <a:grpSpLocks/>
          </p:cNvGrpSpPr>
          <p:nvPr/>
        </p:nvGrpSpPr>
        <p:grpSpPr bwMode="auto">
          <a:xfrm rot="16200000" flipH="1">
            <a:off x="5718176" y="2304256"/>
            <a:ext cx="455082" cy="688975"/>
            <a:chOff x="4835" y="1974"/>
            <a:chExt cx="215" cy="434"/>
          </a:xfrm>
        </p:grpSpPr>
        <p:pic>
          <p:nvPicPr>
            <p:cNvPr id="194571" name="AutoShape 9">
              <a:extLst>
                <a:ext uri="{FF2B5EF4-FFF2-40B4-BE49-F238E27FC236}">
                  <a16:creationId xmlns:a16="http://schemas.microsoft.com/office/drawing/2014/main" id="{CA695F18-BC43-5374-92D3-68DF8BAC2F1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35" y="1974"/>
              <a:ext cx="215" cy="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" name="Text Box 11">
              <a:extLst>
                <a:ext uri="{FF2B5EF4-FFF2-40B4-BE49-F238E27FC236}">
                  <a16:creationId xmlns:a16="http://schemas.microsoft.com/office/drawing/2014/main" id="{5F13151C-9AA8-B9F0-34A8-D5E15C68A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>
              <a:off x="4763" y="2108"/>
              <a:ext cx="36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i="0" kern="0">
                <a:solidFill>
                  <a:srgbClr val="000000"/>
                </a:solidFill>
              </a:endParaRPr>
            </a:p>
          </p:txBody>
        </p:sp>
      </p:grpSp>
      <p:grpSp>
        <p:nvGrpSpPr>
          <p:cNvPr id="194566" name="Group 26">
            <a:extLst>
              <a:ext uri="{FF2B5EF4-FFF2-40B4-BE49-F238E27FC236}">
                <a16:creationId xmlns:a16="http://schemas.microsoft.com/office/drawing/2014/main" id="{F596932A-BCDD-14EB-969B-1276173C67FC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2362200"/>
            <a:ext cx="4643966" cy="446088"/>
            <a:chOff x="4572000" y="1968951"/>
            <a:chExt cx="3482586" cy="446530"/>
          </a:xfrm>
        </p:grpSpPr>
        <p:sp>
          <p:nvSpPr>
            <p:cNvPr id="36" name="Text Box 12">
              <a:extLst>
                <a:ext uri="{FF2B5EF4-FFF2-40B4-BE49-F238E27FC236}">
                  <a16:creationId xmlns:a16="http://schemas.microsoft.com/office/drawing/2014/main" id="{E08760C4-A8E4-F718-033B-7D9747896A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9946" y="1968951"/>
              <a:ext cx="2774640" cy="424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80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fontAlgn="auto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800" b="1" i="0" kern="0">
                  <a:solidFill>
                    <a:srgbClr val="FF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</a:t>
              </a:r>
              <a:r>
                <a:rPr lang="en-US" altLang="ko-KR" sz="1800" b="1" i="0" kern="0">
                  <a:solidFill>
                    <a:srgbClr val="FF0000"/>
                  </a:solidFill>
                  <a:latin typeface="Verdana" charset="0"/>
                  <a:ea typeface="Gulim" charset="0"/>
                  <a:cs typeface="Gulim" charset="0"/>
                </a:rPr>
                <a:t>d</a:t>
              </a:r>
              <a:r>
                <a:rPr lang="en-US" altLang="ko-KR" sz="1800" b="1" i="0" kern="0" baseline="-25000">
                  <a:solidFill>
                    <a:srgbClr val="FF0000"/>
                  </a:solidFill>
                  <a:latin typeface="Verdana" charset="0"/>
                  <a:ea typeface="Gulim" charset="0"/>
                  <a:cs typeface="Gulim" charset="0"/>
                </a:rPr>
                <a:t>o1</a:t>
              </a:r>
              <a:r>
                <a:rPr lang="en-US" altLang="ko-KR" sz="1800" b="1" i="0" kern="0">
                  <a:solidFill>
                    <a:srgbClr val="FF0000"/>
                  </a:solidFill>
                  <a:latin typeface="Verdana" charset="0"/>
                  <a:ea typeface="Gulim" charset="0"/>
                  <a:cs typeface="Gulim" charset="0"/>
                </a:rPr>
                <a:t>.</a:t>
              </a:r>
              <a:r>
                <a:rPr lang="en-US" altLang="ko-KR" sz="1800" b="1" i="0" kern="0">
                  <a:solidFill>
                    <a:srgbClr val="FF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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cs typeface="Arial Unicode MS" charset="0"/>
                </a:rPr>
                <a:t>∧ 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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d</a:t>
              </a:r>
              <a:r>
                <a:rPr lang="en-US" altLang="ko-KR" sz="1800" i="0" kern="0" baseline="-2500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o2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.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 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d</a:t>
              </a:r>
              <a:r>
                <a:rPr lang="en-US" altLang="ko-KR" sz="1800" i="0" kern="0" baseline="-2500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o3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</a:rPr>
                <a:t>.</a:t>
              </a:r>
              <a:r>
                <a:rPr lang="en-US" altLang="ko-KR" sz="1800" i="0" kern="0">
                  <a:solidFill>
                    <a:srgbClr val="000000"/>
                  </a:solidFill>
                  <a:latin typeface="Verdana" charset="0"/>
                  <a:ea typeface="Gulim" charset="0"/>
                  <a:cs typeface="Gulim" charset="0"/>
                  <a:sym typeface="Symbol" charset="0"/>
                </a:rPr>
                <a:t></a:t>
              </a:r>
              <a:endParaRPr lang="en-US" altLang="ko-KR" sz="1800" i="0" kern="0" baseline="-25000">
                <a:solidFill>
                  <a:srgbClr val="000000"/>
                </a:solidFill>
                <a:latin typeface="Verdana" charset="0"/>
                <a:ea typeface="Gulim" charset="0"/>
                <a:cs typeface="Gulim" charset="0"/>
              </a:endParaRPr>
            </a:p>
          </p:txBody>
        </p:sp>
        <p:sp>
          <p:nvSpPr>
            <p:cNvPr id="37" name="AutoShape 7">
              <a:extLst>
                <a:ext uri="{FF2B5EF4-FFF2-40B4-BE49-F238E27FC236}">
                  <a16:creationId xmlns:a16="http://schemas.microsoft.com/office/drawing/2014/main" id="{404BCF5D-7F83-8747-B263-11CEAB4CC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7723" y="2056351"/>
              <a:ext cx="76191" cy="305102"/>
            </a:xfrm>
            <a:prstGeom prst="leftBracket">
              <a:avLst>
                <a:gd name="adj" fmla="val 26666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i="0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8" name="AutoShape 8">
              <a:extLst>
                <a:ext uri="{FF2B5EF4-FFF2-40B4-BE49-F238E27FC236}">
                  <a16:creationId xmlns:a16="http://schemas.microsoft.com/office/drawing/2014/main" id="{0EC0AFF3-4EA7-4548-49DA-269C91142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4585" y="2056351"/>
              <a:ext cx="46032" cy="305102"/>
            </a:xfrm>
            <a:prstGeom prst="rightBracket">
              <a:avLst>
                <a:gd name="adj" fmla="val 275011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i="0" kern="0">
                <a:solidFill>
                  <a:sysClr val="windowText" lastClr="000000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9" name="Text Box 9">
              <a:extLst>
                <a:ext uri="{FF2B5EF4-FFF2-40B4-BE49-F238E27FC236}">
                  <a16:creationId xmlns:a16="http://schemas.microsoft.com/office/drawing/2014/main" id="{904078E4-DD68-AFFF-5C3C-E5FBF1908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2046816"/>
              <a:ext cx="617469" cy="368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1800" i="0" kern="0">
                  <a:solidFill>
                    <a:srgbClr val="000000"/>
                  </a:solidFill>
                  <a:latin typeface="Verdana" charset="0"/>
                </a:rPr>
                <a:t>P:=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From this model to Lab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 slides before this one are the theory; tonight's files are the practice: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bounds encoding  →  overflow.c, vla.c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allocation tracking  →  leak.c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library models (gets)  →  getpassword.c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The next four slides say what ESBMC checks automatically, in workshop words.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Every access gets a 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int a[2];  ...  a[i] = 0;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For every dereference ESBMC adds checks like: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0 &lt;= i &amp;&amp; i &lt; 2          /* index inside the object */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p points into a live object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A failed guard prints as: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dereference failure: array bounds violated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Uninitialised i means the solver may pick ANY of the 2³² values — including -1 (overflow.c).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What --memory-leak-check adds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Each malloc creates a tracked dynamic object.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At every program exit: each still-allocated object must still be reachable through some pointer.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When no pointer to a live object remains, the trace names it: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dereference failure: forgotten memory: dynamic_1_array</a:t>
            </a:r>
          </a:p>
          <a:p>
            <a:pPr lvl="1"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CWE: CWE-401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Which statement in leak.c orphans that object? That is task 1.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A leak is unreachable memory — not merely un-freed memory.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VLAs and symbolic sizes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212121"/>
                </a:solidFill>
                <a:latin typeface="Courier New"/>
              </a:rPr>
              <a:t>int a[n];   /* n is a runtime value — maybe nondet */</a:t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2200">
                <a:solidFill>
                  <a:srgbClr val="212121"/>
                </a:solidFill>
              </a:rPr>
              <a:t>Bounds checks become symbolic comparisons against n — the solver searches all sizes at once.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A zero-sized VLA is undefined behaviour before any element is touched. Does any call here create one?</a:t>
            </a:r>
          </a:p>
          <a:p>
            <a:pPr lvl="1">
              <a:spcAft>
                <a:spcPts val="800"/>
              </a:spcAft>
            </a:pPr>
            <a:r>
              <a:rPr sz="2000">
                <a:solidFill>
                  <a:srgbClr val="212121"/>
                </a:solidFill>
              </a:rPr>
              <a:t>Your unwind bound must cover the loop that does the access — count its iterations before you pick.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5A0A7A"/>
                </a:solidFill>
              </a:rPr>
              <a:t>The CWE labels, decoded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9601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772400"/>
              </a:tblGrid>
              <a:tr h="365760">
                <a:tc>
                  <a:txBody>
                    <a:bodyPr/>
                    <a:lstStyle/>
                    <a:p>
                      <a:r>
                        <a:rPr sz="1600" b="1"/>
                        <a:t>CWE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Meaning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CWE-121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Stack-based buffer overflow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CWE-125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Out-of-bounds read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CWE-129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Improper validation of array index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CWE-131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Incorrect calculation of buffer size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CWE-193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Off-by-one error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CWE-787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Out-of-bounds write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CWE-401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Missing release of memory after effective lifetime (a memory leak)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394960"/>
            <a:ext cx="107899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12121"/>
                </a:solidFill>
              </a:rPr>
              <a:t>One violated guard can imply several classes — ESBMC prints them all (getpassword.c prints the first six).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uter-bunny.blue">
  <a:themeElements>
    <a:clrScheme name="">
      <a:dk1>
        <a:srgbClr val="000000"/>
      </a:dk1>
      <a:lt1>
        <a:srgbClr val="FFFFFF"/>
      </a:lt1>
      <a:dk2>
        <a:srgbClr val="CC0000"/>
      </a:dk2>
      <a:lt2>
        <a:srgbClr val="969696"/>
      </a:lt2>
      <a:accent1>
        <a:srgbClr val="0033CC"/>
      </a:accent1>
      <a:accent2>
        <a:srgbClr val="339933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8A2D"/>
      </a:accent6>
      <a:hlink>
        <a:srgbClr val="9900CC"/>
      </a:hlink>
      <a:folHlink>
        <a:srgbClr val="B2B2B2"/>
      </a:folHlink>
    </a:clrScheme>
    <a:fontScheme name="computer-bunny.blue.pot">
      <a:majorFont>
        <a:latin typeface="Arial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computer-bunny.blue.po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uter-bunny.blue.po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8">
        <a:dk1>
          <a:srgbClr val="000000"/>
        </a:dk1>
        <a:lt1>
          <a:srgbClr val="FFFFFF"/>
        </a:lt1>
        <a:dk2>
          <a:srgbClr val="CC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K:\doc\Presentations\computer-bunny.blue.pot</Template>
  <TotalTime>36146</TotalTime>
  <Words>386</Words>
  <Application>Microsoft Macintosh PowerPoint</Application>
  <PresentationFormat>On-screen Show (4:3)</PresentationFormat>
  <Paragraphs>47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26" baseType="lpstr">
      <vt:lpstr>Arial</vt:lpstr>
      <vt:lpstr>ＭＳ Ｐゴシック</vt:lpstr>
      <vt:lpstr>Times New Roman</vt:lpstr>
      <vt:lpstr>Wingdings</vt:lpstr>
      <vt:lpstr>Monotype Sorts</vt:lpstr>
      <vt:lpstr>MT Extra</vt:lpstr>
      <vt:lpstr>Calibri</vt:lpstr>
      <vt:lpstr>Verdana</vt:lpstr>
      <vt:lpstr>Symbol</vt:lpstr>
      <vt:lpstr>Courier New</vt:lpstr>
      <vt:lpstr>Tahoma</vt:lpstr>
      <vt:lpstr>ＭＳ ゴシック</vt:lpstr>
      <vt:lpstr>Gulim</vt:lpstr>
      <vt:lpstr>Arial Unicode MS</vt:lpstr>
      <vt:lpstr>Engravers MT</vt:lpstr>
      <vt:lpstr>Lucida Console</vt:lpstr>
      <vt:lpstr>WenQuanYi Zen Hei Sharp</vt:lpstr>
      <vt:lpstr>Liberation Sans</vt:lpstr>
      <vt:lpstr>Courier</vt:lpstr>
      <vt:lpstr>Arial (Body)</vt:lpstr>
      <vt:lpstr>computer-bunny.blue</vt:lpstr>
      <vt:lpstr>Microsoft Equation 3.0</vt:lpstr>
      <vt:lpstr>PowerPoint Presentation</vt:lpstr>
      <vt:lpstr>Encoding of Memory Allocation</vt:lpstr>
      <vt:lpstr>Encoding of Memory Allocation</vt:lpstr>
      <vt:lpstr>Example of Memory Allocation</vt:lpstr>
    </vt:vector>
  </TitlesOfParts>
  <Company>University of Virginia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332: Algorithms</dc:title>
  <dc:creator>David Luebke</dc:creator>
  <cp:lastModifiedBy>Lucas Cordeiro</cp:lastModifiedBy>
  <cp:revision>591</cp:revision>
  <cp:lastPrinted>1998-11-03T18:33:01Z</cp:lastPrinted>
  <dcterms:created xsi:type="dcterms:W3CDTF">1998-11-02T19:17:54Z</dcterms:created>
  <dcterms:modified xsi:type="dcterms:W3CDTF">2026-06-11T16:13:17Z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95</vt:i4>
  </property>
  <property fmtid="{D5CDD505-2E9C-101B-9397-08002B2CF9AE}" pid="5" name="ScreenSize">
    <vt:i4>3</vt:i4>
  </property>
  <property fmtid="{D5CDD505-2E9C-101B-9397-08002B2CF9AE}" pid="6" name="ScreenUsage">
    <vt:i4>2</vt:i4>
  </property>
  <property fmtid="{D5CDD505-2E9C-101B-9397-08002B2CF9AE}" pid="7" name="MailAddress">
    <vt:lpwstr>luebke@cs.virginia.edu</vt:lpwstr>
  </property>
  <property fmtid="{D5CDD505-2E9C-101B-9397-08002B2CF9AE}" pid="8" name="HomePage">
    <vt:lpwstr>http://www.cs.virginia.edu/~luebke</vt:lpwstr>
  </property>
  <property fmtid="{D5CDD505-2E9C-101B-9397-08002B2CF9AE}" pid="9" name="Other">
    <vt:lpwstr>CS 551: Intro Computer Graphics_x000d_
David Luebke, UVA</vt:lpwstr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4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\\athena\luebke\public_html\cs332</vt:lpwstr>
  </property>
</Properties>
</file>