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47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Sound over-approximation: Cousot &amp; Cousot, POPL 1977 (doi:10.1145/512950.512973)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 — reproduces in CPython: python3 stage3_ir_reproduce.py → AssertionError. Unbounded integer/real matches Python's bignums,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1 — are two Boolean formulas equivalent? (you encoded lhs ≠ rhs)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3 — a 3-line C function as SSA equations, assertion negated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verdict — two different questions answered (equivalence vs. a program is safe). If you can articulate the difference, you understand verification.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1 and 3, not 2? Both are unsat = a proof. Stage 2 (SEND + MORE = MONEY) is the other mode: sat = a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endParaRPr sz="28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Specifications, one level up: function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int clamp(int x, int lo, int hi)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  __ESBMC_requires(lo &lt;= hi);                  // caller's duty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  __ESBMC_ensures(__ESBMC_return_value &gt;= lo); // the promise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12121"/>
                </a:solidFill>
                <a:latin typeface="Courier New"/>
              </a:rPr>
              <a:t>  __ESBMC_ensures(__ESBMC_return_value &lt;= hi); ...</a:t>
            </a:r>
          </a:p>
          <a:p>
            <a:pPr>
              <a:spcAft>
                <a:spcPts val="800"/>
              </a:spcAft>
            </a:pPr>
            <a:endParaRPr sz="1400">
              <a:solidFill>
                <a:srgbClr val="212121"/>
              </a:solidFill>
              <a:latin typeface="Courier New"/>
            </a:endParaRP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Enforce (--enforce-contract): assume requires → run body → assert ensures (+ frame). Proves the implementation meets its contract. (bug → contract ensures → fix → SUCCESSFUL)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Replace (--replace-call-with-contract): at a call → assert requires → havoc frame → assume ensures. Verifies a caller against its callees' specs, without unrolling their bodies. Modular.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Frame (__ESBMC_assigns) = the locations a call may change; every other location is asserted unchanged. (clamp writes none.)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Gotcha: the function must be called, or there is nothing to enforce.</a:t>
            </a:r>
          </a:p>
          <a:p>
            <a:pPr>
              <a:spcAft>
                <a:spcPts val="800"/>
              </a:spcAft>
            </a:pPr>
            <a:endParaRPr sz="16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Deductive verification in miniature — Session 1's Dafny / Frama-C / SPARK row, on ESBMC. (labs/lab3/contract.c)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2872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dirty="0">
                <a:solidFill>
                  <a:srgbClr val="212121"/>
                </a:solidFill>
              </a:rPr>
              <a:t>Sequentially, </a:t>
            </a:r>
            <a:r>
              <a:rPr sz="2200" dirty="0" err="1">
                <a:solidFill>
                  <a:srgbClr val="212121"/>
                </a:solidFill>
              </a:rPr>
              <a:t>race.c</a:t>
            </a:r>
            <a:r>
              <a:rPr sz="2200" dirty="0">
                <a:solidFill>
                  <a:srgbClr val="212121"/>
                </a:solidFill>
              </a:rPr>
              <a:t>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12121"/>
                </a:solidFill>
              </a:rPr>
              <a:t>Two threads of just 2 statements already have </a:t>
            </a:r>
            <a:r>
              <a:rPr lang="en-GB" sz="2200" dirty="0">
                <a:solidFill>
                  <a:srgbClr val="212121"/>
                </a:solidFill>
              </a:rPr>
              <a:t>6</a:t>
            </a:r>
            <a:r>
              <a:rPr sz="2200" dirty="0">
                <a:solidFill>
                  <a:srgbClr val="212121"/>
                </a:solidFill>
              </a:rPr>
              <a:t> </a:t>
            </a:r>
            <a:r>
              <a:rPr sz="2200" dirty="0" err="1">
                <a:solidFill>
                  <a:srgbClr val="212121"/>
                </a:solidFill>
              </a:rPr>
              <a:t>interleavings</a:t>
            </a:r>
            <a:r>
              <a:rPr sz="2200" dirty="0">
                <a:solidFill>
                  <a:srgbClr val="212121"/>
                </a:solidFill>
              </a:rPr>
              <a:t>; real code has billions.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12121"/>
                </a:solidFill>
              </a:rPr>
              <a:t>The model checker enumerates every interleaving up to the context bound</a:t>
            </a:r>
            <a:r>
              <a:rPr lang="en-GB" sz="2200" dirty="0">
                <a:solidFill>
                  <a:srgbClr val="212121"/>
                </a:solidFill>
              </a:rPr>
              <a:t>,</a:t>
            </a:r>
            <a:r>
              <a:rPr sz="2200" dirty="0">
                <a:solidFill>
                  <a:srgbClr val="212121"/>
                </a:solidFill>
              </a:rPr>
              <a:t> including the one that kills the assertion.</a:t>
            </a:r>
          </a:p>
          <a:p>
            <a:pPr>
              <a:spcAft>
                <a:spcPts val="800"/>
              </a:spcAft>
            </a:pPr>
            <a:endParaRPr sz="2200" dirty="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2356</Words>
  <Application>Microsoft Macintosh PowerPoint</Application>
  <PresentationFormat>Widescreen</PresentationFormat>
  <Paragraphs>231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Lucas Cordeiro</cp:lastModifiedBy>
  <cp:revision>2</cp:revision>
  <dcterms:created xsi:type="dcterms:W3CDTF">2013-01-27T09:14:16Z</dcterms:created>
  <dcterms:modified xsi:type="dcterms:W3CDTF">2026-06-13T20:13:40Z</dcterms:modified>
  <cp:category/>
</cp:coreProperties>
</file>