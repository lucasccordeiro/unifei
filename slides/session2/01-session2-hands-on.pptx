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Formal Verification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Session 2 — Hands-On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18:00 – 21:00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Tonight you drive.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Recap quiz (while machines boot)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1. To prove property P with a solver, you ask whether … is satisfiable?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2. sat + a model in that setup means …?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3. --unwind 5 reports a violated unwinding assertion. Is the program buggy?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Smoke test, everyone:</a:t>
            </a:r>
          </a:p>
          <a:p>
            <a:pPr>
              <a:spcAft>
                <a:spcPts val="0"/>
              </a:spcAft>
            </a:pPr>
            <a:r>
              <a:rPr sz="2000">
                <a:solidFill>
                  <a:srgbClr val="212121"/>
                </a:solidFill>
                <a:latin typeface="Courier New"/>
              </a:rPr>
              <a:t>esbmc lab4/float.c   →  VERIFICATION FAILED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(yes, FAILED — your tool just found a real bug)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Tonight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7589520"/>
              </a:tblGrid>
              <a:tr h="365760">
                <a:tc>
                  <a:txBody>
                    <a:bodyPr/>
                    <a:lstStyle/>
                    <a:p>
                      <a:r>
                        <a:rPr sz="2000" b="1"/>
                        <a:t>18:15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Lab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Constraint solving with Z3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18:50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Bug hunting with ESBMC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Break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19:40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Writing your own specifications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Lab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Team challenge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2000"/>
                        <a:t>20:45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/>
                        <a:t>Debrief + where next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42062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Work in pairs · keep labs/CHEATSHEET.md open · predict before you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The one trick behind the whole evening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To prove a property P, ask the solver whether ¬P is satisfiable.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unsat  ⇒  P always holds (a proof)</a:t>
            </a:r>
          </a:p>
          <a:p>
            <a:pPr lvl="1"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a model  ⇒  a concrete counterexample to P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12121"/>
                </a:solidFill>
              </a:rPr>
              <a:t>Everything tonight — Z3 puzzles, ESBMC bug hunts, your own specifications — is this one move in different costumes.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Another route to a proof: abstract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Tonight's trick hunts a counterexample. Abstract interpretation proves P the other way — over-approximate every run at once to a fixpoint invariant: no bound, no search.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You met the mechanism in Session 1: abstract domain, widening (∇), narrowing (Δ) — iterate to a fixpoint; if it implies P, P holds for every run.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Sound, not complete: too coarse an over-approximation → a false alarm. (Astrée proved the A380 fly-by-wire this way.)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ships it too — --interval-analysis — feeding the invariant k-induction needs for unwind.c (Lab 3).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89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121"/>
                </a:solidFill>
              </a:rPr>
              <a:t>Sound over-approximation: Cousot &amp; Cousot, POPL 1977 (doi:10.1145/512950.512973)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1 — Constraint solving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labs/lab1/lab1.py — three stages, instructions inside.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1 (guided): are these formulas equivalent? Encode lhs ≠ rhs, ask the solver.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2: SEND + MORE = MONEY — let Z3 search 10⁸ assignments.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Stage 3: a 3-line C function as SSA equations — you are doing ESBMC's job by hand.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before every run: write your guess as a comment first.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Box B (optional): re-run Stage 3 as Python ESBMC checks for you — stage3_esbmc.py.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Z3's Python API — the whole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from z3 import Bools, Ints, BitVec, Solver, sat,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a, b = Bools("a b")     # symbolic booleans, not values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 = BitVec("x", 32)     # a 32-bit machine integer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s.add(formula)           # constrain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s.check()                # -&gt; sat or unsat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s.model()                # the witness, when sat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Every stage of lab1.py is these five calls — nothing else.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equivalent() from lab1.py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equivalent(lhs, rhs, name):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 = Solver()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slv.add(lhs != rhs)            # can they EVER differ?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if slv.check() == unsat:       # never differ: a proof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"EQUIVALENT")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else:                          # a witness they differ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    print(name, slv.model())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1a De Morgan: EQUIVALENT   ·   1b distribution: EQUIVALENT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1c trick question: NOT equivalent, counterexample: [b = False]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Read the model: with b = False, a → (b → a) is true but b is false.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Walkthrough: Stage 3 is ESBMC by hand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x, y, z = BitVec("x", 32), BitVec("y", 32), BitVec("z", 32)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s.add(y == x + 1)        # int y = x + 1;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s.add(z == y * 2)        # int z = y * 2;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s.add(Not(z &gt;= 2))       # assert(z &gt;= 2) — NEGATED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sat — counterexample e.g. x = 1073741824 (= 2^30)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 * 2 overflows the 32-bit range: z comes out negative.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Would your test suite have tried 1073741824?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ESBMC builds exactly this formula from your C — automatically. That's Lab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Box B: hand that same Python to ESBMC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def f(x: int) -&gt; int: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y = x + 1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z = y * 2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  assert z &gt;= 2        # ESBMC negates this for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x: int = nondet_int()    # every int at once, like BitVec("x")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f(x)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stage3_esbmc.py  →  VERIFICATION FAILED   (x = 2^63 - 1)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You wrote the function; ESBMC wrote AND solved the formula.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Z3 is the SMT engine; ESBMC is a model checker built ON it — it calls Z3 underneath.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Same overflow, wider word: 2^30 (your 32-bit BitVec) vs 2^63 (ESBMC's default 64-bit int). But should a Python int overflow at all? → next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Which integers? machine word vs math (--ir)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Both runs print VERIFICATION FAILED — but only one counterexample is real in CPython: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       →  x = 2^63 - 1   default: int = 64-bit machine word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esbmc stage3_esbmc.py --ir   →  x = -1         --ir: unbounded integer/real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Default blames x = 2^63 - 1 — but Python ints are unbounded, so that overflow never happens (z stays huge, z ≥ 2 holds). A modelling artifact.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 blames x = -1 → z = 0 &lt; 2 — reproduces in CPython: python3 stage3_ir_reproduce.py → AssertionError. Unbounded integer/real matches Python's bignums, and is often faster.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--ir-ieee adds IEEE-754 enclosure for reals — the honest model once floats appear (Lab 4, float.c).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Match the integer model to your program. (Session 1: machine arithmetic ≠ mathematics.)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Checkpoint before Lab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1 — are two Boolean formulas equivalent? (you encoded lhs ≠ rhs)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Stage 3 — a 3-line C function as SSA equations, assertion negated</a:t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does unsat mean here?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>Same verdict — two different questions answered (equivalence vs. a program is safe). If you can articulate the difference, you understand verification.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Why 1 and 3, not 2? Both are unsat = a proof. Stage 2 (SEND + MORE = MONEY) is the other mode: sat = a solution.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2 — Bug hunting (40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predict → verify → READ THE COUNTEREXAMPLE → fix → re-verify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03120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7548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800" b="1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/>
                        <a:t>By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overflow.c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leak.c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19:05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vla.c  (two bugs!)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19:20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8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getpassword.c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/>
                        <a:t>stretch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57200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Done = VERIFICATION SUCCESSFUL on your fixed file, same flags.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Finished early? You are now a TA — help the pair next to you.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12121"/>
                </a:solidFill>
                <a:latin typeface="Courier New"/>
              </a:rPr>
              <a:t>Box B (optional): esbmc safe_div.py — same loop, Python input.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How to read a counterexample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Real output — esbmc getpassword.c --unwind 8: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file getpassword.c line 18 function getPassword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buf = { 0, 0, 0, 0 }              ← the state so far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file ...library/io.c line 91 function gets thread 0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   ← what broke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...           ← the vuln class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VERIFICATION FAILED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Read bottom-up: what was violated, then scroll up for which values caused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overflow.c — the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1 ...  a = { 0, -1 }   ← stack garbage in the array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2 ...  i = -1          ← the index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State 3 ...  x = -1          ← the branch the solver chose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Violated property: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file overflow.c line 24 ... assertion main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!((_Bool)((signed long int)(!(p[1] == 1))))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x = -1 takes the else branch; a[i + 1] with i = -1 writes a[0].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So a[1] keeps its garbage (-1) and assert(*(p + 1) == 1) dies.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i = -1, x = -1 is a ready-made failing test case — keep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Deep dive: what broke, and its CWE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shapes of violated property: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an assertion — names YOUR line: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overflow.c line 24 ... assertion main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a built-in check — names the bug kind plus its CWE classes: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dereference failure: array bounds violated</a:t>
            </a:r>
          </a:p>
          <a:p>
            <a:pPr lvl="1"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  CWE: CWE-121, CWE-125, CWE-129, CWE-131, CWE-193, CWE-787</a:t>
            </a:r>
          </a:p>
          <a:p>
            <a:pPr lvl="2">
              <a:spcAft>
                <a:spcPts val="800"/>
              </a:spcAft>
            </a:pPr>
            <a:r>
              <a:rPr sz="1800">
                <a:solidFill>
                  <a:srgbClr val="212121"/>
                </a:solidFill>
              </a:rPr>
              <a:t>  (stack overflow · OOB read · bad index · size miscalc · off-by-one · OOB write)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path may point inside ESBMC's model of the C library (io.c line 91 = the gets model).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That names the API you misused — it is not a bug in ESBMC.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5A0A7A"/>
                </a:solidFill>
              </a:rPr>
              <a:t>Break — back at 19:40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 — Specifications (35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triangle.c verifies SUCCESSFUL as shipped.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Does that mean it's correct?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Write the two TODO properties and find out.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212121"/>
                </a:solidFill>
              </a:rPr>
              <a:t>The tool checks what you specify — with a weak spec, green is cheap.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Your specification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nondet_int(void);              /* any possible int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void __ESBMC_assume(_Bool);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/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int x = nondet_int();              /* every value at once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__ESBMC_assume(x &gt; 0 &amp;&amp; x &lt; 100);  /* now: every value in 1..99 */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assert(property(x));               /* must hold for ALL of them */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nondet input = all tests of that input at once.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Specifications, one level up: function contracts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500">
                <a:solidFill>
                  <a:srgbClr val="212121"/>
                </a:solidFill>
                <a:latin typeface="Courier New"/>
              </a:rPr>
              <a:t>int clamp(int x, int lo, int hi) {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212121"/>
                </a:solidFill>
                <a:latin typeface="Courier New"/>
              </a:rPr>
              <a:t>  __ESBMC_requires(lo &lt;= hi);                  // caller's duty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212121"/>
                </a:solidFill>
                <a:latin typeface="Courier New"/>
              </a:rPr>
              <a:t>  __ESBMC_ensures(__ESBMC_return_value &gt;= lo); // the promise</a:t>
            </a:r>
          </a:p>
          <a:p>
            <a:pPr>
              <a:spcAft>
                <a:spcPts val="0"/>
              </a:spcAft>
            </a:pPr>
            <a:r>
              <a:rPr sz="1500">
                <a:solidFill>
                  <a:srgbClr val="212121"/>
                </a:solidFill>
                <a:latin typeface="Courier New"/>
              </a:rPr>
              <a:t>  __ESBMC_ensures(__ESBMC_return_value &lt;= hi); ...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12121"/>
                </a:solidFill>
              </a:rPr>
              <a:t/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12121"/>
                </a:solidFill>
              </a:rPr>
              <a:t>--enforce-contract clamp — does the body keep its promise? (seeded bug → contract ensures counterexample → fix → SUCCESSFUL)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12121"/>
                </a:solidFill>
              </a:rPr>
              <a:t>--replace-call-with-contract clamp — callers trust the contract, not the body: assume requires; havoc; assume ensures. Modular.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12121"/>
                </a:solidFill>
              </a:rPr>
              <a:t>Gotcha: the function must be called, or there is nothing to enforce.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12121"/>
                </a:solidFill>
              </a:rPr>
              <a:t>Deductive verification in miniature — Session 1's Dafny / Frama-C / SPARK row, on ESBMC. (labs/lab3/contract.c)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3, Part 2 — what did we prove?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5 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20     →  ?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unwind.c --unwind 60     →  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What is the unwinding assertion telling you at 5 and 20?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At 60 — what exactly is proven, and for which n?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Stretch: --k-induction answers VERIFICATION UNKNOWN. Why is the unbounded question fundamentally harder? (Background deck: 03-k-induction.pptx)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Lab 4 — Team challenge (30 min)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Teams of 3–4. Points on the whiteboard: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1 pt — verdict predicted correctly in writing, before running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2 pts — file fixed and re-verified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A:  race.c — write down the failing interleaving first, then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212121"/>
                </a:solidFill>
                <a:latin typeface="Courier New"/>
              </a:rPr>
              <a:t>esbmc race.c --context-bound 2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Track B:  float.c — primary-school arithmetic. Or is it?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Why machines beat humans at Track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Sequentially, race.c is bulletproof — run it a million times, the bug may never show.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Two threads of just 2 and 1 statements already have 3 interleavings; real code has billions.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model checker enumerates every interleaving up to the context bound — including the one that kills the assertion.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counterexample you get includes the thread schedule: read it as a story of who ran when.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5A0A7A"/>
                </a:solidFill>
              </a:rPr>
              <a:t>Debrief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One thing the tool caught that YOU wouldn't have?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The arc you just walked: intuition → concepts → tools → application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Where next: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SV-COMP benchmarks: sv-comp.sosy-lab.org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Full course: COMP63342 Software Security (slides online)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ESBMC: esbmc.org · Z3: github.com/Z3Prover/z3</a:t>
            </a:r>
          </a:p>
          <a:p>
            <a:pPr lvl="1">
              <a:spcAft>
                <a:spcPts val="800"/>
              </a:spcAft>
            </a:pPr>
            <a:r>
              <a:rPr sz="2000">
                <a:solidFill>
                  <a:srgbClr val="212121"/>
                </a:solidFill>
              </a:rPr>
              <a:t>The complementary technique: fuzzing (AFL, OSS-Fuzz)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12121"/>
                </a:solidFill>
              </a:rPr>
              <a:t>Feedback poll: pace / best lab / one improvement.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