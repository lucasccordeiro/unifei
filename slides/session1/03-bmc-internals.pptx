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" compatMode="1" strictFirstAndLastChars="0" saveSubsetFonts="1" autoCompressPictures="0">
  <p:sldMasterIdLst>
    <p:sldMasterId id="2147483649" r:id="rId1"/>
  </p:sldMasterIdLst>
  <p:notesMasterIdLst>
    <p:notesMasterId r:id="rId18"/>
  </p:notesMasterIdLst>
  <p:handoutMasterIdLst>
    <p:handoutMasterId r:id="rId19"/>
  </p:handoutMasterIdLst>
  <p:sldIdLst>
    <p:sldId id="331" r:id="rId2"/>
    <p:sldId id="768" r:id="rId3"/>
    <p:sldId id="772" r:id="rId4"/>
    <p:sldId id="749" r:id="rId5"/>
    <p:sldId id="750" r:id="rId6"/>
    <p:sldId id="873" r:id="rId7"/>
    <p:sldId id="758" r:id="rId8"/>
    <p:sldId id="759" r:id="rId9"/>
    <p:sldId id="776" r:id="rId10"/>
    <p:sldId id="777" r:id="rId11"/>
    <p:sldId id="780" r:id="rId12"/>
    <p:sldId id="867" r:id="rId13"/>
    <p:sldId id="871" r:id="rId14"/>
    <p:sldId id="872" r:id="rId15"/>
    <p:sldId id="788" r:id="rId16"/>
    <p:sldId id="793" r:id="rId17"/>
  </p:sldIdLst>
  <p:sldSz cx="9144000" cy="6858000" type="screen4x3"/>
  <p:notesSz cx="6946900" cy="92329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sz="2000" i="1"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43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8">
          <p15:clr>
            <a:srgbClr val="A4A3A4"/>
          </p15:clr>
        </p15:guide>
        <p15:guide id="2" pos="218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howGuides="1">
      <p:cViewPr varScale="1">
        <p:scale>
          <a:sx n="120" d="100"/>
          <a:sy n="120" d="100"/>
        </p:scale>
        <p:origin x="1944" y="184"/>
      </p:cViewPr>
      <p:guideLst>
        <p:guide orient="horz" pos="2543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10" y="-72"/>
      </p:cViewPr>
      <p:guideLst>
        <p:guide orient="horz" pos="2908"/>
        <p:guide pos="218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7F04543-7CB8-4F18-C1FB-B0B457572E6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9900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8C1115-8DDD-C707-8ABA-893DE36A178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35413" y="0"/>
            <a:ext cx="3009900" cy="461963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FF397E4-E5B4-A249-B76D-4FEABFA85DB4}" type="datetimeFigureOut">
              <a:rPr lang="en-US" altLang="en-US"/>
              <a:pPr>
                <a:defRPr/>
              </a:pPr>
              <a:t>6/11/26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7F97CE-FE44-CC99-91A8-978DD4DE400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769350"/>
            <a:ext cx="3009900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0B37CE-3754-AAB9-E57F-6C1FA0575C9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35413" y="8769350"/>
            <a:ext cx="3009900" cy="461963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366C8E81-4D85-F647-9851-08D406336CAC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>
            <a:extLst>
              <a:ext uri="{FF2B5EF4-FFF2-40B4-BE49-F238E27FC236}">
                <a16:creationId xmlns:a16="http://schemas.microsoft.com/office/drawing/2014/main" id="{F91FCEDA-59D3-F938-DC67-24E3F49DF18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>
            <a:lvl1pPr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F1DA3DDC-411A-97C0-F3F3-8A5B820271C3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>
            <a:lvl1pPr algn="r"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E7D44C4D-3045-BA6C-C782-65CBD90E33E8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65225" y="692150"/>
            <a:ext cx="4616450" cy="34623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301" name="Rectangle 5">
            <a:extLst>
              <a:ext uri="{FF2B5EF4-FFF2-40B4-BE49-F238E27FC236}">
                <a16:creationId xmlns:a16="http://schemas.microsoft.com/office/drawing/2014/main" id="{77995DCA-B33E-D8F8-BAE7-795D258EC51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386263"/>
            <a:ext cx="5095875" cy="415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none" lIns="92455" tIns="46227" rIns="92455" bIns="4622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5302" name="Rectangle 6">
            <a:extLst>
              <a:ext uri="{FF2B5EF4-FFF2-40B4-BE49-F238E27FC236}">
                <a16:creationId xmlns:a16="http://schemas.microsoft.com/office/drawing/2014/main" id="{0BF71EB6-C981-9AA2-A6EF-786C862C4E6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70938"/>
            <a:ext cx="3009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none" lIns="92455" tIns="46227" rIns="92455" bIns="46227" numCol="1" anchor="b" anchorCtr="0" compatLnSpc="1">
            <a:prstTxWarp prst="textNoShape">
              <a:avLst/>
            </a:prstTxWarp>
          </a:bodyPr>
          <a:lstStyle>
            <a:lvl1pPr defTabSz="923925">
              <a:defRPr sz="1200" i="0">
                <a:latin typeface="Times New Roman" charset="0"/>
                <a:ea typeface="ＭＳ Ｐゴシック" charset="0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5303" name="Rectangle 7">
            <a:extLst>
              <a:ext uri="{FF2B5EF4-FFF2-40B4-BE49-F238E27FC236}">
                <a16:creationId xmlns:a16="http://schemas.microsoft.com/office/drawing/2014/main" id="{8835ECD2-DAC1-D676-49AF-C0E76B8B22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770938"/>
            <a:ext cx="3009900" cy="461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none" lIns="92455" tIns="46227" rIns="92455" bIns="46227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 i="0">
                <a:latin typeface="Times New Roman" panose="02020603050405020304" pitchFamily="18" charset="0"/>
              </a:defRPr>
            </a:lvl1pPr>
          </a:lstStyle>
          <a:p>
            <a:fld id="{84039453-8504-E240-A513-22B136CFAA9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ＭＳ Ｐゴシック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4C58780-732D-8B02-B857-7FF8D531F7C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C2EA7543-8D60-7B43-93AA-DE9ADD721E38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56506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B40D1EB-0CA9-77EE-7861-5BBB790F50F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D369A8D7-298C-EE4D-A50F-59247A1040D0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04182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4B2FE5-B0DF-3CFF-E86C-DDDC8A3388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A4247297-A1D2-544A-A844-FBCEB7AF7DB0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82366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38600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018995-4510-8132-2167-2581AFE4F1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16CE0445-5D4F-2948-A967-4F741FD5DB22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71975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BDD06D99-2C6F-5E1A-75D2-985B88D0DC0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9E9F84A-588C-0844-A86C-0D613D912115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8726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F9E6591-1417-B921-6290-32FF2AE698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94C6E044-FBB8-2A44-B204-01862CD7E5B0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7647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5043E09-5DDB-B846-D59D-5C30FF22389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9626C28F-2572-6243-9A92-4E18E58DF61E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79534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448037D-5DE4-2F30-5F0A-245251841C2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F44BE9ED-0979-3942-B6C5-6030BD1D2657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67365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306889-C8A3-2AF8-12A8-62BD78E8761B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8AC1D822-5494-7649-BE9E-6D913592960C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185178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C18BBE-F7F5-5EBB-CA82-529E109FCA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064EAEF7-8B85-C749-8654-3E39C9DA3F8A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44219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600"/>
            <a:ext cx="20574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600"/>
            <a:ext cx="60198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CE4961D-9F86-41BC-679A-83A4182CBDD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David Luebke				         </a:t>
            </a:r>
            <a:fld id="{AF0FEC11-E183-4D44-8034-AC9CCD9DCFF0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3730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AB427971-1A04-00E4-908B-CB9C898995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57200" y="6553200"/>
            <a:ext cx="8229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/>
            <a:ext uri="{91240B29-F687-4f45-9708-019B960494DF}"/>
            <a:ext uri="{AF507438-7753-43e0-B8FC-AC1667EBCBE1}"/>
            <a:ext uri="{FAA26D3D-D897-4be2-8F04-BA451C77F1D7}"/>
          </a:extLst>
        </p:spPr>
        <p:txBody>
          <a:bodyPr vert="horz" wrap="non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900" b="1" i="0"/>
            </a:lvl1pPr>
          </a:lstStyle>
          <a:p>
            <a:r>
              <a:rPr lang="en-US" altLang="en-US"/>
              <a:t>David Luebke				         </a:t>
            </a:r>
            <a:fld id="{502524EE-3163-6840-83C9-2E0F29622880}" type="slidenum">
              <a:rPr lang="en-US" altLang="en-US"/>
              <a:pPr/>
              <a:t>‹#›</a:t>
            </a:fld>
            <a:r>
              <a:rPr lang="en-US" altLang="en-US"/>
              <a:t> 				            </a:t>
            </a:r>
            <a:fld id="{5D08B70D-D8BD-4543-9F48-9D3CC22D9ABE}" type="datetime1">
              <a:rPr lang="en-US" altLang="en-US"/>
              <a:pPr/>
              <a:t>6/11/26</a:t>
            </a:fld>
            <a:endParaRPr lang="en-US" altLang="en-US"/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8949193D-836E-55BB-33ED-4C25C1636F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28600"/>
            <a:ext cx="8229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7">
            <a:extLst>
              <a:ext uri="{FF2B5EF4-FFF2-40B4-BE49-F238E27FC236}">
                <a16:creationId xmlns:a16="http://schemas.microsoft.com/office/drawing/2014/main" id="{AFEFF0ED-5F0B-ABED-A3F2-1397CDA43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524000"/>
            <a:ext cx="82296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329" r:id="rId1"/>
    <p:sldLayoutId id="2147485330" r:id="rId2"/>
    <p:sldLayoutId id="2147485331" r:id="rId3"/>
    <p:sldLayoutId id="2147485332" r:id="rId4"/>
    <p:sldLayoutId id="2147485333" r:id="rId5"/>
    <p:sldLayoutId id="2147485334" r:id="rId6"/>
    <p:sldLayoutId id="2147485335" r:id="rId7"/>
    <p:sldLayoutId id="2147485336" r:id="rId8"/>
    <p:sldLayoutId id="2147485337" r:id="rId9"/>
    <p:sldLayoutId id="2147485338" r:id="rId10"/>
    <p:sldLayoutId id="2147485339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+mj-lt"/>
          <a:ea typeface="MS PGothic" panose="020B0600070205080204" pitchFamily="34" charset="-128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MS PGothic" panose="020B0600070205080204" pitchFamily="34" charset="-128"/>
          <a:cs typeface="ＭＳ Ｐゴシック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125000"/>
        <a:buChar char="•"/>
        <a:defRPr sz="3200">
          <a:solidFill>
            <a:schemeClr val="tx1"/>
          </a:solidFill>
          <a:latin typeface="+mn-lt"/>
          <a:ea typeface="MS PGothic" panose="020B0600070205080204" pitchFamily="34" charset="-128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o"/>
        <a:defRPr sz="2400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Monotype Sorts" pitchFamily="2" charset="2"/>
        <a:buChar char="]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100000"/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mailto:lucas.cordeiro@cs.ox.ac.u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esbmc.org" TargetMode="External"/><Relationship Id="rId2" Type="http://schemas.openxmlformats.org/officeDocument/2006/relationships/hyperlink" Target="http://www.cprover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llbmc.org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37">
            <a:extLst>
              <a:ext uri="{FF2B5EF4-FFF2-40B4-BE49-F238E27FC236}">
                <a16:creationId xmlns:a16="http://schemas.microsoft.com/office/drawing/2014/main" id="{2654C326-7E78-F6E3-7E06-4AB06248C9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3" y="2062163"/>
            <a:ext cx="8077200" cy="2122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5713" tIns="45713" rIns="45713" bIns="45713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kern="0" dirty="0">
                <a:solidFill>
                  <a:srgbClr val="8064A2">
                    <a:lumMod val="75000"/>
                  </a:srgbClr>
                </a:solidFill>
                <a:latin typeface="Arial"/>
                <a:ea typeface="Calibri"/>
                <a:cs typeface="Arial"/>
                <a:sym typeface="Calibri"/>
              </a:rPr>
              <a:t>Detection of Software Vulnerabilities:</a:t>
            </a:r>
          </a:p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4800" b="1" i="0" kern="0" dirty="0">
                <a:solidFill>
                  <a:srgbClr val="8064A2">
                    <a:lumMod val="75000"/>
                  </a:srgbClr>
                </a:solidFill>
                <a:latin typeface="Arial"/>
                <a:ea typeface="Calibri"/>
                <a:cs typeface="Arial"/>
                <a:sym typeface="Calibri"/>
              </a:rPr>
              <a:t>Static Analysis (Part II)</a:t>
            </a:r>
          </a:p>
        </p:txBody>
      </p:sp>
      <p:sp>
        <p:nvSpPr>
          <p:cNvPr id="12" name="Shape 238">
            <a:extLst>
              <a:ext uri="{FF2B5EF4-FFF2-40B4-BE49-F238E27FC236}">
                <a16:creationId xmlns:a16="http://schemas.microsoft.com/office/drawing/2014/main" id="{91A7C770-9B6B-B0AE-2F07-DBC6C6805C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5589588"/>
            <a:ext cx="8642350" cy="1014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4994" tIns="44994" rIns="44994" bIns="44994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Lucas Cordeiro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x-none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Department of Computer Science</a:t>
            </a:r>
            <a:endParaRPr sz="1800" b="1" i="0" kern="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</a:defRPr>
            </a:pPr>
            <a:r>
              <a:rPr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lucas.cordeiro@</a:t>
            </a:r>
            <a:r>
              <a:rPr lang="x-none"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manchester</a:t>
            </a:r>
            <a:r>
              <a:rPr sz="1800" i="0" kern="0" dirty="0">
                <a:solidFill>
                  <a:srgbClr val="2A78BC"/>
                </a:solidFill>
                <a:uFill>
                  <a:solidFill>
                    <a:srgbClr val="0000FF"/>
                  </a:solidFill>
                </a:uFill>
                <a:latin typeface="Arial"/>
                <a:ea typeface="Arial"/>
                <a:cs typeface="Arial"/>
                <a:sym typeface="Arial"/>
                <a:hlinkClick r:id="rId2"/>
              </a:rPr>
              <a:t>.ac.uk</a:t>
            </a:r>
          </a:p>
        </p:txBody>
      </p:sp>
      <p:pic>
        <p:nvPicPr>
          <p:cNvPr id="10244" name="Picture 6">
            <a:extLst>
              <a:ext uri="{FF2B5EF4-FFF2-40B4-BE49-F238E27FC236}">
                <a16:creationId xmlns:a16="http://schemas.microsoft.com/office/drawing/2014/main" id="{DD01A9FC-9507-7E7A-3493-E57C3012A8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7000" y="228600"/>
            <a:ext cx="23383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Shape 238">
            <a:extLst>
              <a:ext uri="{FF2B5EF4-FFF2-40B4-BE49-F238E27FC236}">
                <a16:creationId xmlns:a16="http://schemas.microsoft.com/office/drawing/2014/main" id="{31310FE0-8CD3-DF2E-79E9-8AD69A7F7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0325" y="354013"/>
            <a:ext cx="4525963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400000"/>
                <a:headEnd/>
                <a:tailEnd/>
              </a14:hiddenLine>
            </a:ext>
          </a:extLst>
        </p:spPr>
        <p:txBody>
          <a:bodyPr lIns="44994" tIns="44994" rIns="44994" bIns="44994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Systems and Software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tabLst>
                <a:tab pos="723825" algn="l"/>
                <a:tab pos="1447650" algn="l"/>
                <a:tab pos="2171475" algn="l"/>
                <a:tab pos="2895300" algn="l"/>
                <a:tab pos="3619125" algn="l"/>
                <a:tab pos="4342950" algn="l"/>
                <a:tab pos="5066775" algn="l"/>
                <a:tab pos="5790600" algn="l"/>
                <a:tab pos="6514425" algn="l"/>
                <a:tab pos="7238250" algn="l"/>
                <a:tab pos="7962075" algn="l"/>
                <a:tab pos="8685900" algn="l"/>
              </a:tabLst>
              <a:defRPr sz="1800" b="1">
                <a:latin typeface="Arial"/>
                <a:ea typeface="Arial"/>
                <a:cs typeface="Arial"/>
                <a:sym typeface="Arial"/>
              </a:defRPr>
            </a:pPr>
            <a:r>
              <a:rPr lang="en-US" sz="1800" b="1" i="0" kern="0" dirty="0">
                <a:solidFill>
                  <a:sysClr val="windowText" lastClr="000000"/>
                </a:solidFill>
                <a:latin typeface="Arial"/>
                <a:ea typeface="Arial"/>
                <a:cs typeface="Arial"/>
                <a:sym typeface="Arial"/>
              </a:rPr>
              <a:t>Verification Laboratory</a:t>
            </a:r>
            <a:endParaRPr sz="1800" b="1" i="0" kern="0" dirty="0">
              <a:solidFill>
                <a:sysClr val="windowText" lastClr="000000"/>
              </a:solidFill>
              <a:latin typeface="Arial"/>
              <a:ea typeface="Arial"/>
              <a:cs typeface="Arial"/>
              <a:sym typeface="Arial"/>
              <a:hlinkClick r:id="rId2"/>
            </a:endParaRPr>
          </a:p>
        </p:txBody>
      </p:sp>
      <p:pic>
        <p:nvPicPr>
          <p:cNvPr id="10246" name="Picture 14">
            <a:extLst>
              <a:ext uri="{FF2B5EF4-FFF2-40B4-BE49-F238E27FC236}">
                <a16:creationId xmlns:a16="http://schemas.microsoft.com/office/drawing/2014/main" id="{33E1F1F1-6B0E-5D92-0448-932E530A5D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25" y="228600"/>
            <a:ext cx="9906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24F0944-8DFF-C39C-2EEE-784DA92A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chemeClr val="tx1"/>
                </a:solidFill>
                <a:ea typeface="+mj-ea"/>
                <a:cs typeface="Arial"/>
              </a:rPr>
              <a:t>SAT/SMT-based BMC tools for C</a:t>
            </a:r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5CEE4D78-4933-4C6A-0C36-D8EA87890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410200"/>
          </a:xfrm>
        </p:spPr>
        <p:txBody>
          <a:bodyPr/>
          <a:lstStyle/>
          <a:p>
            <a:pPr>
              <a:buClrTx/>
            </a:pP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CBMC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(C Bounded Model Checker)</a:t>
            </a: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http://www.cprover.org/</a:t>
            </a:r>
            <a:endParaRPr lang="en-GB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SAT-based (MiniSat) “workhorse”</a:t>
            </a: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also SystemC frontend</a:t>
            </a:r>
          </a:p>
          <a:p>
            <a:pPr>
              <a:buClrTx/>
            </a:pP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ESBMC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(Embedded Systems Bounded Model Checker)</a:t>
            </a: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http://esbmc.org</a:t>
            </a:r>
            <a:endParaRPr lang="en-GB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SMT-based (Z3, Boolector)</a:t>
            </a: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branched off CBMC, also (rudimentary) C++ frontend</a:t>
            </a:r>
          </a:p>
          <a:p>
            <a:pPr>
              <a:buClrTx/>
            </a:pP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LLBMC </a:t>
            </a: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(Low-level Bounded Model Checker)</a:t>
            </a: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http://llbmc.org</a:t>
            </a:r>
            <a:endParaRPr lang="en-GB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SMT-based </a:t>
            </a: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(Boolector or STP)</a:t>
            </a:r>
            <a:endParaRPr lang="en-GB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spcBef>
                <a:spcPts val="200"/>
              </a:spcBef>
              <a:buClrTx/>
            </a:pPr>
            <a:r>
              <a:rPr lang="en-GB" altLang="en-US" sz="2400">
                <a:latin typeface="Arial" panose="020B0604020202020204" pitchFamily="34" charset="0"/>
                <a:cs typeface="Arial" panose="020B0604020202020204" pitchFamily="34" charset="0"/>
              </a:rPr>
              <a:t>uses LLVM intermediate language</a:t>
            </a:r>
          </a:p>
          <a:p>
            <a:pPr>
              <a:buClrTx/>
              <a:buFont typeface="Arial Unicode MS" panose="020B0604020202020204" pitchFamily="34" charset="-128"/>
              <a:buChar char="⇒"/>
            </a:pP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share common high-level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620DFA23-D55C-2CA6-A307-2C3044077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SAT/SMT-based BMC tools for C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5E619DD-7916-99BD-2685-A9D0F22B1C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410200"/>
          </a:xfrm>
        </p:spPr>
        <p:txBody>
          <a:bodyPr/>
          <a:lstStyle/>
          <a:p>
            <a:pPr>
              <a:buClrTx/>
              <a:buFontTx/>
              <a:buNone/>
              <a:defRPr/>
            </a:pPr>
            <a:r>
              <a:rPr lang="en-GB" sz="2800" b="1" dirty="0">
                <a:latin typeface="Arial"/>
                <a:ea typeface="+mn-ea"/>
                <a:cs typeface="Arial"/>
              </a:rPr>
              <a:t>Typical features:</a:t>
            </a:r>
          </a:p>
          <a:p>
            <a:pPr>
              <a:spcBef>
                <a:spcPts val="500"/>
              </a:spcBef>
              <a:buClrTx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full language support</a:t>
            </a:r>
          </a:p>
          <a:p>
            <a:pPr lvl="1">
              <a:spcBef>
                <a:spcPts val="200"/>
              </a:spcBef>
              <a:buClrTx/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bit-precise operations, </a:t>
            </a:r>
            <a:r>
              <a:rPr lang="en-GB" sz="2400" dirty="0" err="1">
                <a:latin typeface="Arial"/>
                <a:ea typeface="+mn-ea"/>
                <a:cs typeface="Arial"/>
              </a:rPr>
              <a:t>structs</a:t>
            </a:r>
            <a:r>
              <a:rPr lang="en-GB" sz="2400" dirty="0">
                <a:latin typeface="Arial"/>
                <a:ea typeface="+mn-ea"/>
                <a:cs typeface="Arial"/>
              </a:rPr>
              <a:t>, arrays, ...</a:t>
            </a:r>
          </a:p>
          <a:p>
            <a:pPr lvl="1">
              <a:spcBef>
                <a:spcPts val="200"/>
              </a:spcBef>
              <a:buClrTx/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heap-allocated memory</a:t>
            </a:r>
          </a:p>
          <a:p>
            <a:pPr lvl="1">
              <a:spcBef>
                <a:spcPts val="200"/>
              </a:spcBef>
              <a:buClrTx/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concurrency</a:t>
            </a:r>
          </a:p>
          <a:p>
            <a:pPr>
              <a:spcBef>
                <a:spcPts val="500"/>
              </a:spcBef>
              <a:buClrTx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built-in safety checks</a:t>
            </a:r>
          </a:p>
          <a:p>
            <a:pPr lvl="1">
              <a:spcBef>
                <a:spcPts val="200"/>
              </a:spcBef>
              <a:buClrTx/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overflow, div-by-zero, array out-of-bounds indexing, ...</a:t>
            </a:r>
          </a:p>
          <a:p>
            <a:pPr lvl="1">
              <a:spcBef>
                <a:spcPts val="200"/>
              </a:spcBef>
              <a:buClrTx/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memory safety: nil pointer </a:t>
            </a:r>
            <a:r>
              <a:rPr lang="en-GB" sz="2400" dirty="0" err="1">
                <a:latin typeface="Arial"/>
                <a:ea typeface="+mn-ea"/>
                <a:cs typeface="Arial"/>
              </a:rPr>
              <a:t>deref</a:t>
            </a:r>
            <a:r>
              <a:rPr lang="en-GB" sz="2400" dirty="0">
                <a:latin typeface="Arial"/>
                <a:ea typeface="+mn-ea"/>
                <a:cs typeface="Arial"/>
              </a:rPr>
              <a:t>, memory leaks, ...</a:t>
            </a:r>
          </a:p>
          <a:p>
            <a:pPr lvl="1">
              <a:spcBef>
                <a:spcPts val="200"/>
              </a:spcBef>
              <a:buClrTx/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deadlocks, race conditions</a:t>
            </a:r>
          </a:p>
          <a:p>
            <a:pPr>
              <a:spcBef>
                <a:spcPts val="500"/>
              </a:spcBef>
              <a:buClrTx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user-specified assertions and error labels</a:t>
            </a:r>
          </a:p>
          <a:p>
            <a:pPr>
              <a:spcBef>
                <a:spcPts val="500"/>
              </a:spcBef>
              <a:buClrTx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non-deterministic modelling</a:t>
            </a:r>
          </a:p>
          <a:p>
            <a:pPr lvl="1">
              <a:spcBef>
                <a:spcPts val="200"/>
              </a:spcBef>
              <a:buClrTx/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nondeterministic assignments</a:t>
            </a:r>
          </a:p>
          <a:p>
            <a:pPr lvl="1">
              <a:spcBef>
                <a:spcPts val="200"/>
              </a:spcBef>
              <a:buClrTx/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assume-statements</a:t>
            </a:r>
          </a:p>
          <a:p>
            <a:pPr>
              <a:buClrTx/>
              <a:buFontTx/>
              <a:buNone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0F6B6FA-632C-1BF5-C201-FD9B522B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SAT/SMT-based BMC tools for C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AE2BB6A-920B-0D22-CA03-C96B62EAD2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102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en-GB" b="1" dirty="0">
                <a:latin typeface="Arial"/>
                <a:ea typeface="+mn-ea"/>
                <a:cs typeface="Arial"/>
              </a:rPr>
              <a:t>High-level architecture:</a:t>
            </a:r>
          </a:p>
        </p:txBody>
      </p:sp>
      <p:sp>
        <p:nvSpPr>
          <p:cNvPr id="24580" name="Rectangle 33">
            <a:extLst>
              <a:ext uri="{FF2B5EF4-FFF2-40B4-BE49-F238E27FC236}">
                <a16:creationId xmlns:a16="http://schemas.microsoft.com/office/drawing/2014/main" id="{B630F483-24EE-3722-0A1B-3ACF7857E2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1752600"/>
            <a:ext cx="6400800" cy="4648200"/>
          </a:xfrm>
          <a:prstGeom prst="rect">
            <a:avLst/>
          </a:prstGeom>
          <a:solidFill>
            <a:srgbClr val="5CA1FB"/>
          </a:solidFill>
          <a:ln w="38100">
            <a:solidFill>
              <a:schemeClr val="tx1"/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en-US" altLang="en-US" sz="2000" b="1" i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1" name="Rectangle 8">
            <a:extLst>
              <a:ext uri="{FF2B5EF4-FFF2-40B4-BE49-F238E27FC236}">
                <a16:creationId xmlns:a16="http://schemas.microsoft.com/office/drawing/2014/main" id="{CE3CFACE-44CC-4073-36DC-E87E9D8004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2209800"/>
            <a:ext cx="1219200" cy="60960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Parser</a:t>
            </a:r>
            <a:endParaRPr lang="en-US" altLang="en-US" sz="2000" b="1" i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2" name="Rectangle 9">
            <a:extLst>
              <a:ext uri="{FF2B5EF4-FFF2-40B4-BE49-F238E27FC236}">
                <a16:creationId xmlns:a16="http://schemas.microsoft.com/office/drawing/2014/main" id="{02D2579A-0D86-0DFE-D7EE-2B761C896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1200" y="2133600"/>
            <a:ext cx="1981200" cy="76200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Static Analysis</a:t>
            </a:r>
            <a:endParaRPr lang="en-US" altLang="en-US" sz="2000" b="1" i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3" name="Rectangle 10">
            <a:extLst>
              <a:ext uri="{FF2B5EF4-FFF2-40B4-BE49-F238E27FC236}">
                <a16:creationId xmlns:a16="http://schemas.microsoft.com/office/drawing/2014/main" id="{561B55D7-7655-600B-756B-38C019073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810000"/>
            <a:ext cx="1524000" cy="60960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CNF-gen</a:t>
            </a:r>
            <a:endParaRPr lang="en-US" altLang="en-US" sz="2000" b="1" i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4" name="Rectangle 11">
            <a:extLst>
              <a:ext uri="{FF2B5EF4-FFF2-40B4-BE49-F238E27FC236}">
                <a16:creationId xmlns:a16="http://schemas.microsoft.com/office/drawing/2014/main" id="{68B8FB9E-9B3E-F5D2-9156-A15F052018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810000"/>
            <a:ext cx="1371600" cy="60960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Solver</a:t>
            </a:r>
            <a:endParaRPr lang="en-US" altLang="en-US" sz="2000" b="1" i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85" name="Rectangle 12">
            <a:extLst>
              <a:ext uri="{FF2B5EF4-FFF2-40B4-BE49-F238E27FC236}">
                <a16:creationId xmlns:a16="http://schemas.microsoft.com/office/drawing/2014/main" id="{A1336AED-F2BE-9816-68B0-DBE7FCFE4F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5334000"/>
            <a:ext cx="1524000" cy="609600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wrap="none" lIns="0" tIns="0" rIns="0" bIns="0" anchor="ctr"/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CEX-gen</a:t>
            </a:r>
            <a:endParaRPr lang="en-US" altLang="en-US" sz="2000" b="1" i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4586" name="Straight Arrow Connector 8">
            <a:extLst>
              <a:ext uri="{FF2B5EF4-FFF2-40B4-BE49-F238E27FC236}">
                <a16:creationId xmlns:a16="http://schemas.microsoft.com/office/drawing/2014/main" id="{5D8BA5CE-BB11-BDDC-7D23-3A5EAA77F879}"/>
              </a:ext>
            </a:extLst>
          </p:cNvPr>
          <p:cNvCxnSpPr>
            <a:cxnSpLocks noChangeShapeType="1"/>
            <a:stCxn id="24581" idx="3"/>
            <a:endCxn id="24582" idx="1"/>
          </p:cNvCxnSpPr>
          <p:nvPr/>
        </p:nvCxnSpPr>
        <p:spPr bwMode="auto">
          <a:xfrm>
            <a:off x="4267200" y="2514600"/>
            <a:ext cx="15240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7" name="Straight Arrow Connector 14">
            <a:extLst>
              <a:ext uri="{FF2B5EF4-FFF2-40B4-BE49-F238E27FC236}">
                <a16:creationId xmlns:a16="http://schemas.microsoft.com/office/drawing/2014/main" id="{3BDB6A54-D366-A814-8B24-B012B9D5B087}"/>
              </a:ext>
            </a:extLst>
          </p:cNvPr>
          <p:cNvCxnSpPr>
            <a:cxnSpLocks noChangeShapeType="1"/>
            <a:stCxn id="24582" idx="2"/>
            <a:endCxn id="24583" idx="0"/>
          </p:cNvCxnSpPr>
          <p:nvPr/>
        </p:nvCxnSpPr>
        <p:spPr bwMode="auto">
          <a:xfrm>
            <a:off x="6781800" y="2895600"/>
            <a:ext cx="0" cy="91440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8" name="Straight Arrow Connector 13">
            <a:extLst>
              <a:ext uri="{FF2B5EF4-FFF2-40B4-BE49-F238E27FC236}">
                <a16:creationId xmlns:a16="http://schemas.microsoft.com/office/drawing/2014/main" id="{CAA5BFF7-B3E5-65F5-A1C8-6B3D4B40613A}"/>
              </a:ext>
            </a:extLst>
          </p:cNvPr>
          <p:cNvCxnSpPr>
            <a:cxnSpLocks noChangeShapeType="1"/>
            <a:stCxn id="24583" idx="1"/>
            <a:endCxn id="24584" idx="3"/>
          </p:cNvCxnSpPr>
          <p:nvPr/>
        </p:nvCxnSpPr>
        <p:spPr bwMode="auto">
          <a:xfrm flipH="1">
            <a:off x="4343400" y="4114800"/>
            <a:ext cx="1676400" cy="0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89" name="Straight Arrow Connector 16">
            <a:extLst>
              <a:ext uri="{FF2B5EF4-FFF2-40B4-BE49-F238E27FC236}">
                <a16:creationId xmlns:a16="http://schemas.microsoft.com/office/drawing/2014/main" id="{4C8B4CEE-3358-1C95-48A5-0601B7372911}"/>
              </a:ext>
            </a:extLst>
          </p:cNvPr>
          <p:cNvCxnSpPr>
            <a:cxnSpLocks noChangeShapeType="1"/>
            <a:stCxn id="24584" idx="2"/>
            <a:endCxn id="24585" idx="0"/>
          </p:cNvCxnSpPr>
          <p:nvPr/>
        </p:nvCxnSpPr>
        <p:spPr bwMode="auto">
          <a:xfrm rot="5400000">
            <a:off x="3200401" y="4876800"/>
            <a:ext cx="914400" cy="3175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0" name="Straight Arrow Connector 36">
            <a:extLst>
              <a:ext uri="{FF2B5EF4-FFF2-40B4-BE49-F238E27FC236}">
                <a16:creationId xmlns:a16="http://schemas.microsoft.com/office/drawing/2014/main" id="{829C4837-E1DB-32ED-261E-B64AF3528C33}"/>
              </a:ext>
            </a:extLst>
          </p:cNvPr>
          <p:cNvCxnSpPr>
            <a:cxnSpLocks noChangeShapeType="1"/>
            <a:endCxn id="24581" idx="1"/>
          </p:cNvCxnSpPr>
          <p:nvPr/>
        </p:nvCxnSpPr>
        <p:spPr bwMode="auto">
          <a:xfrm>
            <a:off x="1524000" y="2514600"/>
            <a:ext cx="15240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1" name="TextBox 37">
            <a:extLst>
              <a:ext uri="{FF2B5EF4-FFF2-40B4-BE49-F238E27FC236}">
                <a16:creationId xmlns:a16="http://schemas.microsoft.com/office/drawing/2014/main" id="{2A0A231C-D3D0-A5B4-0A0E-21D5ECBB42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2133600"/>
            <a:ext cx="14239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0">
                <a:latin typeface="Arial" panose="020B0604020202020204" pitchFamily="34" charset="0"/>
                <a:cs typeface="Arial" panose="020B0604020202020204" pitchFamily="34" charset="0"/>
              </a:rPr>
              <a:t>C Program</a:t>
            </a:r>
          </a:p>
        </p:txBody>
      </p:sp>
      <p:sp>
        <p:nvSpPr>
          <p:cNvPr id="24592" name="TextBox 38">
            <a:extLst>
              <a:ext uri="{FF2B5EF4-FFF2-40B4-BE49-F238E27FC236}">
                <a16:creationId xmlns:a16="http://schemas.microsoft.com/office/drawing/2014/main" id="{1EC595EC-0699-166E-4450-38D985A740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0600" y="3505200"/>
            <a:ext cx="854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0">
                <a:latin typeface="Arial" panose="020B0604020202020204" pitchFamily="34" charset="0"/>
                <a:cs typeface="Arial" panose="020B0604020202020204" pitchFamily="34" charset="0"/>
              </a:rPr>
              <a:t>SAFE</a:t>
            </a:r>
          </a:p>
        </p:txBody>
      </p:sp>
      <p:cxnSp>
        <p:nvCxnSpPr>
          <p:cNvPr id="24593" name="Straight Arrow Connector 47">
            <a:extLst>
              <a:ext uri="{FF2B5EF4-FFF2-40B4-BE49-F238E27FC236}">
                <a16:creationId xmlns:a16="http://schemas.microsoft.com/office/drawing/2014/main" id="{CF7B3104-DC28-8600-1B04-1C58FF1B6E80}"/>
              </a:ext>
            </a:extLst>
          </p:cNvPr>
          <p:cNvCxnSpPr>
            <a:cxnSpLocks noChangeShapeType="1"/>
            <a:stCxn id="24584" idx="1"/>
          </p:cNvCxnSpPr>
          <p:nvPr/>
        </p:nvCxnSpPr>
        <p:spPr bwMode="auto">
          <a:xfrm rot="10800000">
            <a:off x="1295400" y="4114800"/>
            <a:ext cx="16764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594" name="Straight Arrow Connector 49">
            <a:extLst>
              <a:ext uri="{FF2B5EF4-FFF2-40B4-BE49-F238E27FC236}">
                <a16:creationId xmlns:a16="http://schemas.microsoft.com/office/drawing/2014/main" id="{32089307-3BF9-24E3-0564-B4F8973FFB07}"/>
              </a:ext>
            </a:extLst>
          </p:cNvPr>
          <p:cNvCxnSpPr>
            <a:cxnSpLocks noChangeShapeType="1"/>
            <a:stCxn id="24585" idx="1"/>
          </p:cNvCxnSpPr>
          <p:nvPr/>
        </p:nvCxnSpPr>
        <p:spPr bwMode="auto">
          <a:xfrm rot="10800000">
            <a:off x="1295400" y="5638800"/>
            <a:ext cx="1600200" cy="1588"/>
          </a:xfrm>
          <a:prstGeom prst="straightConnector1">
            <a:avLst/>
          </a:prstGeom>
          <a:noFill/>
          <a:ln w="38100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4595" name="TextBox 50">
            <a:extLst>
              <a:ext uri="{FF2B5EF4-FFF2-40B4-BE49-F238E27FC236}">
                <a16:creationId xmlns:a16="http://schemas.microsoft.com/office/drawing/2014/main" id="{7F2B3996-B270-FF7C-D2EE-6E16C0426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5105400"/>
            <a:ext cx="21066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0">
                <a:latin typeface="Arial" panose="020B0604020202020204" pitchFamily="34" charset="0"/>
                <a:cs typeface="Arial" panose="020B0604020202020204" pitchFamily="34" charset="0"/>
              </a:rPr>
              <a:t>UNSAFE + CEX</a:t>
            </a:r>
          </a:p>
        </p:txBody>
      </p:sp>
      <p:sp>
        <p:nvSpPr>
          <p:cNvPr id="24596" name="TextBox 19">
            <a:extLst>
              <a:ext uri="{FF2B5EF4-FFF2-40B4-BE49-F238E27FC236}">
                <a16:creationId xmlns:a16="http://schemas.microsoft.com/office/drawing/2014/main" id="{42F2AA74-42C2-FE38-0523-852376F388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38550" y="4608513"/>
            <a:ext cx="1143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  <a:t>SAT</a:t>
            </a:r>
          </a:p>
        </p:txBody>
      </p:sp>
      <p:sp>
        <p:nvSpPr>
          <p:cNvPr id="24597" name="TextBox 20">
            <a:extLst>
              <a:ext uri="{FF2B5EF4-FFF2-40B4-BE49-F238E27FC236}">
                <a16:creationId xmlns:a16="http://schemas.microsoft.com/office/drawing/2014/main" id="{2A344E0D-0D7D-C1E8-B2E4-31B7FFF572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3797300"/>
            <a:ext cx="11430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  <a:t>UNSAT</a:t>
            </a:r>
          </a:p>
        </p:txBody>
      </p:sp>
      <p:sp>
        <p:nvSpPr>
          <p:cNvPr id="24598" name="TextBox 21">
            <a:extLst>
              <a:ext uri="{FF2B5EF4-FFF2-40B4-BE49-F238E27FC236}">
                <a16:creationId xmlns:a16="http://schemas.microsoft.com/office/drawing/2014/main" id="{F4F2A7FD-F095-4DB1-7D66-F47B779074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48200" y="3810000"/>
            <a:ext cx="1371600" cy="66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  <a:t>CNF</a:t>
            </a:r>
          </a:p>
          <a:p>
            <a:pPr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  <a:t>(bit blasting)</a:t>
            </a:r>
          </a:p>
        </p:txBody>
      </p:sp>
      <p:sp>
        <p:nvSpPr>
          <p:cNvPr id="24599" name="TextBox 22">
            <a:extLst>
              <a:ext uri="{FF2B5EF4-FFF2-40B4-BE49-F238E27FC236}">
                <a16:creationId xmlns:a16="http://schemas.microsoft.com/office/drawing/2014/main" id="{5F6D1E2E-BA83-D878-5030-BA110BCDE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1930400"/>
            <a:ext cx="1447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  <a:t>intermediate program</a:t>
            </a:r>
          </a:p>
        </p:txBody>
      </p:sp>
      <p:sp>
        <p:nvSpPr>
          <p:cNvPr id="24600" name="TextBox 23">
            <a:extLst>
              <a:ext uri="{FF2B5EF4-FFF2-40B4-BE49-F238E27FC236}">
                <a16:creationId xmlns:a16="http://schemas.microsoft.com/office/drawing/2014/main" id="{9BEBBA8B-B6AE-6316-2CCF-A6FF9FA1C5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0" y="2971800"/>
            <a:ext cx="16764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  <a:t>equations</a:t>
            </a:r>
            <a:b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  <a:t>(path and safety</a:t>
            </a:r>
            <a:b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en-US" sz="1600" i="0">
                <a:latin typeface="Arial" panose="020B0604020202020204" pitchFamily="34" charset="0"/>
                <a:cs typeface="Arial" panose="020B0604020202020204" pitchFamily="34" charset="0"/>
              </a:rPr>
              <a:t> conditions)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375AF26-A96A-A1D8-CA01-7EFCC7073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SAT/SMT-based BMC tools for C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118C4CF9-8EB6-D3BE-E76A-54472A053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143000"/>
            <a:ext cx="8763000" cy="5410200"/>
          </a:xfrm>
        </p:spPr>
        <p:txBody>
          <a:bodyPr/>
          <a:lstStyle/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GB" altLang="en-US" sz="2800" b="1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General approach: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lang="en-GB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Simplify control flow 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lang="en-GB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Unwind all of the loops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lang="en-GB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 into single static assignment (SSA) form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lang="en-GB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 into equations and simplify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lang="en-GB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(Bit-blast)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lang="en-GB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Solve with a SAT/SMT solver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AutoNum type="arabicPeriod"/>
            </a:pPr>
            <a:r>
              <a:rPr lang="en-GB" altLang="en-US" sz="2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Convert SAT assignment into a counterexample</a:t>
            </a:r>
          </a:p>
          <a:p>
            <a:pPr marL="0" indent="0" eaLnBrk="1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</a:pPr>
            <a:endParaRPr lang="en-GB" altLang="en-US" sz="280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586323F-435B-03DF-BB5F-E68C6F148F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Control flow simplifications</a:t>
            </a:r>
          </a:p>
        </p:txBody>
      </p:sp>
      <p:sp>
        <p:nvSpPr>
          <p:cNvPr id="30723" name="TextBox 6">
            <a:extLst>
              <a:ext uri="{FF2B5EF4-FFF2-40B4-BE49-F238E27FC236}">
                <a16:creationId xmlns:a16="http://schemas.microsoft.com/office/drawing/2014/main" id="{0F920C05-019D-485A-7278-6641BA98B2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225" y="1828800"/>
            <a:ext cx="4354513" cy="4156075"/>
          </a:xfrm>
          <a:prstGeom prst="rect">
            <a:avLst/>
          </a:prstGeom>
          <a:solidFill>
            <a:srgbClr val="FFFF00">
              <a:alpha val="25098"/>
            </a:srgbClr>
          </a:solidFill>
          <a:ln w="317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main (c::main):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   int i;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   int j;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   i = 0;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 1: IF !(i &lt; 6) THEN GOTO 2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   j = i;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   i = i + 1;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 GOTO 1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 2:   ASSERT j == i 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 RETURN: j</a:t>
            </a:r>
            <a:b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400" i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       END_FUNCTION</a:t>
            </a:r>
          </a:p>
        </p:txBody>
      </p:sp>
      <p:sp>
        <p:nvSpPr>
          <p:cNvPr id="30724" name="TextBox 7">
            <a:extLst>
              <a:ext uri="{FF2B5EF4-FFF2-40B4-BE49-F238E27FC236}">
                <a16:creationId xmlns:a16="http://schemas.microsoft.com/office/drawing/2014/main" id="{DC1A25DE-03CB-1681-425D-C5BB95D943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05400" y="1676400"/>
            <a:ext cx="3248025" cy="37861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GB" altLang="en-US"/>
              <a:t>C := i</a:t>
            </a:r>
            <a:r>
              <a:rPr lang="en-GB" altLang="en-US" baseline="-25000"/>
              <a:t>1 </a:t>
            </a:r>
            <a:r>
              <a:rPr lang="en-GB" altLang="en-US"/>
              <a:t>= 0 </a:t>
            </a:r>
            <a:r>
              <a:rPr lang="en-GB" altLang="en-US">
                <a:sym typeface="Symbol" pitchFamily="2" charset="2"/>
              </a:rPr>
              <a:t> </a:t>
            </a:r>
          </a:p>
          <a:p>
            <a:r>
              <a:rPr lang="en-GB" altLang="en-US">
                <a:sym typeface="Symbol" pitchFamily="2" charset="2"/>
              </a:rPr>
              <a:t>g1 = (i</a:t>
            </a:r>
            <a:r>
              <a:rPr lang="en-GB" altLang="en-US" baseline="-25000">
                <a:sym typeface="Symbol" pitchFamily="2" charset="2"/>
              </a:rPr>
              <a:t>1</a:t>
            </a:r>
            <a:r>
              <a:rPr lang="en-GB" altLang="en-US">
                <a:sym typeface="Symbol" pitchFamily="2" charset="2"/>
              </a:rPr>
              <a:t>&gt;=6) ? true : false </a:t>
            </a:r>
          </a:p>
          <a:p>
            <a:r>
              <a:rPr lang="en-GB" altLang="en-US">
                <a:sym typeface="Symbol" pitchFamily="2" charset="2"/>
              </a:rPr>
              <a:t>j</a:t>
            </a:r>
            <a:r>
              <a:rPr lang="en-GB" altLang="en-US" baseline="-25000">
                <a:sym typeface="Symbol" pitchFamily="2" charset="2"/>
              </a:rPr>
              <a:t>1</a:t>
            </a:r>
            <a:r>
              <a:rPr lang="en-GB" altLang="en-US">
                <a:sym typeface="Symbol" pitchFamily="2" charset="2"/>
              </a:rPr>
              <a:t> = g</a:t>
            </a:r>
            <a:r>
              <a:rPr lang="en-GB" altLang="en-US" baseline="-25000">
                <a:sym typeface="Symbol" pitchFamily="2" charset="2"/>
              </a:rPr>
              <a:t>1</a:t>
            </a:r>
            <a:r>
              <a:rPr lang="en-GB" altLang="en-US">
                <a:sym typeface="Symbol" pitchFamily="2" charset="2"/>
              </a:rPr>
              <a:t> ? j</a:t>
            </a:r>
            <a:r>
              <a:rPr lang="en-GB" altLang="en-US" baseline="-25000">
                <a:sym typeface="Symbol" pitchFamily="2" charset="2"/>
              </a:rPr>
              <a:t>0</a:t>
            </a:r>
            <a:r>
              <a:rPr lang="en-GB" altLang="en-US">
                <a:sym typeface="Symbol" pitchFamily="2" charset="2"/>
              </a:rPr>
              <a:t> : i</a:t>
            </a:r>
            <a:r>
              <a:rPr lang="en-GB" altLang="en-US" baseline="-25000">
                <a:sym typeface="Symbol" pitchFamily="2" charset="2"/>
              </a:rPr>
              <a:t>1</a:t>
            </a:r>
            <a:r>
              <a:rPr lang="en-GB" altLang="en-US">
                <a:sym typeface="Symbol" pitchFamily="2" charset="2"/>
              </a:rPr>
              <a:t> </a:t>
            </a:r>
          </a:p>
          <a:p>
            <a:r>
              <a:rPr lang="en-GB" altLang="en-US">
                <a:sym typeface="Symbol" pitchFamily="2" charset="2"/>
              </a:rPr>
              <a:t>i</a:t>
            </a:r>
            <a:r>
              <a:rPr lang="en-GB" altLang="en-US" baseline="-25000">
                <a:sym typeface="Symbol" pitchFamily="2" charset="2"/>
              </a:rPr>
              <a:t>2</a:t>
            </a:r>
            <a:r>
              <a:rPr lang="en-GB" altLang="en-US">
                <a:sym typeface="Symbol" pitchFamily="2" charset="2"/>
              </a:rPr>
              <a:t> = g</a:t>
            </a:r>
            <a:r>
              <a:rPr lang="en-GB" altLang="en-US" baseline="-25000">
                <a:sym typeface="Symbol" pitchFamily="2" charset="2"/>
              </a:rPr>
              <a:t>1</a:t>
            </a:r>
            <a:r>
              <a:rPr lang="en-GB" altLang="en-US">
                <a:sym typeface="Symbol" pitchFamily="2" charset="2"/>
              </a:rPr>
              <a:t> ? i</a:t>
            </a:r>
            <a:r>
              <a:rPr lang="en-GB" altLang="en-US" baseline="-25000">
                <a:sym typeface="Symbol" pitchFamily="2" charset="2"/>
              </a:rPr>
              <a:t>1</a:t>
            </a:r>
            <a:r>
              <a:rPr lang="en-GB" altLang="en-US">
                <a:sym typeface="Symbol" pitchFamily="2" charset="2"/>
              </a:rPr>
              <a:t> + 1 </a:t>
            </a:r>
          </a:p>
          <a:p>
            <a:r>
              <a:rPr lang="en-GB" altLang="en-US">
                <a:sym typeface="Symbol" pitchFamily="2" charset="2"/>
              </a:rPr>
              <a:t>g</a:t>
            </a:r>
            <a:r>
              <a:rPr lang="en-GB" altLang="en-US" baseline="-25000">
                <a:sym typeface="Symbol" pitchFamily="2" charset="2"/>
              </a:rPr>
              <a:t>2</a:t>
            </a:r>
            <a:r>
              <a:rPr lang="en-GB" altLang="en-US">
                <a:sym typeface="Symbol" pitchFamily="2" charset="2"/>
              </a:rPr>
              <a:t> = (i</a:t>
            </a:r>
            <a:r>
              <a:rPr lang="en-GB" altLang="en-US" baseline="-25000">
                <a:sym typeface="Symbol" pitchFamily="2" charset="2"/>
              </a:rPr>
              <a:t>2</a:t>
            </a:r>
            <a:r>
              <a:rPr lang="en-GB" altLang="en-US">
                <a:sym typeface="Symbol" pitchFamily="2" charset="2"/>
              </a:rPr>
              <a:t> &gt;=6) ? true : false </a:t>
            </a:r>
          </a:p>
          <a:p>
            <a:r>
              <a:rPr lang="en-GB" altLang="en-US">
                <a:sym typeface="Symbol" pitchFamily="2" charset="2"/>
              </a:rPr>
              <a:t>j</a:t>
            </a:r>
            <a:r>
              <a:rPr lang="en-GB" altLang="en-US" baseline="-25000">
                <a:sym typeface="Symbol" pitchFamily="2" charset="2"/>
              </a:rPr>
              <a:t>2</a:t>
            </a:r>
            <a:r>
              <a:rPr lang="en-GB" altLang="en-US">
                <a:sym typeface="Symbol" pitchFamily="2" charset="2"/>
              </a:rPr>
              <a:t> = g</a:t>
            </a:r>
            <a:r>
              <a:rPr lang="en-GB" altLang="en-US" baseline="-25000">
                <a:sym typeface="Symbol" pitchFamily="2" charset="2"/>
              </a:rPr>
              <a:t>2</a:t>
            </a:r>
            <a:r>
              <a:rPr lang="en-GB" altLang="en-US">
                <a:sym typeface="Symbol" pitchFamily="2" charset="2"/>
              </a:rPr>
              <a:t> ? j</a:t>
            </a:r>
            <a:r>
              <a:rPr lang="en-GB" altLang="en-US" baseline="-25000">
                <a:sym typeface="Symbol" pitchFamily="2" charset="2"/>
              </a:rPr>
              <a:t>1</a:t>
            </a:r>
            <a:r>
              <a:rPr lang="en-GB" altLang="en-US">
                <a:sym typeface="Symbol" pitchFamily="2" charset="2"/>
              </a:rPr>
              <a:t> : i</a:t>
            </a:r>
            <a:r>
              <a:rPr lang="en-GB" altLang="en-US" baseline="-25000">
                <a:sym typeface="Symbol" pitchFamily="2" charset="2"/>
              </a:rPr>
              <a:t>2</a:t>
            </a:r>
            <a:r>
              <a:rPr lang="en-GB" altLang="en-US">
                <a:sym typeface="Symbol" pitchFamily="2" charset="2"/>
              </a:rPr>
              <a:t> </a:t>
            </a:r>
          </a:p>
          <a:p>
            <a:r>
              <a:rPr lang="en-GB" altLang="en-US">
                <a:sym typeface="Symbol" pitchFamily="2" charset="2"/>
              </a:rPr>
              <a:t>i</a:t>
            </a:r>
            <a:r>
              <a:rPr lang="en-GB" altLang="en-US" baseline="-25000">
                <a:sym typeface="Symbol" pitchFamily="2" charset="2"/>
              </a:rPr>
              <a:t>2</a:t>
            </a:r>
            <a:r>
              <a:rPr lang="en-GB" altLang="en-US">
                <a:sym typeface="Symbol" pitchFamily="2" charset="2"/>
              </a:rPr>
              <a:t> = g</a:t>
            </a:r>
            <a:r>
              <a:rPr lang="en-GB" altLang="en-US" baseline="-25000">
                <a:sym typeface="Symbol" pitchFamily="2" charset="2"/>
              </a:rPr>
              <a:t>2</a:t>
            </a:r>
            <a:r>
              <a:rPr lang="en-GB" altLang="en-US">
                <a:sym typeface="Symbol" pitchFamily="2" charset="2"/>
              </a:rPr>
              <a:t> ? i</a:t>
            </a:r>
            <a:r>
              <a:rPr lang="en-GB" altLang="en-US" baseline="-25000">
                <a:sym typeface="Symbol" pitchFamily="2" charset="2"/>
              </a:rPr>
              <a:t>1</a:t>
            </a:r>
            <a:r>
              <a:rPr lang="en-GB" altLang="en-US">
                <a:sym typeface="Symbol" pitchFamily="2" charset="2"/>
              </a:rPr>
              <a:t> + 1 </a:t>
            </a:r>
          </a:p>
          <a:p>
            <a:r>
              <a:rPr lang="en-GB" altLang="en-US"/>
              <a:t>…</a:t>
            </a:r>
          </a:p>
          <a:p>
            <a:r>
              <a:rPr lang="en-GB" altLang="en-US">
                <a:sym typeface="Symbol" pitchFamily="2" charset="2"/>
              </a:rPr>
              <a:t>g</a:t>
            </a:r>
            <a:r>
              <a:rPr lang="en-GB" altLang="en-US" baseline="-25000">
                <a:sym typeface="Symbol" pitchFamily="2" charset="2"/>
              </a:rPr>
              <a:t>6</a:t>
            </a:r>
            <a:r>
              <a:rPr lang="en-GB" altLang="en-US">
                <a:sym typeface="Symbol" pitchFamily="2" charset="2"/>
              </a:rPr>
              <a:t> = (i</a:t>
            </a:r>
            <a:r>
              <a:rPr lang="en-GB" altLang="en-US" baseline="-25000">
                <a:sym typeface="Symbol" pitchFamily="2" charset="2"/>
              </a:rPr>
              <a:t>6</a:t>
            </a:r>
            <a:r>
              <a:rPr lang="en-GB" altLang="en-US">
                <a:sym typeface="Symbol" pitchFamily="2" charset="2"/>
              </a:rPr>
              <a:t> &gt;=6) ? true : false </a:t>
            </a:r>
          </a:p>
          <a:p>
            <a:r>
              <a:rPr lang="en-GB" altLang="en-US">
                <a:sym typeface="Symbol" pitchFamily="2" charset="2"/>
              </a:rPr>
              <a:t>j</a:t>
            </a:r>
            <a:r>
              <a:rPr lang="en-GB" altLang="en-US" baseline="-25000">
                <a:sym typeface="Symbol" pitchFamily="2" charset="2"/>
              </a:rPr>
              <a:t>6</a:t>
            </a:r>
            <a:r>
              <a:rPr lang="en-GB" altLang="en-US">
                <a:sym typeface="Symbol" pitchFamily="2" charset="2"/>
              </a:rPr>
              <a:t> = g</a:t>
            </a:r>
            <a:r>
              <a:rPr lang="en-GB" altLang="en-US" baseline="-25000">
                <a:sym typeface="Symbol" pitchFamily="2" charset="2"/>
              </a:rPr>
              <a:t>6</a:t>
            </a:r>
            <a:r>
              <a:rPr lang="en-GB" altLang="en-US">
                <a:sym typeface="Symbol" pitchFamily="2" charset="2"/>
              </a:rPr>
              <a:t> ? j</a:t>
            </a:r>
            <a:r>
              <a:rPr lang="en-GB" altLang="en-US" baseline="-25000">
                <a:sym typeface="Symbol" pitchFamily="2" charset="2"/>
              </a:rPr>
              <a:t>5</a:t>
            </a:r>
            <a:r>
              <a:rPr lang="en-GB" altLang="en-US">
                <a:sym typeface="Symbol" pitchFamily="2" charset="2"/>
              </a:rPr>
              <a:t> : i</a:t>
            </a:r>
            <a:r>
              <a:rPr lang="en-GB" altLang="en-US" baseline="-25000">
                <a:sym typeface="Symbol" pitchFamily="2" charset="2"/>
              </a:rPr>
              <a:t>6</a:t>
            </a:r>
            <a:r>
              <a:rPr lang="en-GB" altLang="en-US">
                <a:sym typeface="Symbol" pitchFamily="2" charset="2"/>
              </a:rPr>
              <a:t> </a:t>
            </a:r>
          </a:p>
          <a:p>
            <a:r>
              <a:rPr lang="en-GB" altLang="en-US">
                <a:sym typeface="Symbol" pitchFamily="2" charset="2"/>
              </a:rPr>
              <a:t>i</a:t>
            </a:r>
            <a:r>
              <a:rPr lang="en-GB" altLang="en-US" baseline="-25000">
                <a:sym typeface="Symbol" pitchFamily="2" charset="2"/>
              </a:rPr>
              <a:t>6</a:t>
            </a:r>
            <a:r>
              <a:rPr lang="en-GB" altLang="en-US">
                <a:sym typeface="Symbol" pitchFamily="2" charset="2"/>
              </a:rPr>
              <a:t> = g</a:t>
            </a:r>
            <a:r>
              <a:rPr lang="en-GB" altLang="en-US" baseline="-25000">
                <a:sym typeface="Symbol" pitchFamily="2" charset="2"/>
              </a:rPr>
              <a:t>6</a:t>
            </a:r>
            <a:r>
              <a:rPr lang="en-GB" altLang="en-US">
                <a:sym typeface="Symbol" pitchFamily="2" charset="2"/>
              </a:rPr>
              <a:t> ? i</a:t>
            </a:r>
            <a:r>
              <a:rPr lang="en-GB" altLang="en-US" baseline="-25000">
                <a:sym typeface="Symbol" pitchFamily="2" charset="2"/>
              </a:rPr>
              <a:t>5</a:t>
            </a:r>
            <a:r>
              <a:rPr lang="en-GB" altLang="en-US">
                <a:sym typeface="Symbol" pitchFamily="2" charset="2"/>
              </a:rPr>
              <a:t> + 1 </a:t>
            </a:r>
          </a:p>
          <a:p>
            <a:r>
              <a:rPr lang="en-GB" altLang="en-US"/>
              <a:t>return</a:t>
            </a:r>
            <a:r>
              <a:rPr lang="en-GB" altLang="en-US" baseline="-25000"/>
              <a:t>1</a:t>
            </a:r>
            <a:r>
              <a:rPr lang="en-GB" altLang="en-US"/>
              <a:t> = j</a:t>
            </a:r>
            <a:r>
              <a:rPr lang="en-GB" altLang="en-US" baseline="-25000"/>
              <a:t>6</a:t>
            </a:r>
          </a:p>
        </p:txBody>
      </p:sp>
      <p:sp>
        <p:nvSpPr>
          <p:cNvPr id="30725" name="TextBox 8">
            <a:extLst>
              <a:ext uri="{FF2B5EF4-FFF2-40B4-BE49-F238E27FC236}">
                <a16:creationId xmlns:a16="http://schemas.microsoft.com/office/drawing/2014/main" id="{91CA3D3E-F0E5-83D1-AFF7-677484D99B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1600" y="5867400"/>
            <a:ext cx="1620838" cy="4000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GB" altLang="en-US"/>
              <a:t>P := (j</a:t>
            </a:r>
            <a:r>
              <a:rPr lang="en-GB" altLang="en-US" baseline="-25000"/>
              <a:t>6</a:t>
            </a:r>
            <a:r>
              <a:rPr lang="en-GB" altLang="en-US"/>
              <a:t> == i</a:t>
            </a:r>
            <a:r>
              <a:rPr lang="en-GB" altLang="en-US" baseline="-25000"/>
              <a:t>6</a:t>
            </a:r>
            <a:r>
              <a:rPr lang="en-GB" altLang="en-US"/>
              <a:t>)</a:t>
            </a:r>
            <a:endParaRPr lang="en-GB" altLang="en-US" baseline="-25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57051B2-7443-AA95-1460-7CBE4AAAF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719137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Loop unwinding</a:t>
            </a:r>
          </a:p>
        </p:txBody>
      </p:sp>
      <p:sp>
        <p:nvSpPr>
          <p:cNvPr id="28" name="AutoShape 4">
            <a:extLst>
              <a:ext uri="{FF2B5EF4-FFF2-40B4-BE49-F238E27FC236}">
                <a16:creationId xmlns:a16="http://schemas.microsoft.com/office/drawing/2014/main" id="{0F4C42D7-92CD-82D6-48DC-B310B01E0B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4343400" cy="5040313"/>
          </a:xfrm>
          <a:prstGeom prst="foldedCorner">
            <a:avLst>
              <a:gd name="adj" fmla="val 6157"/>
            </a:avLst>
          </a:prstGeom>
          <a:solidFill>
            <a:srgbClr val="FFFFCC"/>
          </a:solidFill>
          <a:ln w="317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0488" tIns="44450" rIns="90488" bIns="4445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void f(...)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if(</a:t>
            </a:r>
            <a:r>
              <a:rPr lang="en-US" b="1" i="0" kern="0" noProof="1">
                <a:solidFill>
                  <a:srgbClr val="009999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cond</a:t>
            </a: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</a:t>
            </a:r>
            <a:r>
              <a:rPr lang="en-US" b="1" i="0" kern="0" noProof="1">
                <a:solidFill>
                  <a:srgbClr val="33CC33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Body;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rgbClr val="33CC33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Lucida Sans Typewriter" pitchFamily="49" charset="0"/>
                <a:ea typeface="ＭＳ Ｐゴシック" charset="0"/>
                <a:cs typeface="ＭＳ Ｐゴシック" charset="0"/>
              </a:rPr>
              <a:t>    </a:t>
            </a: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if(</a:t>
            </a:r>
            <a:r>
              <a:rPr lang="en-US" b="1" i="0" kern="0" noProof="1">
                <a:solidFill>
                  <a:srgbClr val="009999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cond</a:t>
            </a: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  </a:t>
            </a:r>
            <a:r>
              <a:rPr lang="en-US" b="1" i="0" kern="0" noProof="1">
                <a:solidFill>
                  <a:srgbClr val="33CC33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Body;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  if(</a:t>
            </a:r>
            <a:r>
              <a:rPr lang="en-US" b="1" i="0" kern="0" noProof="1">
                <a:solidFill>
                  <a:srgbClr val="009999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cond</a:t>
            </a: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effectLst>
                  <a:outerShdw blurRad="38100" dist="38100" dir="2700000" algn="tl">
                    <a:srgbClr val="FFFFFF"/>
                  </a:outerShdw>
                </a:effectLst>
                <a:latin typeface="Lucida Sans Typewriter" pitchFamily="49" charset="0"/>
                <a:ea typeface="ＭＳ Ｐゴシック" charset="0"/>
                <a:cs typeface="ＭＳ Ｐゴシック" charset="0"/>
              </a:rPr>
              <a:t>        </a:t>
            </a:r>
            <a:r>
              <a:rPr lang="en-US" b="1" i="0" kern="0" noProof="1">
                <a:solidFill>
                  <a:srgbClr val="33CC33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Body;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    assert(</a:t>
            </a:r>
            <a:r>
              <a:rPr lang="en-US" b="1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!</a:t>
            </a:r>
            <a:r>
              <a:rPr lang="en-US" b="1" i="0" kern="0" noProof="1">
                <a:solidFill>
                  <a:srgbClr val="009999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cond</a:t>
            </a: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endParaRPr lang="en-US" i="0" kern="0" noProof="1">
              <a:solidFill>
                <a:sysClr val="windowText" lastClr="000000"/>
              </a:solidFill>
              <a:latin typeface="Lucida Sans Typewriter" pitchFamily="49" charset="0"/>
              <a:ea typeface="ＭＳ Ｐゴシック" charset="0"/>
              <a:cs typeface="ＭＳ Ｐゴシック" charset="0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    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  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}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Remainder;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29" name="AutoShape 5">
            <a:extLst>
              <a:ext uri="{FF2B5EF4-FFF2-40B4-BE49-F238E27FC236}">
                <a16:creationId xmlns:a16="http://schemas.microsoft.com/office/drawing/2014/main" id="{483F8711-2E83-9041-4A4E-9854060F4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0" y="4430713"/>
            <a:ext cx="2895600" cy="1219200"/>
          </a:xfrm>
          <a:prstGeom prst="wedgeEllipseCallout">
            <a:avLst>
              <a:gd name="adj1" fmla="val -34912"/>
              <a:gd name="adj2" fmla="val -95685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74997"/>
              </a:srgbClr>
            </a:outerShdw>
          </a:effectLst>
        </p:spPr>
        <p:txBody>
          <a:bodyPr lIns="90488" tIns="44450" rIns="90488" bIns="44450"/>
          <a:lstStyle/>
          <a:p>
            <a: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charset="0"/>
              <a:buNone/>
              <a:defRPr/>
            </a:pPr>
            <a:r>
              <a:rPr lang="en-US" sz="2800" i="0" kern="0" dirty="0">
                <a:solidFill>
                  <a:sysClr val="windowText" lastClr="000000"/>
                </a:solidFill>
                <a:latin typeface="Arial"/>
                <a:ea typeface="MS PGothic" charset="0"/>
                <a:cs typeface="MS PGothic" charset="0"/>
              </a:rPr>
              <a:t>unwinding</a:t>
            </a:r>
            <a:br>
              <a:rPr lang="en-US" sz="2800" i="0" kern="0" dirty="0">
                <a:solidFill>
                  <a:sysClr val="windowText" lastClr="000000"/>
                </a:solidFill>
                <a:latin typeface="Arial"/>
                <a:ea typeface="MS PGothic" charset="0"/>
                <a:cs typeface="MS PGothic" charset="0"/>
              </a:rPr>
            </a:br>
            <a:r>
              <a:rPr lang="en-US" sz="2800" i="0" kern="0" dirty="0">
                <a:solidFill>
                  <a:sysClr val="windowText" lastClr="000000"/>
                </a:solidFill>
                <a:latin typeface="Arial"/>
                <a:ea typeface="MS PGothic" charset="0"/>
                <a:cs typeface="MS PGothic" charset="0"/>
              </a:rPr>
              <a:t>assertion</a:t>
            </a:r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A8548E16-3B39-6E97-4327-617E891FE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62200" y="1077913"/>
            <a:ext cx="2895600" cy="1143000"/>
          </a:xfrm>
          <a:prstGeom prst="wedgeEllipseCallout">
            <a:avLst>
              <a:gd name="adj1" fmla="val -64579"/>
              <a:gd name="adj2" fmla="val 47866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74997"/>
              </a:srgbClr>
            </a:outerShdw>
          </a:effectLst>
        </p:spPr>
        <p:txBody>
          <a:bodyPr lIns="90488" tIns="44450" rIns="90488" bIns="44450"/>
          <a:lstStyle/>
          <a:p>
            <a: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charset="0"/>
              <a:buNone/>
              <a:defRPr/>
            </a:pPr>
            <a:r>
              <a:rPr lang="en-US" sz="2800" i="0" kern="0" dirty="0">
                <a:solidFill>
                  <a:sysClr val="windowText" lastClr="000000"/>
                </a:solidFill>
                <a:latin typeface="Arial"/>
                <a:ea typeface="MS PGothic" charset="0"/>
                <a:cs typeface="MS PGothic" charset="0"/>
              </a:rPr>
              <a:t>unwind one iteration</a:t>
            </a:r>
          </a:p>
        </p:txBody>
      </p:sp>
      <p:sp>
        <p:nvSpPr>
          <p:cNvPr id="31" name="AutoShape 5">
            <a:extLst>
              <a:ext uri="{FF2B5EF4-FFF2-40B4-BE49-F238E27FC236}">
                <a16:creationId xmlns:a16="http://schemas.microsoft.com/office/drawing/2014/main" id="{6852D6F5-B016-D51B-B42F-4BF0D2A02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1687513"/>
            <a:ext cx="2895600" cy="1143000"/>
          </a:xfrm>
          <a:prstGeom prst="wedgeEllipseCallout">
            <a:avLst>
              <a:gd name="adj1" fmla="val -64579"/>
              <a:gd name="adj2" fmla="val 47866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74997"/>
              </a:srgbClr>
            </a:outerShdw>
          </a:effectLst>
        </p:spPr>
        <p:txBody>
          <a:bodyPr lIns="90488" tIns="44450" rIns="90488" bIns="44450"/>
          <a:lstStyle/>
          <a:p>
            <a:pPr eaLnBrk="1" fontAlgn="auto" hangingPunct="1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charset="0"/>
              <a:buNone/>
              <a:defRPr/>
            </a:pPr>
            <a:r>
              <a:rPr lang="en-US" sz="2800" i="0" kern="0" dirty="0">
                <a:solidFill>
                  <a:sysClr val="windowText" lastClr="000000"/>
                </a:solidFill>
                <a:latin typeface="Arial"/>
                <a:ea typeface="MS PGothic" charset="0"/>
                <a:cs typeface="MS PGothic" charset="0"/>
              </a:rPr>
              <a:t>unwind one iteration</a:t>
            </a:r>
          </a:p>
        </p:txBody>
      </p:sp>
      <p:sp>
        <p:nvSpPr>
          <p:cNvPr id="37895" name="AutoShape 5">
            <a:extLst>
              <a:ext uri="{FF2B5EF4-FFF2-40B4-BE49-F238E27FC236}">
                <a16:creationId xmlns:a16="http://schemas.microsoft.com/office/drawing/2014/main" id="{98B0DEE0-E9DF-2668-EC58-560C9C25A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2286000"/>
            <a:ext cx="2895600" cy="1143000"/>
          </a:xfrm>
          <a:prstGeom prst="wedgeEllipseCallout">
            <a:avLst>
              <a:gd name="adj1" fmla="val -64579"/>
              <a:gd name="adj2" fmla="val 47866"/>
            </a:avLst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74997"/>
              </a:srgbClr>
            </a:outerShdw>
          </a:effectLst>
        </p:spPr>
        <p:txBody>
          <a:bodyPr lIns="90488" tIns="44450" rIns="90488" bIns="44450"/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eaLnBrk="1" hangingPunct="1">
              <a:lnSpc>
                <a:spcPct val="93000"/>
              </a:lnSpc>
              <a:spcBef>
                <a:spcPct val="0"/>
              </a:spcBef>
              <a:buClr>
                <a:srgbClr val="009999"/>
              </a:buClr>
              <a:buSzTx/>
              <a:buFont typeface="Wingdings" pitchFamily="2" charset="2"/>
              <a:buNone/>
            </a:pPr>
            <a:r>
              <a:rPr lang="en-US" altLang="en-US" sz="2800" i="0">
                <a:solidFill>
                  <a:srgbClr val="000000"/>
                </a:solidFill>
                <a:latin typeface="Arial" panose="020B0604020202020204" pitchFamily="34" charset="0"/>
              </a:rPr>
              <a:t>unwind one iteration…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CDC2B839-C10A-0D7A-2EFD-67397C0054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990600"/>
            <a:ext cx="4114800" cy="5410200"/>
          </a:xfrm>
        </p:spPr>
        <p:txBody>
          <a:bodyPr/>
          <a:lstStyle/>
          <a:p>
            <a:pPr>
              <a:buClrTx/>
              <a:defRPr/>
            </a:pPr>
            <a:r>
              <a:rPr lang="en-US" sz="2800" dirty="0">
                <a:latin typeface="Arial"/>
                <a:ea typeface="+mn-ea"/>
                <a:cs typeface="Arial"/>
              </a:rPr>
              <a:t>unwinding assertion</a:t>
            </a:r>
          </a:p>
          <a:p>
            <a:pPr lvl="1">
              <a:buClrTx/>
              <a:buFont typeface="Wingdings" charset="0"/>
              <a:buChar char="§"/>
              <a:defRPr/>
            </a:pPr>
            <a:r>
              <a:rPr lang="en-US" sz="2400" dirty="0">
                <a:latin typeface="Arial"/>
                <a:ea typeface="+mn-ea"/>
                <a:cs typeface="Arial"/>
              </a:rPr>
              <a:t>inserted after last unwound iteration</a:t>
            </a:r>
          </a:p>
          <a:p>
            <a:pPr lvl="1">
              <a:buClrTx/>
              <a:buFont typeface="Wingdings" charset="0"/>
              <a:buChar char="§"/>
              <a:defRPr/>
            </a:pPr>
            <a:r>
              <a:rPr lang="en-US" sz="2400" dirty="0">
                <a:latin typeface="Arial"/>
                <a:ea typeface="+mn-ea"/>
                <a:cs typeface="Arial"/>
              </a:rPr>
              <a:t>violated if program runs longer than bound permits</a:t>
            </a:r>
          </a:p>
          <a:p>
            <a:pPr lvl="1">
              <a:buClrTx/>
              <a:buFont typeface="Arial Unicode MS" pitchFamily="34" charset="-128"/>
              <a:buChar char="⇒"/>
              <a:defRPr/>
            </a:pPr>
            <a:r>
              <a:rPr lang="en-US" sz="2400" dirty="0">
                <a:latin typeface="Arial"/>
                <a:ea typeface="+mn-ea"/>
                <a:cs typeface="Arial"/>
              </a:rPr>
              <a:t>if not violated: (real) correctness result!</a:t>
            </a:r>
            <a:endParaRPr lang="en-US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solidFill>
                <a:srgbClr val="000000"/>
              </a:solidFill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533AD952-E89F-B5B0-C864-2602ABD44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719137"/>
          </a:xfrm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Loop unwinding</a:t>
            </a:r>
          </a:p>
        </p:txBody>
      </p:sp>
      <p:sp>
        <p:nvSpPr>
          <p:cNvPr id="8" name="AutoShape 4">
            <a:extLst>
              <a:ext uri="{FF2B5EF4-FFF2-40B4-BE49-F238E27FC236}">
                <a16:creationId xmlns:a16="http://schemas.microsoft.com/office/drawing/2014/main" id="{F80285DF-C58C-97DF-6419-A37974DE2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1066800"/>
            <a:ext cx="4343400" cy="5040313"/>
          </a:xfrm>
          <a:prstGeom prst="foldedCorner">
            <a:avLst>
              <a:gd name="adj" fmla="val 6157"/>
            </a:avLst>
          </a:prstGeom>
          <a:solidFill>
            <a:srgbClr val="FFFFCC"/>
          </a:solidFill>
          <a:ln w="317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lIns="90488" tIns="44450" rIns="90488" bIns="44450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void f(...)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for(i=0; i&lt;N; i++)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...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b[i]=a[i];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};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for(i=0; i&lt;N; i++) {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assert(b[i]-a[i]&gt;0);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  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};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...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  Remainder;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buClr>
                <a:srgbClr val="009999"/>
              </a:buClr>
              <a:buFont typeface="Wingdings" pitchFamily="2" charset="2"/>
              <a:buNone/>
              <a:defRPr/>
            </a:pPr>
            <a:r>
              <a:rPr lang="en-US" i="0" kern="0" noProof="1">
                <a:solidFill>
                  <a:sysClr val="windowText" lastClr="000000"/>
                </a:solidFill>
                <a:latin typeface="Lucida Sans Typewriter" pitchFamily="49" charset="0"/>
                <a:ea typeface="ＭＳ Ｐゴシック" charset="0"/>
                <a:cs typeface="ＭＳ Ｐゴシック" charset="0"/>
              </a:rPr>
              <a:t>}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81F77E-0BFE-039B-9A35-0AF53394F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990600"/>
            <a:ext cx="4114800" cy="5410200"/>
          </a:xfrm>
        </p:spPr>
        <p:txBody>
          <a:bodyPr/>
          <a:lstStyle/>
          <a:p>
            <a:pPr>
              <a:buClrTx/>
              <a:defRPr/>
            </a:pPr>
            <a:r>
              <a:rPr lang="en-US" sz="2800" dirty="0">
                <a:latin typeface="Arial"/>
                <a:ea typeface="+mn-ea"/>
                <a:cs typeface="Arial"/>
              </a:rPr>
              <a:t>unwinding assertion</a:t>
            </a:r>
          </a:p>
          <a:p>
            <a:pPr lvl="1">
              <a:buClrTx/>
              <a:buFont typeface="Wingdings" charset="0"/>
              <a:buChar char="§"/>
              <a:defRPr/>
            </a:pPr>
            <a:r>
              <a:rPr lang="en-US" sz="2400" dirty="0">
                <a:latin typeface="Arial"/>
                <a:ea typeface="+mn-ea"/>
                <a:cs typeface="Arial"/>
              </a:rPr>
              <a:t>inserted after last unwound iteration</a:t>
            </a:r>
          </a:p>
          <a:p>
            <a:pPr lvl="1">
              <a:buClrTx/>
              <a:buFont typeface="Wingdings" charset="0"/>
              <a:buChar char="§"/>
              <a:defRPr/>
            </a:pPr>
            <a:r>
              <a:rPr lang="en-US" sz="2400" dirty="0">
                <a:latin typeface="Arial"/>
                <a:ea typeface="+mn-ea"/>
                <a:cs typeface="Arial"/>
              </a:rPr>
              <a:t>violated if program runs longer than bound permits</a:t>
            </a:r>
          </a:p>
          <a:p>
            <a:pPr lvl="1">
              <a:buClrTx/>
              <a:buFont typeface="Arial Unicode MS" pitchFamily="34" charset="-128"/>
              <a:buChar char="⇒"/>
              <a:defRPr/>
            </a:pPr>
            <a:r>
              <a:rPr lang="en-US" sz="2400" dirty="0">
                <a:latin typeface="Arial"/>
                <a:ea typeface="+mn-ea"/>
                <a:cs typeface="Arial"/>
              </a:rPr>
              <a:t>if not violated: (real) correctness result!</a:t>
            </a:r>
          </a:p>
          <a:p>
            <a:pPr>
              <a:buClrTx/>
              <a:buFont typeface="Arial Unicode MS" pitchFamily="34" charset="-128"/>
              <a:buChar char="⇒"/>
              <a:defRPr/>
            </a:pPr>
            <a:r>
              <a:rPr lang="en-US" sz="2800" dirty="0">
                <a:latin typeface="Arial"/>
                <a:ea typeface="+mn-ea"/>
                <a:cs typeface="Arial"/>
              </a:rPr>
              <a:t>what about multiple loops?</a:t>
            </a:r>
          </a:p>
          <a:p>
            <a:pPr lvl="1">
              <a:buClrTx/>
              <a:buFont typeface="Wingdings" charset="0"/>
              <a:buChar char="§"/>
              <a:defRPr/>
            </a:pPr>
            <a:r>
              <a:rPr lang="en-US" sz="2400" dirty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use --partial-loops to suppress insertion</a:t>
            </a:r>
            <a:endParaRPr lang="en-US" sz="2400" dirty="0">
              <a:latin typeface="Arial"/>
              <a:ea typeface="+mn-ea"/>
              <a:cs typeface="Arial"/>
            </a:endParaRPr>
          </a:p>
          <a:p>
            <a:pPr lvl="1">
              <a:buClrTx/>
              <a:buFont typeface="Arial Unicode MS" pitchFamily="34" charset="-128"/>
              <a:buChar char="⇒"/>
              <a:defRPr/>
            </a:pPr>
            <a:r>
              <a:rPr lang="en-US" sz="2400" dirty="0">
                <a:latin typeface="Arial"/>
                <a:ea typeface="+mn-ea"/>
                <a:cs typeface="Arial"/>
              </a:rPr>
              <a:t>unsound</a:t>
            </a:r>
          </a:p>
          <a:p>
            <a:pPr>
              <a:buClrTx/>
              <a:defRPr/>
            </a:pPr>
            <a:endParaRPr lang="en-US" sz="2800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solidFill>
                <a:srgbClr val="000000"/>
              </a:solidFill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EB82E700-7916-2BC0-C96E-7A47DC407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Safety conditions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1386393-5545-04EB-2FC3-85468CDA8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915400" cy="54102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Tx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Built-in safety checks converted into explicit assertions: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buFont typeface="Wingdings" charset="0"/>
              <a:buNone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e.g., array safety: 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buFont typeface="Wingdings" charset="0"/>
              <a:buNone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	a[</a:t>
            </a:r>
            <a:r>
              <a:rPr lang="en-GB" sz="2400" dirty="0" err="1">
                <a:latin typeface="Arial"/>
                <a:ea typeface="+mn-ea"/>
                <a:cs typeface="Arial"/>
              </a:rPr>
              <a:t>i</a:t>
            </a:r>
            <a:r>
              <a:rPr lang="en-GB" sz="2400" dirty="0">
                <a:latin typeface="Arial"/>
                <a:ea typeface="+mn-ea"/>
                <a:cs typeface="Arial"/>
              </a:rPr>
              <a:t>]=...; </a:t>
            </a:r>
            <a:br>
              <a:rPr lang="en-GB" sz="2400" dirty="0">
                <a:latin typeface="Arial"/>
                <a:ea typeface="+mn-ea"/>
                <a:cs typeface="Arial"/>
              </a:rPr>
            </a:br>
            <a:r>
              <a:rPr lang="en-GB" sz="2400" dirty="0">
                <a:latin typeface="Arial"/>
                <a:ea typeface="+mn-ea"/>
                <a:cs typeface="Arial"/>
              </a:rPr>
              <a:t> </a:t>
            </a:r>
            <a:r>
              <a:rPr lang="en-GB" sz="2400" dirty="0">
                <a:latin typeface="Arial"/>
                <a:ea typeface="Arial Unicode MS"/>
                <a:cs typeface="Arial"/>
              </a:rPr>
              <a:t>⇒ assert(0 &lt;= </a:t>
            </a:r>
            <a:r>
              <a:rPr lang="en-GB" sz="2400" dirty="0" err="1">
                <a:latin typeface="Arial"/>
                <a:ea typeface="Arial Unicode MS"/>
                <a:cs typeface="Arial"/>
              </a:rPr>
              <a:t>i</a:t>
            </a:r>
            <a:r>
              <a:rPr lang="en-GB" sz="2400" dirty="0">
                <a:latin typeface="Arial"/>
                <a:ea typeface="Arial Unicode MS"/>
                <a:cs typeface="Arial"/>
              </a:rPr>
              <a:t> &amp;&amp; </a:t>
            </a:r>
            <a:r>
              <a:rPr lang="en-GB" sz="2400" dirty="0" err="1">
                <a:latin typeface="Arial"/>
                <a:ea typeface="Arial Unicode MS"/>
                <a:cs typeface="Arial"/>
              </a:rPr>
              <a:t>i</a:t>
            </a:r>
            <a:r>
              <a:rPr lang="en-GB" sz="2400" dirty="0">
                <a:latin typeface="Arial"/>
                <a:ea typeface="Arial Unicode MS"/>
                <a:cs typeface="Arial"/>
              </a:rPr>
              <a:t> &lt; N); a[</a:t>
            </a:r>
            <a:r>
              <a:rPr lang="en-GB" sz="2400" dirty="0" err="1">
                <a:latin typeface="Arial"/>
                <a:ea typeface="Arial Unicode MS"/>
                <a:cs typeface="Arial"/>
              </a:rPr>
              <a:t>i</a:t>
            </a:r>
            <a:r>
              <a:rPr lang="en-GB" sz="2400" dirty="0">
                <a:latin typeface="Arial"/>
                <a:ea typeface="Arial Unicode MS"/>
                <a:cs typeface="Arial"/>
              </a:rPr>
              <a:t>]=...;</a:t>
            </a: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FontTx/>
              <a:buNone/>
              <a:defRPr/>
            </a:pPr>
            <a:endParaRPr lang="en-GB" sz="2800" dirty="0">
              <a:latin typeface="Arial"/>
              <a:ea typeface="Arial Unicode MS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Tx/>
              <a:buFontTx/>
              <a:buNone/>
              <a:defRPr/>
            </a:pPr>
            <a:r>
              <a:rPr lang="en-GB" sz="2800" dirty="0">
                <a:latin typeface="Arial"/>
                <a:ea typeface="Arial Unicode MS"/>
                <a:cs typeface="Arial"/>
              </a:rPr>
              <a:t>⇒ sometimes easier at intermediate representation</a:t>
            </a:r>
            <a:br>
              <a:rPr lang="en-GB" sz="2800" dirty="0">
                <a:latin typeface="Arial"/>
                <a:ea typeface="Arial Unicode MS"/>
                <a:cs typeface="Arial"/>
              </a:rPr>
            </a:br>
            <a:r>
              <a:rPr lang="en-GB" sz="2800" dirty="0">
                <a:latin typeface="Arial"/>
                <a:ea typeface="Arial Unicode MS"/>
                <a:cs typeface="Arial"/>
              </a:rPr>
              <a:t> or formula level</a:t>
            </a:r>
          </a:p>
          <a:p>
            <a:pPr lvl="1">
              <a:spcBef>
                <a:spcPts val="600"/>
              </a:spcBef>
              <a:spcAft>
                <a:spcPts val="600"/>
              </a:spcAft>
              <a:buClrTx/>
              <a:buFont typeface="Wingdings" charset="0"/>
              <a:buNone/>
              <a:defRPr/>
            </a:pPr>
            <a:r>
              <a:rPr lang="en-GB" sz="2400" dirty="0">
                <a:latin typeface="Arial"/>
                <a:ea typeface="Arial Unicode MS"/>
                <a:cs typeface="Arial"/>
              </a:rPr>
              <a:t>e.g., word-aligned pointer access, overflow, ...</a:t>
            </a:r>
            <a:endParaRPr lang="en-GB" sz="2400" dirty="0">
              <a:latin typeface="Arial"/>
              <a:ea typeface="+mn-ea"/>
              <a:cs typeface="Arial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83143A-AFB0-F687-1C63-100B40C6E0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5263"/>
            <a:ext cx="8229600" cy="871537"/>
          </a:xfrm>
        </p:spPr>
        <p:txBody>
          <a:bodyPr/>
          <a:lstStyle/>
          <a:p>
            <a:pPr>
              <a:defRPr/>
            </a:pPr>
            <a:r>
              <a:rPr lang="en-US" b="1" dirty="0">
                <a:solidFill>
                  <a:srgbClr val="000000"/>
                </a:solidFill>
                <a:ea typeface="+mj-ea"/>
                <a:cs typeface="Arial"/>
              </a:rPr>
              <a:t>Transforming straight-line programs into equations</a:t>
            </a:r>
            <a:endParaRPr lang="en-GB" b="1" dirty="0">
              <a:solidFill>
                <a:srgbClr val="000000"/>
              </a:solidFill>
              <a:ea typeface="+mj-ea"/>
              <a:cs typeface="Arial"/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97BD73C-AAC0-1341-3D97-87572ECCF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447800"/>
            <a:ext cx="8763000" cy="5181600"/>
          </a:xfrm>
        </p:spPr>
        <p:txBody>
          <a:bodyPr/>
          <a:lstStyle/>
          <a:p>
            <a:pPr>
              <a:buClrTx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simple if each variable is assigned only once:</a:t>
            </a: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still simple if variables are assigned multiple times:</a:t>
            </a: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buClrTx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buClrTx/>
              <a:buFontTx/>
              <a:buNone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	introduce fresh copy for each occurrence</a:t>
            </a:r>
            <a:br>
              <a:rPr lang="en-GB" sz="2800" dirty="0">
                <a:latin typeface="Arial"/>
                <a:ea typeface="+mn-ea"/>
                <a:cs typeface="Arial"/>
              </a:rPr>
            </a:br>
            <a:r>
              <a:rPr lang="en-GB" sz="2800" dirty="0">
                <a:latin typeface="Arial"/>
                <a:ea typeface="+mn-ea"/>
                <a:cs typeface="Arial"/>
              </a:rPr>
              <a:t>(</a:t>
            </a:r>
            <a:r>
              <a:rPr lang="en-GB" sz="2800" i="1" dirty="0">
                <a:latin typeface="Arial"/>
                <a:ea typeface="+mn-ea"/>
                <a:cs typeface="Arial"/>
              </a:rPr>
              <a:t>static single assignment (SSA) </a:t>
            </a:r>
            <a:r>
              <a:rPr lang="en-GB" sz="2800" dirty="0">
                <a:latin typeface="Arial"/>
                <a:ea typeface="+mn-ea"/>
                <a:cs typeface="Arial"/>
              </a:rPr>
              <a:t>form)</a:t>
            </a:r>
          </a:p>
        </p:txBody>
      </p:sp>
      <p:sp>
        <p:nvSpPr>
          <p:cNvPr id="43012" name="AutoShape 4">
            <a:extLst>
              <a:ext uri="{FF2B5EF4-FFF2-40B4-BE49-F238E27FC236}">
                <a16:creationId xmlns:a16="http://schemas.microsoft.com/office/drawing/2014/main" id="{533104C9-89CD-F6BE-DD85-18D535831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2133600"/>
            <a:ext cx="1916113" cy="993775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x =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y = x + 1;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z = y – 1;</a:t>
            </a:r>
          </a:p>
        </p:txBody>
      </p:sp>
      <p:sp>
        <p:nvSpPr>
          <p:cNvPr id="43013" name="Text Box 5">
            <a:extLst>
              <a:ext uri="{FF2B5EF4-FFF2-40B4-BE49-F238E27FC236}">
                <a16:creationId xmlns:a16="http://schemas.microsoft.com/office/drawing/2014/main" id="{BFD70985-93D7-F39A-708E-CA66767CF1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200400"/>
            <a:ext cx="11001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CCBA78E6-C00B-0AE3-FBFB-E2780460F5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0" y="3211513"/>
            <a:ext cx="13557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constraints</a:t>
            </a:r>
          </a:p>
        </p:txBody>
      </p:sp>
      <p:sp>
        <p:nvSpPr>
          <p:cNvPr id="9" name="AutoShape 7">
            <a:extLst>
              <a:ext uri="{FF2B5EF4-FFF2-40B4-BE49-F238E27FC236}">
                <a16:creationId xmlns:a16="http://schemas.microsoft.com/office/drawing/2014/main" id="{39C17E13-248F-1B89-EC56-AC1420E1A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75" y="2125663"/>
            <a:ext cx="1863725" cy="993775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blurRad="63500"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0">
            <a:spAutoFit/>
          </a:bodyPr>
          <a:lstStyle>
            <a:lvl1pPr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163638" algn="l"/>
              </a:tabLs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800">
                <a:cs typeface="Arial" panose="020B0604020202020204" pitchFamily="34" charset="0"/>
              </a:rPr>
              <a:t>x = a	&amp;&amp;</a:t>
            </a:r>
          </a:p>
          <a:p>
            <a:pPr>
              <a:defRPr/>
            </a:pPr>
            <a:r>
              <a:rPr lang="en-US" altLang="en-US" sz="1800">
                <a:cs typeface="Arial" panose="020B0604020202020204" pitchFamily="34" charset="0"/>
              </a:rPr>
              <a:t>y = x + 1	&amp;&amp;</a:t>
            </a:r>
          </a:p>
          <a:p>
            <a:pPr>
              <a:defRPr/>
            </a:pPr>
            <a:r>
              <a:rPr lang="en-US" altLang="en-US" sz="1800">
                <a:cs typeface="Arial" panose="020B0604020202020204" pitchFamily="34" charset="0"/>
              </a:rPr>
              <a:t>z = y – 1</a:t>
            </a:r>
          </a:p>
        </p:txBody>
      </p:sp>
      <p:sp>
        <p:nvSpPr>
          <p:cNvPr id="10" name="AutoShape 11">
            <a:extLst>
              <a:ext uri="{FF2B5EF4-FFF2-40B4-BE49-F238E27FC236}">
                <a16:creationId xmlns:a16="http://schemas.microsoft.com/office/drawing/2014/main" id="{3F5046DC-02D8-23D2-5F0B-506603B1B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362200"/>
            <a:ext cx="1066800" cy="574675"/>
          </a:xfrm>
          <a:prstGeom prst="rightArrow">
            <a:avLst>
              <a:gd name="adj1" fmla="val 50000"/>
              <a:gd name="adj2" fmla="val 31285"/>
            </a:avLst>
          </a:prstGeom>
          <a:gradFill rotWithShape="1">
            <a:gsLst>
              <a:gs pos="0">
                <a:srgbClr val="FFEBFA"/>
              </a:gs>
              <a:gs pos="30000">
                <a:srgbClr val="C4D6EB"/>
              </a:gs>
              <a:gs pos="60001">
                <a:srgbClr val="85C2FF"/>
              </a:gs>
              <a:gs pos="100000">
                <a:srgbClr val="5E9E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>
              <a:latin typeface="Arial"/>
              <a:ea typeface="MS PGothic" charset="0"/>
              <a:cs typeface="Arial"/>
            </a:endParaRPr>
          </a:p>
        </p:txBody>
      </p:sp>
      <p:sp>
        <p:nvSpPr>
          <p:cNvPr id="43017" name="AutoShape 4">
            <a:extLst>
              <a:ext uri="{FF2B5EF4-FFF2-40B4-BE49-F238E27FC236}">
                <a16:creationId xmlns:a16="http://schemas.microsoft.com/office/drawing/2014/main" id="{A965F915-7650-FC3E-3C52-F051962F8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125913"/>
            <a:ext cx="1916113" cy="995362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x =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x = x + 1;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x = x – 1;</a:t>
            </a:r>
          </a:p>
        </p:txBody>
      </p:sp>
      <p:sp>
        <p:nvSpPr>
          <p:cNvPr id="43018" name="Text Box 5">
            <a:extLst>
              <a:ext uri="{FF2B5EF4-FFF2-40B4-BE49-F238E27FC236}">
                <a16:creationId xmlns:a16="http://schemas.microsoft.com/office/drawing/2014/main" id="{3F6C9912-4D5D-448F-9035-EA29DFF38F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5192713"/>
            <a:ext cx="110013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</a:p>
        </p:txBody>
      </p:sp>
      <p:sp>
        <p:nvSpPr>
          <p:cNvPr id="13" name="AutoShape 11">
            <a:extLst>
              <a:ext uri="{FF2B5EF4-FFF2-40B4-BE49-F238E27FC236}">
                <a16:creationId xmlns:a16="http://schemas.microsoft.com/office/drawing/2014/main" id="{BD3C1067-B63B-11E8-256D-2893A82DA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4354513"/>
            <a:ext cx="1066800" cy="574675"/>
          </a:xfrm>
          <a:prstGeom prst="rightArrow">
            <a:avLst>
              <a:gd name="adj1" fmla="val 50000"/>
              <a:gd name="adj2" fmla="val 31285"/>
            </a:avLst>
          </a:prstGeom>
          <a:gradFill rotWithShape="1">
            <a:gsLst>
              <a:gs pos="0">
                <a:srgbClr val="FFEBFA"/>
              </a:gs>
              <a:gs pos="30000">
                <a:srgbClr val="C4D6EB"/>
              </a:gs>
              <a:gs pos="60001">
                <a:srgbClr val="85C2FF"/>
              </a:gs>
              <a:gs pos="100000">
                <a:srgbClr val="5E9E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>
              <a:latin typeface="Arial"/>
              <a:ea typeface="MS PGothic" charset="0"/>
              <a:cs typeface="Arial"/>
            </a:endParaRPr>
          </a:p>
        </p:txBody>
      </p:sp>
      <p:sp>
        <p:nvSpPr>
          <p:cNvPr id="43020" name="AutoShape 4">
            <a:extLst>
              <a:ext uri="{FF2B5EF4-FFF2-40B4-BE49-F238E27FC236}">
                <a16:creationId xmlns:a16="http://schemas.microsoft.com/office/drawing/2014/main" id="{4BB04F5D-5DC3-A94E-0326-49C4C7D818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46688" y="4114800"/>
            <a:ext cx="1916112" cy="993775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8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= a;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8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= x</a:t>
            </a:r>
            <a:r>
              <a:rPr lang="en-US" altLang="en-US" sz="1800" baseline="-25000"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+ 1;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r>
              <a:rPr lang="en-US" altLang="en-US" sz="1800" baseline="-2500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= x</a:t>
            </a:r>
            <a:r>
              <a:rPr lang="en-US" altLang="en-US" sz="1800" baseline="-25000"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 – 1;</a:t>
            </a:r>
          </a:p>
        </p:txBody>
      </p:sp>
      <p:sp>
        <p:nvSpPr>
          <p:cNvPr id="43021" name="Text Box 5">
            <a:extLst>
              <a:ext uri="{FF2B5EF4-FFF2-40B4-BE49-F238E27FC236}">
                <a16:creationId xmlns:a16="http://schemas.microsoft.com/office/drawing/2014/main" id="{CE62F48D-B723-0880-EC51-F5012C4D5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9200" y="5181600"/>
            <a:ext cx="24082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Arial" panose="020B0604020202020204" pitchFamily="34" charset="0"/>
                <a:cs typeface="Arial" panose="020B0604020202020204" pitchFamily="34" charset="0"/>
              </a:rPr>
              <a:t>program in SSA-form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2">
            <a:extLst>
              <a:ext uri="{FF2B5EF4-FFF2-40B4-BE49-F238E27FC236}">
                <a16:creationId xmlns:a16="http://schemas.microsoft.com/office/drawing/2014/main" id="{78828EC6-8B32-4E62-4FAC-94092521F0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1219200"/>
            <a:ext cx="8915400" cy="5181600"/>
          </a:xfrm>
        </p:spPr>
        <p:txBody>
          <a:bodyPr/>
          <a:lstStyle/>
          <a:p>
            <a:pPr>
              <a:buClrTx/>
              <a:buFontTx/>
              <a:buNone/>
            </a:pP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But what about control flow branches (if-statements)?</a:t>
            </a:r>
          </a:p>
          <a:p>
            <a:pPr>
              <a:buClrTx/>
              <a:buFontTx/>
              <a:buNone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</a:pPr>
            <a:r>
              <a:rPr lang="en-US" altLang="en-US" sz="2800">
                <a:latin typeface="Arial" panose="020B0604020202020204" pitchFamily="34" charset="0"/>
                <a:cs typeface="Arial" panose="020B0604020202020204" pitchFamily="34" charset="0"/>
              </a:rPr>
              <a:t>for each control flow join point, add a new variable with guarded assignment as definition</a:t>
            </a:r>
          </a:p>
          <a:p>
            <a:pPr lvl="1">
              <a:buClrTx/>
            </a:pPr>
            <a:r>
              <a:rPr lang="en-US" altLang="en-US" sz="2400">
                <a:latin typeface="Arial" panose="020B0604020202020204" pitchFamily="34" charset="0"/>
                <a:cs typeface="Arial" panose="020B0604020202020204" pitchFamily="34" charset="0"/>
              </a:rPr>
              <a:t>also called </a:t>
            </a:r>
            <a:r>
              <a:rPr lang="el-GR" altLang="en-US" sz="2400">
                <a:latin typeface="Arial" panose="020B0604020202020204" pitchFamily="34" charset="0"/>
              </a:rPr>
              <a:t>ϕ</a:t>
            </a:r>
            <a:r>
              <a:rPr lang="en-GB" altLang="en-US" sz="2400">
                <a:latin typeface="Arial" panose="020B0604020202020204" pitchFamily="34" charset="0"/>
              </a:rPr>
              <a:t>-function</a:t>
            </a:r>
            <a:endParaRPr lang="en-US" alt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Tx/>
              <a:buFontTx/>
              <a:buNone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059" name="AutoShape 15">
            <a:extLst>
              <a:ext uri="{FF2B5EF4-FFF2-40B4-BE49-F238E27FC236}">
                <a16:creationId xmlns:a16="http://schemas.microsoft.com/office/drawing/2014/main" id="{F626C052-EEF1-E763-87F3-96A70F8A19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828800"/>
            <a:ext cx="1905000" cy="1938338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if(v)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  x = y;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  x = z;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i="0">
              <a:latin typeface="Lucida Sans Typewriter" panose="020B0509030504030204" pitchFamily="49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w = x;</a:t>
            </a:r>
          </a:p>
        </p:txBody>
      </p:sp>
      <p:sp>
        <p:nvSpPr>
          <p:cNvPr id="45060" name="AutoShape 16">
            <a:extLst>
              <a:ext uri="{FF2B5EF4-FFF2-40B4-BE49-F238E27FC236}">
                <a16:creationId xmlns:a16="http://schemas.microsoft.com/office/drawing/2014/main" id="{2CB5A84D-3B5B-8DB9-7361-6B91D1E1B9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21263" y="1828800"/>
            <a:ext cx="2827337" cy="1938338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0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if(v</a:t>
            </a:r>
            <a:r>
              <a:rPr lang="en-US" altLang="en-US" sz="1800" i="0" baseline="-25000">
                <a:latin typeface="Lucida Sans Typewriter" panose="020B0509030504030204" pitchFamily="49" charset="77"/>
              </a:rPr>
              <a:t>0</a:t>
            </a:r>
            <a:r>
              <a:rPr lang="en-US" altLang="en-US" sz="1800" i="0">
                <a:latin typeface="Lucida Sans Typewriter" panose="020B0509030504030204" pitchFamily="49" charset="77"/>
              </a:rPr>
              <a:t>)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  x</a:t>
            </a:r>
            <a:r>
              <a:rPr lang="en-US" altLang="en-US" sz="1800" i="0" baseline="-25000">
                <a:latin typeface="Lucida Sans Typewriter" panose="020B0509030504030204" pitchFamily="49" charset="77"/>
              </a:rPr>
              <a:t>0</a:t>
            </a:r>
            <a:r>
              <a:rPr lang="en-US" altLang="en-US" sz="1800" i="0">
                <a:latin typeface="Lucida Sans Typewriter" panose="020B0509030504030204" pitchFamily="49" charset="77"/>
              </a:rPr>
              <a:t> = y</a:t>
            </a:r>
            <a:r>
              <a:rPr lang="en-US" altLang="en-US" sz="1800" i="0" baseline="-25000">
                <a:latin typeface="Lucida Sans Typewriter" panose="020B0509030504030204" pitchFamily="49" charset="77"/>
              </a:rPr>
              <a:t>0</a:t>
            </a:r>
            <a:r>
              <a:rPr lang="en-US" altLang="en-US" sz="1800" i="0">
                <a:latin typeface="Lucida Sans Typewriter" panose="020B0509030504030204" pitchFamily="49" charset="77"/>
              </a:rPr>
              <a:t>;</a:t>
            </a:r>
            <a:endParaRPr lang="en-US" altLang="en-US" sz="1800" i="0" baseline="-25000">
              <a:latin typeface="Lucida Sans Typewriter" panose="020B0509030504030204" pitchFamily="49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else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  x</a:t>
            </a:r>
            <a:r>
              <a:rPr lang="en-US" altLang="en-US" sz="1800" i="0" baseline="-25000">
                <a:latin typeface="Lucida Sans Typewriter" panose="020B0509030504030204" pitchFamily="49" charset="77"/>
              </a:rPr>
              <a:t>1</a:t>
            </a:r>
            <a:r>
              <a:rPr lang="en-US" altLang="en-US" sz="1800" i="0">
                <a:latin typeface="Lucida Sans Typewriter" panose="020B0509030504030204" pitchFamily="49" charset="77"/>
              </a:rPr>
              <a:t> = z</a:t>
            </a:r>
            <a:r>
              <a:rPr lang="en-US" altLang="en-US" sz="1800" i="0" baseline="-25000">
                <a:latin typeface="Lucida Sans Typewriter" panose="020B0509030504030204" pitchFamily="49" charset="77"/>
              </a:rPr>
              <a:t>0</a:t>
            </a:r>
            <a:r>
              <a:rPr lang="en-US" altLang="en-US" sz="1800" i="0">
                <a:latin typeface="Lucida Sans Typewriter" panose="020B0509030504030204" pitchFamily="49" charset="77"/>
              </a:rPr>
              <a:t>;</a:t>
            </a:r>
            <a:endParaRPr lang="en-US" altLang="en-US" sz="1800" i="0" baseline="-25000">
              <a:latin typeface="Lucida Sans Typewriter" panose="020B0509030504030204" pitchFamily="49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solidFill>
                  <a:srgbClr val="FF0000"/>
                </a:solidFill>
                <a:latin typeface="Lucida Sans Typewriter" panose="020B0509030504030204" pitchFamily="49" charset="77"/>
              </a:rPr>
              <a:t>x</a:t>
            </a:r>
            <a:r>
              <a:rPr lang="en-US" altLang="en-US" sz="1800" i="0" baseline="-25000">
                <a:solidFill>
                  <a:srgbClr val="FF0000"/>
                </a:solidFill>
                <a:latin typeface="Lucida Sans Typewriter" panose="020B0509030504030204" pitchFamily="49" charset="77"/>
              </a:rPr>
              <a:t>2</a:t>
            </a:r>
            <a:r>
              <a:rPr lang="en-US" altLang="en-US" sz="1800" i="0">
                <a:solidFill>
                  <a:srgbClr val="FF0000"/>
                </a:solidFill>
                <a:latin typeface="Lucida Sans Typewriter" panose="020B0509030504030204" pitchFamily="49" charset="77"/>
              </a:rPr>
              <a:t> = v</a:t>
            </a:r>
            <a:r>
              <a:rPr lang="en-US" altLang="en-US" sz="1800" i="0" baseline="-25000">
                <a:solidFill>
                  <a:srgbClr val="FF0000"/>
                </a:solidFill>
                <a:latin typeface="Lucida Sans Typewriter" panose="020B0509030504030204" pitchFamily="49" charset="77"/>
              </a:rPr>
              <a:t>0</a:t>
            </a:r>
            <a:r>
              <a:rPr lang="en-US" altLang="en-US" sz="1800" i="0">
                <a:solidFill>
                  <a:srgbClr val="FF0000"/>
                </a:solidFill>
                <a:latin typeface="Lucida Sans Typewriter" panose="020B0509030504030204" pitchFamily="49" charset="77"/>
              </a:rPr>
              <a:t> ? x</a:t>
            </a:r>
            <a:r>
              <a:rPr lang="en-US" altLang="en-US" sz="1800" i="0" baseline="-25000">
                <a:solidFill>
                  <a:srgbClr val="FF0000"/>
                </a:solidFill>
                <a:latin typeface="Lucida Sans Typewriter" panose="020B0509030504030204" pitchFamily="49" charset="77"/>
              </a:rPr>
              <a:t>0</a:t>
            </a:r>
            <a:r>
              <a:rPr lang="en-US" altLang="en-US" sz="1800" i="0">
                <a:solidFill>
                  <a:srgbClr val="FF0000"/>
                </a:solidFill>
                <a:latin typeface="Lucida Sans Typewriter" panose="020B0509030504030204" pitchFamily="49" charset="77"/>
              </a:rPr>
              <a:t> : x</a:t>
            </a:r>
            <a:r>
              <a:rPr lang="en-US" altLang="en-US" sz="1800" i="0" baseline="-25000">
                <a:solidFill>
                  <a:srgbClr val="FF0000"/>
                </a:solidFill>
                <a:latin typeface="Lucida Sans Typewriter" panose="020B0509030504030204" pitchFamily="49" charset="77"/>
              </a:rPr>
              <a:t>1</a:t>
            </a:r>
            <a:r>
              <a:rPr lang="en-US" altLang="en-US" sz="1800" i="0">
                <a:solidFill>
                  <a:srgbClr val="FF0000"/>
                </a:solidFill>
                <a:latin typeface="Lucida Sans Typewriter" panose="020B0509030504030204" pitchFamily="49" charset="77"/>
              </a:rPr>
              <a:t>;</a:t>
            </a:r>
            <a:endParaRPr lang="en-US" altLang="en-US" sz="1800" i="0">
              <a:latin typeface="Lucida Sans Typewriter" panose="020B0509030504030204" pitchFamily="49" charset="77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i="0">
                <a:latin typeface="Lucida Sans Typewriter" panose="020B0509030504030204" pitchFamily="49" charset="77"/>
              </a:rPr>
              <a:t>w</a:t>
            </a:r>
            <a:r>
              <a:rPr lang="en-US" altLang="en-US" sz="1800" i="0" baseline="-25000">
                <a:latin typeface="Lucida Sans Typewriter" panose="020B0509030504030204" pitchFamily="49" charset="77"/>
              </a:rPr>
              <a:t>1</a:t>
            </a:r>
            <a:r>
              <a:rPr lang="en-US" altLang="en-US" sz="1800" i="0">
                <a:latin typeface="Lucida Sans Typewriter" panose="020B0509030504030204" pitchFamily="49" charset="77"/>
              </a:rPr>
              <a:t> = </a:t>
            </a:r>
            <a:r>
              <a:rPr lang="en-US" altLang="en-US" sz="1800" i="0">
                <a:solidFill>
                  <a:srgbClr val="FF0000"/>
                </a:solidFill>
                <a:latin typeface="Lucida Sans Typewriter" panose="020B0509030504030204" pitchFamily="49" charset="77"/>
              </a:rPr>
              <a:t>x</a:t>
            </a:r>
            <a:r>
              <a:rPr lang="en-US" altLang="en-US" sz="1800" i="0" baseline="-25000">
                <a:solidFill>
                  <a:srgbClr val="FF0000"/>
                </a:solidFill>
                <a:latin typeface="Lucida Sans Typewriter" panose="020B0509030504030204" pitchFamily="49" charset="77"/>
              </a:rPr>
              <a:t>2</a:t>
            </a:r>
            <a:r>
              <a:rPr lang="en-US" altLang="en-US" sz="1800" i="0">
                <a:latin typeface="Lucida Sans Typewriter" panose="020B0509030504030204" pitchFamily="49" charset="77"/>
              </a:rPr>
              <a:t>;</a:t>
            </a:r>
          </a:p>
        </p:txBody>
      </p:sp>
      <p:sp>
        <p:nvSpPr>
          <p:cNvPr id="8" name="AutoShape 11">
            <a:extLst>
              <a:ext uri="{FF2B5EF4-FFF2-40B4-BE49-F238E27FC236}">
                <a16:creationId xmlns:a16="http://schemas.microsoft.com/office/drawing/2014/main" id="{157D89C3-933B-750A-3F79-791FE3F5D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3800" y="2549525"/>
            <a:ext cx="1066800" cy="574675"/>
          </a:xfrm>
          <a:prstGeom prst="rightArrow">
            <a:avLst>
              <a:gd name="adj1" fmla="val 50000"/>
              <a:gd name="adj2" fmla="val 31285"/>
            </a:avLst>
          </a:prstGeom>
          <a:gradFill rotWithShape="1">
            <a:gsLst>
              <a:gs pos="0">
                <a:srgbClr val="FFEBFA"/>
              </a:gs>
              <a:gs pos="30000">
                <a:srgbClr val="C4D6EB"/>
              </a:gs>
              <a:gs pos="60001">
                <a:srgbClr val="85C2FF"/>
              </a:gs>
              <a:gs pos="100000">
                <a:srgbClr val="5E9E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8100000" algn="ctr" rotWithShape="0">
              <a:schemeClr val="bg2">
                <a:alpha val="50000"/>
              </a:schemeClr>
            </a:outerShdw>
          </a:effectLst>
        </p:spPr>
        <p:txBody>
          <a:bodyPr wrap="none" lIns="90488" tIns="44450" rIns="90488" bIns="44450" anchor="ctr"/>
          <a:lstStyle/>
          <a:p>
            <a:pPr>
              <a:defRPr/>
            </a:pPr>
            <a:endParaRPr lang="en-US" sz="1800" i="0">
              <a:latin typeface="Arial"/>
              <a:ea typeface="MS PGothic" charset="0"/>
              <a:cs typeface="Arial"/>
            </a:endParaRPr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C54138C7-5F16-FE4E-AF7F-189066234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4038600"/>
            <a:ext cx="3505200" cy="1143000"/>
          </a:xfrm>
          <a:prstGeom prst="wedgeEllipseCallout">
            <a:avLst>
              <a:gd name="adj1" fmla="val -34912"/>
              <a:gd name="adj2" fmla="val -75079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63500" dist="107763" dir="2700000" algn="ctr" rotWithShape="0">
              <a:schemeClr val="bg2">
                <a:alpha val="74998"/>
              </a:schemeClr>
            </a:outerShdw>
          </a:effectLst>
        </p:spPr>
        <p:txBody>
          <a:bodyPr lIns="0" tIns="44450" rIns="0" bIns="44450"/>
          <a:lstStyle/>
          <a:p>
            <a:pPr>
              <a:lnSpc>
                <a:spcPct val="93000"/>
              </a:lnSpc>
              <a:buClr>
                <a:schemeClr val="hlink"/>
              </a:buClr>
              <a:buFont typeface="Wingdings" charset="0"/>
              <a:buNone/>
              <a:defRPr/>
            </a:pPr>
            <a:r>
              <a:rPr lang="en-US" sz="2400" i="0" dirty="0">
                <a:latin typeface="Arial"/>
                <a:ea typeface="MS PGothic" charset="0"/>
                <a:cs typeface="Arial"/>
              </a:rPr>
              <a:t>introduce &amp; use new variable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6485013-D828-1CBF-5B3C-469A1B3496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5263"/>
            <a:ext cx="8229600" cy="871537"/>
          </a:xfrm>
        </p:spPr>
        <p:txBody>
          <a:bodyPr/>
          <a:lstStyle/>
          <a:p>
            <a:pPr>
              <a:defRPr/>
            </a:pPr>
            <a:r>
              <a:rPr lang="en-US" sz="3600" b="1" dirty="0">
                <a:solidFill>
                  <a:srgbClr val="000000"/>
                </a:solidFill>
                <a:ea typeface="+mj-ea"/>
                <a:cs typeface="Arial"/>
              </a:rPr>
              <a:t>Transforming loop-free programs into equations</a:t>
            </a:r>
            <a:endParaRPr lang="en-GB" b="1" dirty="0">
              <a:solidFill>
                <a:srgbClr val="000000"/>
              </a:solidFill>
              <a:ea typeface="+mj-ea"/>
              <a:cs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AD1EB42F-7885-AD3D-7328-F05D2681D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9063"/>
            <a:ext cx="76962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chemeClr val="tx1"/>
                </a:solidFill>
                <a:ea typeface="+mj-ea"/>
                <a:cs typeface="Arial"/>
              </a:rPr>
              <a:t>SAT vs. SMT 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9ECD61C-B7DA-1649-8886-32A5B16D35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686800" cy="5410200"/>
          </a:xfrm>
        </p:spPr>
        <p:txBody>
          <a:bodyPr/>
          <a:lstStyle/>
          <a:p>
            <a:pPr marL="0" indent="0">
              <a:buClr>
                <a:schemeClr val="tx1"/>
              </a:buClr>
              <a:buFontTx/>
              <a:buNone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BMC tools use both </a:t>
            </a:r>
            <a:r>
              <a:rPr lang="en-GB" sz="280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propositional </a:t>
            </a:r>
            <a:r>
              <a:rPr lang="en-GB" sz="2800" dirty="0" err="1">
                <a:solidFill>
                  <a:srgbClr val="0000FF"/>
                </a:solidFill>
                <a:latin typeface="Arial"/>
                <a:ea typeface="+mn-ea"/>
                <a:cs typeface="Arial"/>
              </a:rPr>
              <a:t>satisfiability</a:t>
            </a:r>
            <a:r>
              <a:rPr lang="en-GB" sz="280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 </a:t>
            </a:r>
            <a:r>
              <a:rPr lang="en-GB" sz="2800" dirty="0">
                <a:latin typeface="Arial"/>
                <a:ea typeface="+mn-ea"/>
                <a:cs typeface="Arial"/>
              </a:rPr>
              <a:t>(SAT) and </a:t>
            </a:r>
            <a:r>
              <a:rPr lang="en-GB" sz="2800" dirty="0" err="1">
                <a:solidFill>
                  <a:srgbClr val="0000FF"/>
                </a:solidFill>
                <a:latin typeface="Arial"/>
                <a:ea typeface="+mn-ea"/>
                <a:cs typeface="Arial"/>
              </a:rPr>
              <a:t>satisfiability</a:t>
            </a:r>
            <a:r>
              <a:rPr lang="en-GB" sz="2800" dirty="0">
                <a:solidFill>
                  <a:srgbClr val="0000FF"/>
                </a:solidFill>
                <a:latin typeface="Arial"/>
                <a:ea typeface="+mn-ea"/>
                <a:cs typeface="Arial"/>
              </a:rPr>
              <a:t> modulo theories </a:t>
            </a:r>
            <a:r>
              <a:rPr lang="en-GB" sz="2800" dirty="0">
                <a:latin typeface="Arial"/>
                <a:ea typeface="+mn-ea"/>
                <a:cs typeface="Arial"/>
              </a:rPr>
              <a:t>(SMT) solvers:</a:t>
            </a:r>
          </a:p>
          <a:p>
            <a:pPr>
              <a:buClr>
                <a:schemeClr val="tx1"/>
              </a:buClr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SAT solvers require encoding everything in CNF</a:t>
            </a:r>
          </a:p>
          <a:p>
            <a:pPr lvl="1">
              <a:buClr>
                <a:schemeClr val="tx1"/>
              </a:buClr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limited support for high-level operations</a:t>
            </a:r>
          </a:p>
          <a:p>
            <a:pPr lvl="1">
              <a:buClr>
                <a:schemeClr val="tx1"/>
              </a:buClr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easier to reflect machine-level semantics</a:t>
            </a:r>
          </a:p>
          <a:p>
            <a:pPr lvl="1">
              <a:buClr>
                <a:schemeClr val="tx1"/>
              </a:buClr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can be extremely efficient (SMT falls back to SAT)</a:t>
            </a:r>
          </a:p>
          <a:p>
            <a:pPr>
              <a:buClr>
                <a:schemeClr val="tx1"/>
              </a:buClr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SMT solvers support built-in theories</a:t>
            </a:r>
          </a:p>
          <a:p>
            <a:pPr lvl="1">
              <a:buClr>
                <a:schemeClr val="tx1"/>
              </a:buClr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equality, free function symbols, </a:t>
            </a:r>
            <a:r>
              <a:rPr lang="en-GB" sz="2400" dirty="0" err="1">
                <a:latin typeface="Arial"/>
                <a:ea typeface="+mn-ea"/>
                <a:cs typeface="Arial"/>
              </a:rPr>
              <a:t>arithmetics</a:t>
            </a:r>
            <a:r>
              <a:rPr lang="en-GB" sz="2400" dirty="0">
                <a:latin typeface="Arial"/>
                <a:ea typeface="+mn-ea"/>
                <a:cs typeface="Arial"/>
              </a:rPr>
              <a:t>, arrays,...</a:t>
            </a:r>
          </a:p>
          <a:p>
            <a:pPr lvl="1">
              <a:buClr>
                <a:schemeClr val="tx1"/>
              </a:buClr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sometimes even quantifiers</a:t>
            </a:r>
          </a:p>
          <a:p>
            <a:pPr lvl="1">
              <a:buClr>
                <a:schemeClr val="tx1"/>
              </a:buClr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very flexible, extensible, front-end easier</a:t>
            </a:r>
          </a:p>
          <a:p>
            <a:pPr lvl="1">
              <a:buClr>
                <a:schemeClr val="tx1"/>
              </a:buClr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requires extra effort to enforce precise semantics</a:t>
            </a:r>
          </a:p>
          <a:p>
            <a:pPr lvl="1">
              <a:buClr>
                <a:schemeClr val="tx1"/>
              </a:buClr>
              <a:buFont typeface="Wingdings" charset="0"/>
              <a:buChar char="§"/>
              <a:defRPr/>
            </a:pPr>
            <a:r>
              <a:rPr lang="en-GB" sz="2400" dirty="0">
                <a:latin typeface="Arial"/>
                <a:ea typeface="+mn-ea"/>
                <a:cs typeface="Arial"/>
              </a:rPr>
              <a:t>can be slower</a:t>
            </a:r>
          </a:p>
          <a:p>
            <a:pPr>
              <a:buClr>
                <a:schemeClr val="tx1"/>
              </a:buClr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C43C0899-21F9-8CE5-52D1-7DC2FFDA89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 err="1">
                <a:solidFill>
                  <a:srgbClr val="000000"/>
                </a:solidFill>
                <a:ea typeface="+mj-ea"/>
                <a:cs typeface="Arial"/>
              </a:rPr>
              <a:t>Modeling</a:t>
            </a: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 with non-determinism</a:t>
            </a:r>
          </a:p>
        </p:txBody>
      </p:sp>
      <p:sp>
        <p:nvSpPr>
          <p:cNvPr id="63491" name="Content Placeholder 2">
            <a:extLst>
              <a:ext uri="{FF2B5EF4-FFF2-40B4-BE49-F238E27FC236}">
                <a16:creationId xmlns:a16="http://schemas.microsoft.com/office/drawing/2014/main" id="{688CCDB4-019B-E9F6-9AF6-35CB0E9E4D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5410200"/>
          </a:xfrm>
        </p:spPr>
        <p:txBody>
          <a:bodyPr/>
          <a:lstStyle/>
          <a:p>
            <a:pPr>
              <a:buFontTx/>
              <a:buNone/>
            </a:pP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Extend C with three modeling features:</a:t>
            </a:r>
          </a:p>
          <a:p>
            <a:pPr>
              <a:buSzPct val="100000"/>
            </a:pPr>
            <a:r>
              <a:rPr lang="en-GB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assert(e)</a:t>
            </a: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: aborts execution when e is false,</a:t>
            </a:r>
            <a:b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no-op otherwise</a:t>
            </a:r>
          </a:p>
          <a:p>
            <a:pPr>
              <a:spcBef>
                <a:spcPts val="2000"/>
              </a:spcBef>
              <a:buSzPct val="100000"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2000"/>
              </a:spcBef>
              <a:buSzPct val="100000"/>
            </a:pPr>
            <a:r>
              <a:rPr lang="en-GB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nondet_int()</a:t>
            </a: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: returns non-deterministic int-value</a:t>
            </a:r>
          </a:p>
          <a:p>
            <a:pPr>
              <a:spcBef>
                <a:spcPts val="2000"/>
              </a:spcBef>
              <a:buSzPct val="100000"/>
            </a:pPr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spcBef>
                <a:spcPts val="2000"/>
              </a:spcBef>
              <a:buSzPct val="100000"/>
            </a:pPr>
            <a:r>
              <a:rPr lang="en-GB" altLang="en-US" sz="2800" b="1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assume(e)</a:t>
            </a: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: “ignores” execution when e is false,</a:t>
            </a:r>
            <a:b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en-US" sz="2800">
                <a:latin typeface="Arial" panose="020B0604020202020204" pitchFamily="34" charset="0"/>
                <a:cs typeface="Arial" panose="020B0604020202020204" pitchFamily="34" charset="0"/>
              </a:rPr>
              <a:t>no-op otherwise</a:t>
            </a:r>
          </a:p>
          <a:p>
            <a:endParaRPr lang="en-GB" altLang="en-US" sz="2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492" name="Rectangle 5">
            <a:extLst>
              <a:ext uri="{FF2B5EF4-FFF2-40B4-BE49-F238E27FC236}">
                <a16:creationId xmlns:a16="http://schemas.microsoft.com/office/drawing/2014/main" id="{1EF2A17E-553C-C30E-714F-A564EB80B2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2589213"/>
            <a:ext cx="7920038" cy="493712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tIns="91440" rIns="0" bIns="91440" anchor="ctr"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 marL="0" lvl="1">
              <a:spcBef>
                <a:spcPct val="0"/>
              </a:spcBef>
              <a:buClrTx/>
              <a:buFontTx/>
              <a:buNone/>
            </a:pPr>
            <a:r>
              <a:rPr lang="en-US" altLang="en-US" sz="2000" i="0">
                <a:solidFill>
                  <a:srgbClr val="000000"/>
                </a:solidFill>
                <a:latin typeface="Lucida Sans Typewriter" panose="020B0509030504030204" pitchFamily="49" charset="77"/>
              </a:rPr>
              <a:t>void assert (_Bool e) { if (!e)  exit(); }</a:t>
            </a:r>
          </a:p>
        </p:txBody>
      </p:sp>
      <p:sp>
        <p:nvSpPr>
          <p:cNvPr id="63493" name="Rectangle 6">
            <a:extLst>
              <a:ext uri="{FF2B5EF4-FFF2-40B4-BE49-F238E27FC236}">
                <a16:creationId xmlns:a16="http://schemas.microsoft.com/office/drawing/2014/main" id="{D0F69512-533B-6EAF-4671-089460B402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3960813"/>
            <a:ext cx="7920038" cy="493712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tIns="91440" rIns="0" bIns="9144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0">
                <a:solidFill>
                  <a:srgbClr val="000000"/>
                </a:solidFill>
                <a:latin typeface="Lucida Sans Typewriter" panose="020B0509030504030204" pitchFamily="49" charset="77"/>
              </a:rPr>
              <a:t>int nondet_int () { int x; return x; }</a:t>
            </a:r>
          </a:p>
        </p:txBody>
      </p:sp>
      <p:sp>
        <p:nvSpPr>
          <p:cNvPr id="63494" name="Rectangle 7">
            <a:extLst>
              <a:ext uri="{FF2B5EF4-FFF2-40B4-BE49-F238E27FC236}">
                <a16:creationId xmlns:a16="http://schemas.microsoft.com/office/drawing/2014/main" id="{F356B4DE-7190-3641-E0DF-21DA6BC0E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5800" y="5713413"/>
            <a:ext cx="7920038" cy="493712"/>
          </a:xfrm>
          <a:prstGeom prst="rect">
            <a:avLst/>
          </a:prstGeom>
          <a:gradFill rotWithShape="1">
            <a:gsLst>
              <a:gs pos="0">
                <a:srgbClr val="E5EEFF"/>
              </a:gs>
              <a:gs pos="64999">
                <a:srgbClr val="BFD5FF"/>
              </a:gs>
              <a:gs pos="100000">
                <a:srgbClr val="A3C4FF"/>
              </a:gs>
            </a:gsLst>
            <a:lin ang="5400000" scaled="1"/>
          </a:gradFill>
          <a:ln w="9525">
            <a:solidFill>
              <a:srgbClr val="4A7EBB"/>
            </a:solidFill>
            <a:miter lim="800000"/>
            <a:headEnd/>
            <a:tailEnd/>
          </a:ln>
          <a:effectLst>
            <a:outerShdw dist="20000" dir="5400000" rotWithShape="0">
              <a:srgbClr val="808080">
                <a:alpha val="37999"/>
              </a:srgbClr>
            </a:outerShdw>
          </a:effectLst>
        </p:spPr>
        <p:txBody>
          <a:bodyPr tIns="91440" rIns="0" bIns="91440" anchor="ctr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i="0">
                <a:solidFill>
                  <a:srgbClr val="000000"/>
                </a:solidFill>
                <a:latin typeface="Lucida Sans Typewriter" panose="020B0509030504030204" pitchFamily="49" charset="77"/>
              </a:rPr>
              <a:t>void assume (_Bool e) { while (!e) ;  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D4CA114-761A-3053-5747-ED7BFA3F9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 err="1">
                <a:solidFill>
                  <a:srgbClr val="000000"/>
                </a:solidFill>
                <a:ea typeface="+mj-ea"/>
                <a:cs typeface="Arial"/>
              </a:rPr>
              <a:t>Modeling</a:t>
            </a: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 with non-determinism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03551E9-A297-12E4-1AC7-C331F41DD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990600"/>
            <a:ext cx="8763000" cy="541020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buFontTx/>
              <a:buNone/>
              <a:defRPr/>
            </a:pPr>
            <a:r>
              <a:rPr lang="en-GB" sz="2800" b="1" dirty="0">
                <a:latin typeface="Arial"/>
                <a:ea typeface="+mn-ea"/>
                <a:cs typeface="Arial"/>
              </a:rPr>
              <a:t>General approach: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/>
            </a:pPr>
            <a:r>
              <a:rPr lang="en-GB" sz="2600" dirty="0">
                <a:latin typeface="Arial"/>
                <a:ea typeface="+mn-ea"/>
                <a:cs typeface="Arial"/>
              </a:rPr>
              <a:t>use C program to set up structure and deterministic computations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/>
            </a:pPr>
            <a:r>
              <a:rPr lang="en-GB" sz="2600" dirty="0">
                <a:latin typeface="Arial"/>
                <a:ea typeface="+mn-ea"/>
                <a:cs typeface="Arial"/>
              </a:rPr>
              <a:t>use non-determinism to set up search space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/>
            </a:pPr>
            <a:r>
              <a:rPr lang="en-GB" sz="2600" dirty="0">
                <a:latin typeface="Arial"/>
                <a:ea typeface="+mn-ea"/>
                <a:cs typeface="Arial"/>
              </a:rPr>
              <a:t>use assumptions to constrain search space</a:t>
            </a:r>
          </a:p>
          <a:p>
            <a:pPr>
              <a:spcBef>
                <a:spcPts val="600"/>
              </a:spcBef>
              <a:spcAft>
                <a:spcPts val="600"/>
              </a:spcAft>
              <a:buClr>
                <a:schemeClr val="tx1"/>
              </a:buClr>
              <a:defRPr/>
            </a:pPr>
            <a:r>
              <a:rPr lang="en-GB" sz="2600" dirty="0">
                <a:latin typeface="Arial"/>
                <a:ea typeface="+mn-ea"/>
                <a:cs typeface="Arial"/>
              </a:rPr>
              <a:t>use failing assertion to start search</a:t>
            </a:r>
          </a:p>
        </p:txBody>
      </p:sp>
      <p:sp>
        <p:nvSpPr>
          <p:cNvPr id="6" name="AutoShape 4">
            <a:extLst>
              <a:ext uri="{FF2B5EF4-FFF2-40B4-BE49-F238E27FC236}">
                <a16:creationId xmlns:a16="http://schemas.microsoft.com/office/drawing/2014/main" id="{0CAF1D70-EC81-7FDE-FA95-32E0D66B14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63" y="4343400"/>
            <a:ext cx="8001000" cy="2236788"/>
          </a:xfrm>
          <a:prstGeom prst="foldedCorner">
            <a:avLst>
              <a:gd name="adj" fmla="val 12500"/>
            </a:avLst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lIns="90488" tIns="44450" rIns="90488" bIns="0"/>
          <a:lstStyle>
            <a:lvl1pPr>
              <a:spcBef>
                <a:spcPct val="20000"/>
              </a:spcBef>
              <a:buClr>
                <a:schemeClr val="accent1"/>
              </a:buClr>
              <a:buSzPct val="125000"/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Char char="o"/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Monotype Sorts" pitchFamily="2" charset="2"/>
              <a:buChar char="]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i="0">
                <a:latin typeface="Lucida Sans Typewriter" panose="020B0509030504030204" pitchFamily="49" charset="77"/>
              </a:rPr>
              <a:t>int main() {</a:t>
            </a:r>
            <a:br>
              <a:rPr lang="en-GB" altLang="en-US" sz="1800" i="0">
                <a:latin typeface="Lucida Sans Typewriter" panose="020B0509030504030204" pitchFamily="49" charset="77"/>
              </a:rPr>
            </a:br>
            <a:r>
              <a:rPr lang="en-GB" altLang="en-US" sz="1800" i="0">
                <a:latin typeface="Lucida Sans Typewriter" panose="020B0509030504030204" pitchFamily="49" charset="77"/>
              </a:rPr>
              <a:t>  int x=nondet_int(),y=nondet_int(),z=nondet_int();</a:t>
            </a:r>
            <a:br>
              <a:rPr lang="en-GB" altLang="en-US" sz="1800" i="0">
                <a:latin typeface="Lucida Sans Typewriter" panose="020B0509030504030204" pitchFamily="49" charset="77"/>
              </a:rPr>
            </a:br>
            <a:r>
              <a:rPr lang="en-GB" altLang="en-US" sz="1800" i="0">
                <a:latin typeface="Lucida Sans Typewriter" panose="020B0509030504030204" pitchFamily="49" charset="77"/>
              </a:rPr>
              <a:t>  __ESBMC_assume(x &gt; 0 &amp;&amp; y &gt; 0 &amp;&amp; z &gt; 0);</a:t>
            </a:r>
            <a:br>
              <a:rPr lang="en-GB" altLang="en-US" sz="1800" i="0">
                <a:latin typeface="Lucida Sans Typewriter" panose="020B0509030504030204" pitchFamily="49" charset="77"/>
              </a:rPr>
            </a:br>
            <a:r>
              <a:rPr lang="en-GB" altLang="en-US" sz="1800" i="0">
                <a:latin typeface="Lucida Sans Typewriter" panose="020B0509030504030204" pitchFamily="49" charset="77"/>
              </a:rPr>
              <a:t>  __ESBMC_assume(x &lt; 16384 &amp;&amp; y &lt; 16384 &amp;&amp; z &lt; 16384);</a:t>
            </a:r>
            <a:br>
              <a:rPr lang="en-GB" altLang="en-US" sz="1800" i="0">
                <a:latin typeface="Lucida Sans Typewriter" panose="020B0509030504030204" pitchFamily="49" charset="77"/>
              </a:rPr>
            </a:br>
            <a:r>
              <a:rPr lang="en-GB" altLang="en-US" sz="1800" i="0">
                <a:latin typeface="Lucida Sans Typewriter" panose="020B0509030504030204" pitchFamily="49" charset="77"/>
              </a:rPr>
              <a:t>  assert(x*x + y*y != z*z);</a:t>
            </a:r>
            <a:br>
              <a:rPr lang="en-GB" altLang="en-US" sz="1800" i="0">
                <a:latin typeface="Lucida Sans Typewriter" panose="020B0509030504030204" pitchFamily="49" charset="77"/>
              </a:rPr>
            </a:br>
            <a:r>
              <a:rPr lang="en-GB" altLang="en-US" sz="1800" i="0">
                <a:latin typeface="Lucida Sans Typewriter" panose="020B0509030504030204" pitchFamily="49" charset="77"/>
              </a:rPr>
              <a:t>  return 0;</a:t>
            </a:r>
            <a:br>
              <a:rPr lang="en-GB" altLang="en-US" sz="1800" i="0">
                <a:latin typeface="Lucida Sans Typewriter" panose="020B0509030504030204" pitchFamily="49" charset="77"/>
              </a:rPr>
            </a:br>
            <a:r>
              <a:rPr lang="en-GB" altLang="en-US" sz="1800" i="0">
                <a:latin typeface="Lucida Sans Typewriter" panose="020B0509030504030204" pitchFamily="49" charset="77"/>
              </a:rPr>
              <a:t>}</a:t>
            </a:r>
            <a:endParaRPr lang="en-US" altLang="en-US" sz="1800" i="0">
              <a:latin typeface="Lucida Sans Typewriter" panose="020B0509030504030204" pitchFamily="49" charset="77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B66A6C-3C4B-5783-53D9-FAB2C0D82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Concurrency verification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1F3D726-0CDD-E870-36DE-C1D6395724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762000"/>
            <a:ext cx="8763000" cy="5410200"/>
          </a:xfrm>
        </p:spPr>
        <p:txBody>
          <a:bodyPr/>
          <a:lstStyle/>
          <a:p>
            <a:pPr>
              <a:buFontTx/>
              <a:buNone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What happens here...???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2DBBBEA-CBF2-441E-7202-FB92F070FD71}"/>
              </a:ext>
            </a:extLst>
          </p:cNvPr>
          <p:cNvSpPr txBox="1">
            <a:spLocks/>
          </p:cNvSpPr>
          <p:nvPr/>
        </p:nvSpPr>
        <p:spPr bwMode="auto">
          <a:xfrm>
            <a:off x="228600" y="1295400"/>
            <a:ext cx="4860925" cy="5486400"/>
          </a:xfrm>
          <a:prstGeom prst="rect">
            <a:avLst/>
          </a:prstGeom>
          <a:solidFill>
            <a:schemeClr val="bg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defRPr/>
            </a:pPr>
            <a:r>
              <a:rPr lang="en-US" altLang="en-US" sz="1600" i="0" dirty="0" err="1">
                <a:latin typeface="Lucida Console" panose="020B0609040504020204" pitchFamily="49" charset="0"/>
              </a:rPr>
              <a:t>int</a:t>
            </a:r>
            <a:r>
              <a:rPr lang="en-US" altLang="en-US" sz="1600" i="0" dirty="0">
                <a:latin typeface="Lucida Console" panose="020B0609040504020204" pitchFamily="49" charset="0"/>
              </a:rPr>
              <a:t> n=0; //shared variable</a:t>
            </a:r>
          </a:p>
          <a:p>
            <a:pPr>
              <a:defRPr/>
            </a:pPr>
            <a:r>
              <a:rPr lang="en-US" altLang="en-US" sz="1600" i="0" dirty="0" err="1">
                <a:latin typeface="Lucida Console" panose="020B0609040504020204" pitchFamily="49" charset="0"/>
              </a:rPr>
              <a:t>pthread_mutex_t</a:t>
            </a:r>
            <a:r>
              <a:rPr lang="en-US" altLang="en-US" sz="1600" i="0" dirty="0">
                <a:latin typeface="Lucida Console" panose="020B0609040504020204" pitchFamily="49" charset="0"/>
              </a:rPr>
              <a:t>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mutex</a:t>
            </a:r>
            <a:r>
              <a:rPr lang="en-US" altLang="en-US" sz="1600" i="0" dirty="0">
                <a:latin typeface="Lucida Console" panose="020B0609040504020204" pitchFamily="49" charset="0"/>
              </a:rPr>
              <a:t>;</a:t>
            </a:r>
          </a:p>
          <a:p>
            <a:pPr>
              <a:defRPr/>
            </a:pPr>
            <a:r>
              <a:rPr lang="mr-IN" altLang="en-US" sz="1600" i="0" dirty="0">
                <a:latin typeface="Lucida Console" panose="020B0609040504020204" pitchFamily="49" charset="0"/>
              </a:rPr>
              <a:t>void* P(void* arg) {</a:t>
            </a:r>
          </a:p>
          <a:p>
            <a:pPr>
              <a:defRPr/>
            </a:pPr>
            <a:r>
              <a:rPr lang="mr-IN" altLang="en-US" sz="1600" i="0" dirty="0">
                <a:latin typeface="Lucida Console" panose="020B0609040504020204" pitchFamily="49" charset="0"/>
              </a:rPr>
              <a:t>  int tmp, i=1;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while (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i</a:t>
            </a:r>
            <a:r>
              <a:rPr lang="en-US" altLang="en-US" sz="1600" i="0" dirty="0">
                <a:latin typeface="Lucida Console" panose="020B0609040504020204" pitchFamily="49" charset="0"/>
              </a:rPr>
              <a:t>&lt;=10) {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 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pthread_mutex_lock</a:t>
            </a:r>
            <a:r>
              <a:rPr lang="en-US" altLang="en-US" sz="1600" i="0" dirty="0">
                <a:latin typeface="Lucida Console" panose="020B0609040504020204" pitchFamily="49" charset="0"/>
              </a:rPr>
              <a:t>(&amp;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mutex</a:t>
            </a:r>
            <a:r>
              <a:rPr lang="en-US" altLang="en-US" sz="1600" i="0" dirty="0">
                <a:latin typeface="Lucida Console" panose="020B0609040504020204" pitchFamily="49" charset="0"/>
              </a:rPr>
              <a:t>);</a:t>
            </a:r>
          </a:p>
          <a:p>
            <a:pPr>
              <a:defRPr/>
            </a:pPr>
            <a:r>
              <a:rPr lang="mr-IN" altLang="en-US" sz="1600" i="0" dirty="0">
                <a:latin typeface="Lucida Console" panose="020B0609040504020204" pitchFamily="49" charset="0"/>
              </a:rPr>
              <a:t>    tmp = n;</a:t>
            </a:r>
          </a:p>
          <a:p>
            <a:pPr>
              <a:defRPr/>
            </a:pPr>
            <a:r>
              <a:rPr lang="mr-IN" altLang="en-US" sz="1600" i="0" dirty="0">
                <a:latin typeface="Lucida Console" panose="020B0609040504020204" pitchFamily="49" charset="0"/>
              </a:rPr>
              <a:t>    n = tmp + 1;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 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pthread_mutex_unlock</a:t>
            </a:r>
            <a:r>
              <a:rPr lang="en-US" altLang="en-US" sz="1600" i="0" dirty="0">
                <a:latin typeface="Lucida Console" panose="020B0609040504020204" pitchFamily="49" charset="0"/>
              </a:rPr>
              <a:t>(&amp;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mutex</a:t>
            </a:r>
            <a:r>
              <a:rPr lang="en-US" altLang="en-US" sz="1600" i="0" dirty="0">
                <a:latin typeface="Lucida Console" panose="020B0609040504020204" pitchFamily="49" charset="0"/>
              </a:rPr>
              <a:t>);</a:t>
            </a:r>
          </a:p>
          <a:p>
            <a:pPr>
              <a:defRPr/>
            </a:pPr>
            <a:r>
              <a:rPr lang="mr-IN" altLang="en-US" sz="1600" i="0" dirty="0">
                <a:latin typeface="Lucida Console" panose="020B0609040504020204" pitchFamily="49" charset="0"/>
              </a:rPr>
              <a:t>    i++;</a:t>
            </a:r>
          </a:p>
          <a:p>
            <a:pPr>
              <a:defRPr/>
            </a:pPr>
            <a:r>
              <a:rPr lang="mr-IN" altLang="en-US" sz="1600" i="0" dirty="0">
                <a:latin typeface="Lucida Console" panose="020B0609040504020204" pitchFamily="49" charset="0"/>
              </a:rPr>
              <a:t>  }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return NULL;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}</a:t>
            </a:r>
          </a:p>
          <a:p>
            <a:pPr>
              <a:defRPr/>
            </a:pPr>
            <a:r>
              <a:rPr lang="en-US" altLang="en-US" sz="1600" i="0" dirty="0" err="1">
                <a:latin typeface="Lucida Console" panose="020B0609040504020204" pitchFamily="49" charset="0"/>
              </a:rPr>
              <a:t>int</a:t>
            </a:r>
            <a:r>
              <a:rPr lang="en-US" altLang="en-US" sz="1600" i="0" dirty="0">
                <a:latin typeface="Lucida Console" panose="020B0609040504020204" pitchFamily="49" charset="0"/>
              </a:rPr>
              <a:t> main (void) {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pthread_t</a:t>
            </a:r>
            <a:r>
              <a:rPr lang="en-US" altLang="en-US" sz="1600" i="0" dirty="0">
                <a:latin typeface="Lucida Console" panose="020B0609040504020204" pitchFamily="49" charset="0"/>
              </a:rPr>
              <a:t> id1, id2;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pthread_mutex_init</a:t>
            </a:r>
            <a:r>
              <a:rPr lang="en-US" altLang="en-US" sz="1600" i="0" dirty="0">
                <a:latin typeface="Lucida Console" panose="020B0609040504020204" pitchFamily="49" charset="0"/>
              </a:rPr>
              <a:t>(&amp;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mutex</a:t>
            </a:r>
            <a:r>
              <a:rPr lang="en-US" altLang="en-US" sz="1600" i="0" dirty="0">
                <a:latin typeface="Lucida Console" panose="020B0609040504020204" pitchFamily="49" charset="0"/>
              </a:rPr>
              <a:t>, NULL);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pthread_create</a:t>
            </a:r>
            <a:r>
              <a:rPr lang="en-US" altLang="en-US" sz="1600" i="0" dirty="0">
                <a:latin typeface="Lucida Console" panose="020B0609040504020204" pitchFamily="49" charset="0"/>
              </a:rPr>
              <a:t>(&amp;id1, NULL, P, NULL);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pthread_create</a:t>
            </a:r>
            <a:r>
              <a:rPr lang="en-US" altLang="en-US" sz="1600" i="0" dirty="0">
                <a:latin typeface="Lucida Console" panose="020B0609040504020204" pitchFamily="49" charset="0"/>
              </a:rPr>
              <a:t>(&amp;id2, NULL, P, NULL);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pthread_join</a:t>
            </a:r>
            <a:r>
              <a:rPr lang="en-US" altLang="en-US" sz="1600" i="0" dirty="0">
                <a:latin typeface="Lucida Console" panose="020B0609040504020204" pitchFamily="49" charset="0"/>
              </a:rPr>
              <a:t>(id1, NULL);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  </a:t>
            </a:r>
            <a:r>
              <a:rPr lang="en-US" altLang="en-US" sz="1600" i="0" dirty="0" err="1">
                <a:latin typeface="Lucida Console" panose="020B0609040504020204" pitchFamily="49" charset="0"/>
              </a:rPr>
              <a:t>pthread_join</a:t>
            </a:r>
            <a:r>
              <a:rPr lang="en-US" altLang="en-US" sz="1600" i="0" dirty="0">
                <a:latin typeface="Lucida Console" panose="020B0609040504020204" pitchFamily="49" charset="0"/>
              </a:rPr>
              <a:t>(id2, NULL);</a:t>
            </a:r>
          </a:p>
          <a:p>
            <a:pPr>
              <a:defRPr/>
            </a:pPr>
            <a:r>
              <a:rPr lang="mr-IN" altLang="en-US" sz="1600" i="0" dirty="0">
                <a:latin typeface="Lucida Console" panose="020B0609040504020204" pitchFamily="49" charset="0"/>
              </a:rPr>
              <a:t>  assert(n == 20);</a:t>
            </a:r>
          </a:p>
          <a:p>
            <a:pPr>
              <a:defRPr/>
            </a:pPr>
            <a:r>
              <a:rPr lang="en-US" altLang="en-US" sz="1600" i="0" dirty="0">
                <a:latin typeface="Lucida Console" panose="020B0609040504020204" pitchFamily="49" charset="0"/>
              </a:rPr>
              <a:t>}</a:t>
            </a:r>
            <a:endParaRPr lang="en-US" altLang="en-US" sz="1600" b="1" i="0" dirty="0">
              <a:latin typeface="Lucida Console" panose="020B06090405040202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339059CC-F704-31BD-0A3E-B8FFBBF79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9063"/>
            <a:ext cx="8229600" cy="719137"/>
          </a:xfrm>
        </p:spPr>
        <p:txBody>
          <a:bodyPr/>
          <a:lstStyle/>
          <a:p>
            <a:pPr>
              <a:defRPr/>
            </a:pPr>
            <a:r>
              <a:rPr lang="en-GB" b="1" dirty="0">
                <a:solidFill>
                  <a:srgbClr val="000000"/>
                </a:solidFill>
                <a:ea typeface="+mj-ea"/>
                <a:cs typeface="Arial"/>
              </a:rPr>
              <a:t>Context-bounded analysis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38EEE8D-86F7-6176-F2FE-28951ECB4A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143000"/>
            <a:ext cx="8763000" cy="5410200"/>
          </a:xfrm>
        </p:spPr>
        <p:txBody>
          <a:bodyPr/>
          <a:lstStyle/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Tx/>
              <a:buNone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Important observation: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Tx/>
              <a:buNone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Tx/>
              <a:buNone/>
              <a:defRPr/>
            </a:pPr>
            <a:endParaRPr lang="en-GB" sz="2800" dirty="0">
              <a:latin typeface="Arial"/>
              <a:ea typeface="+mn-ea"/>
              <a:cs typeface="Arial"/>
            </a:endParaRP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Tx/>
              <a:buNone/>
              <a:defRPr/>
            </a:pPr>
            <a:r>
              <a:rPr lang="en-GB" sz="2800" dirty="0">
                <a:latin typeface="Arial"/>
                <a:ea typeface="+mn-ea"/>
                <a:cs typeface="Arial"/>
              </a:rPr>
              <a:t>i.e., require only few context switches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buFontTx/>
              <a:buNone/>
              <a:defRPr/>
            </a:pPr>
            <a:r>
              <a:rPr lang="en-GB" sz="2800" dirty="0">
                <a:latin typeface="Arial"/>
                <a:ea typeface="Arial Unicode MS" pitchFamily="34" charset="-128"/>
                <a:cs typeface="Arial"/>
              </a:rPr>
              <a:t>⇒ </a:t>
            </a:r>
            <a:r>
              <a:rPr lang="en-GB" sz="2800" dirty="0">
                <a:latin typeface="Arial"/>
                <a:ea typeface="Arial Unicode MS"/>
                <a:cs typeface="Arial"/>
              </a:rPr>
              <a:t>limit the search space by bounding the number of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defRPr/>
            </a:pPr>
            <a:r>
              <a:rPr lang="en-GB" sz="2800" dirty="0">
                <a:latin typeface="Arial"/>
                <a:ea typeface="Arial Unicode MS"/>
                <a:cs typeface="Arial"/>
              </a:rPr>
              <a:t>context switches</a:t>
            </a:r>
          </a:p>
          <a:p>
            <a:pPr>
              <a:spcBef>
                <a:spcPts val="800"/>
              </a:spcBef>
              <a:spcAft>
                <a:spcPts val="800"/>
              </a:spcAft>
              <a:buClr>
                <a:schemeClr val="tx1"/>
              </a:buClr>
              <a:defRPr/>
            </a:pPr>
            <a:r>
              <a:rPr lang="en-GB" sz="2800" dirty="0">
                <a:latin typeface="Arial"/>
                <a:ea typeface="Arial Unicode MS"/>
                <a:cs typeface="Arial"/>
              </a:rPr>
              <a:t>rounds</a:t>
            </a:r>
            <a:endParaRPr lang="en-GB" sz="2800" dirty="0">
              <a:latin typeface="Arial"/>
              <a:ea typeface="+mn-ea"/>
              <a:cs typeface="Arial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3699FB0-7128-BB56-ECC1-9E226BE923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1905000"/>
            <a:ext cx="6705600" cy="762000"/>
          </a:xfrm>
          <a:prstGeom prst="roundRect">
            <a:avLst>
              <a:gd name="adj" fmla="val 16667"/>
            </a:avLst>
          </a:prstGeom>
          <a:solidFill>
            <a:schemeClr val="bg1"/>
          </a:solidFill>
          <a:ln w="25400">
            <a:solidFill>
              <a:schemeClr val="tx1"/>
            </a:solidFill>
            <a:round/>
            <a:headEnd/>
            <a:tailEnd/>
          </a:ln>
          <a:effectLst>
            <a:outerShdw blurRad="50800" dist="38100" dir="2700000" sx="102000" sy="102000" algn="tl" rotWithShape="0">
              <a:srgbClr val="808080">
                <a:alpha val="39999"/>
              </a:srgbClr>
            </a:outerShdw>
          </a:effectLst>
        </p:spPr>
        <p:txBody>
          <a:bodyPr tIns="90000" bIns="90000" anchor="ctr"/>
          <a:lstStyle/>
          <a:p>
            <a:pPr marL="342900" indent="-342900" algn="ctr">
              <a:spcBef>
                <a:spcPts val="1800"/>
              </a:spcBef>
              <a:defRPr/>
            </a:pPr>
            <a:r>
              <a:rPr lang="en-GB" sz="2400" b="1" i="0" kern="0" dirty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Most concurrency errors are shallow!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mputer-bunny.blue">
  <a:themeElements>
    <a:clrScheme name="">
      <a:dk1>
        <a:srgbClr val="000000"/>
      </a:dk1>
      <a:lt1>
        <a:srgbClr val="FFFFFF"/>
      </a:lt1>
      <a:dk2>
        <a:srgbClr val="CC0000"/>
      </a:dk2>
      <a:lt2>
        <a:srgbClr val="969696"/>
      </a:lt2>
      <a:accent1>
        <a:srgbClr val="0033CC"/>
      </a:accent1>
      <a:accent2>
        <a:srgbClr val="339933"/>
      </a:accent2>
      <a:accent3>
        <a:srgbClr val="FFFFFF"/>
      </a:accent3>
      <a:accent4>
        <a:srgbClr val="000000"/>
      </a:accent4>
      <a:accent5>
        <a:srgbClr val="AAADE2"/>
      </a:accent5>
      <a:accent6>
        <a:srgbClr val="2D8A2D"/>
      </a:accent6>
      <a:hlink>
        <a:srgbClr val="9900CC"/>
      </a:hlink>
      <a:folHlink>
        <a:srgbClr val="B2B2B2"/>
      </a:folHlink>
    </a:clrScheme>
    <a:fontScheme name="computer-bunny.blue.pot">
      <a:majorFont>
        <a:latin typeface="Arial"/>
        <a:ea typeface="ＭＳ Ｐゴシック"/>
        <a:cs typeface=""/>
      </a:majorFont>
      <a:minorFont>
        <a:latin typeface="Times New Roman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triangle" w="med" len="med"/>
        </a:ln>
        <a:effectLst/>
        <a:extLst>
          <a:ext uri="{AF507438-7753-43e0-B8FC-AC1667EBCBE1}">
            <a14:hiddenEffects xmlns:a14="http://schemas.microsoft.com/office/drawing/2010/main" xmlns="">
              <a:effectLst>
                <a:outerShdw blurRad="63500"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charset="0"/>
          </a:defRPr>
        </a:defPPr>
      </a:lstStyle>
    </a:lnDef>
  </a:objectDefaults>
  <a:extraClrSchemeLst>
    <a:extraClrScheme>
      <a:clrScheme name="computer-bunny.blue.pot 1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33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mputer-bunny.blue.pot 3">
        <a:dk1>
          <a:srgbClr val="000000"/>
        </a:dk1>
        <a:lt1>
          <a:srgbClr val="FFFFCC"/>
        </a:lt1>
        <a:dk2>
          <a:srgbClr val="999933"/>
        </a:dk2>
        <a:lt2>
          <a:srgbClr val="808000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4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5">
        <a:dk1>
          <a:srgbClr val="000000"/>
        </a:dk1>
        <a:lt1>
          <a:srgbClr val="FFFFFF"/>
        </a:lt1>
        <a:dk2>
          <a:srgbClr val="000000"/>
        </a:dk2>
        <a:lt2>
          <a:srgbClr val="9F9F9F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6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CBCBCB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005CE7"/>
        </a:accent6>
        <a:hlink>
          <a:srgbClr val="FF0033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7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mputer-bunny.blue.pot 8">
        <a:dk1>
          <a:srgbClr val="000000"/>
        </a:dk1>
        <a:lt1>
          <a:srgbClr val="FFFFFF"/>
        </a:lt1>
        <a:dk2>
          <a:srgbClr val="CC0000"/>
        </a:dk2>
        <a:lt2>
          <a:srgbClr val="969696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K:\doc\Presentations\computer-bunny.blue.pot</Template>
  <TotalTime>40133</TotalTime>
  <Words>1395</Words>
  <Application>Microsoft Macintosh PowerPoint</Application>
  <PresentationFormat>On-screen Show (4:3)</PresentationFormat>
  <Paragraphs>246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32" baseType="lpstr">
      <vt:lpstr>Arial</vt:lpstr>
      <vt:lpstr>MS PGothic</vt:lpstr>
      <vt:lpstr>Times New Roman</vt:lpstr>
      <vt:lpstr>Wingdings</vt:lpstr>
      <vt:lpstr>Monotype Sorts</vt:lpstr>
      <vt:lpstr>MT Extra</vt:lpstr>
      <vt:lpstr>Calibri</vt:lpstr>
      <vt:lpstr>Arial Unicode MS</vt:lpstr>
      <vt:lpstr>Symbol</vt:lpstr>
      <vt:lpstr>Courier</vt:lpstr>
      <vt:lpstr>Lucida Sans Typewriter</vt:lpstr>
      <vt:lpstr>Lucida Console</vt:lpstr>
      <vt:lpstr>Verdana</vt:lpstr>
      <vt:lpstr>Arial (Body)</vt:lpstr>
      <vt:lpstr>Lucida Grande</vt:lpstr>
      <vt:lpstr>computer-bunny.blue</vt:lpstr>
      <vt:lpstr>PowerPoint Presentation</vt:lpstr>
      <vt:lpstr>SAT/SMT-based BMC tools for C</vt:lpstr>
      <vt:lpstr>SAT/SMT-based BMC tools for C</vt:lpstr>
      <vt:lpstr>SAT/SMT-based BMC tools for C</vt:lpstr>
      <vt:lpstr>SAT/SMT-based BMC tools for C</vt:lpstr>
      <vt:lpstr>Control flow simplifications</vt:lpstr>
      <vt:lpstr>Loop unwinding</vt:lpstr>
      <vt:lpstr>Loop unwinding</vt:lpstr>
      <vt:lpstr>Safety conditions</vt:lpstr>
      <vt:lpstr>Transforming straight-line programs into equations</vt:lpstr>
      <vt:lpstr>Transforming loop-free programs into equations</vt:lpstr>
      <vt:lpstr>SAT vs. SMT </vt:lpstr>
      <vt:lpstr>Modeling with non-determinism</vt:lpstr>
      <vt:lpstr>Modeling with non-determinism</vt:lpstr>
      <vt:lpstr>Concurrency verification</vt:lpstr>
      <vt:lpstr>Context-bounded analysis</vt:lpstr>
    </vt:vector>
  </TitlesOfParts>
  <Company>University of Virginia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332: Algorithms</dc:title>
  <dc:creator>David Luebke</dc:creator>
  <cp:lastModifiedBy>Lucas Cordeiro</cp:lastModifiedBy>
  <cp:revision>718</cp:revision>
  <cp:lastPrinted>1998-11-03T18:33:01Z</cp:lastPrinted>
  <dcterms:created xsi:type="dcterms:W3CDTF">1998-11-02T19:17:54Z</dcterms:created>
  <dcterms:modified xsi:type="dcterms:W3CDTF">2026-06-11T15:42:25Z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2</vt:i4>
  </property>
  <property fmtid="{D5CDD505-2E9C-101B-9397-08002B2CF9AE}" pid="4" name="Compression">
    <vt:i4>95</vt:i4>
  </property>
  <property fmtid="{D5CDD505-2E9C-101B-9397-08002B2CF9AE}" pid="5" name="ScreenSize">
    <vt:i4>3</vt:i4>
  </property>
  <property fmtid="{D5CDD505-2E9C-101B-9397-08002B2CF9AE}" pid="6" name="ScreenUsage">
    <vt:i4>2</vt:i4>
  </property>
  <property fmtid="{D5CDD505-2E9C-101B-9397-08002B2CF9AE}" pid="7" name="MailAddress">
    <vt:lpwstr>luebke@cs.virginia.edu</vt:lpwstr>
  </property>
  <property fmtid="{D5CDD505-2E9C-101B-9397-08002B2CF9AE}" pid="8" name="HomePage">
    <vt:lpwstr>http://www.cs.virginia.edu/~luebke</vt:lpwstr>
  </property>
  <property fmtid="{D5CDD505-2E9C-101B-9397-08002B2CF9AE}" pid="9" name="Other">
    <vt:lpwstr>CS 551: Intro Computer Graphics_x000d_
David Luebke, UVA</vt:lpwstr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4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\\athena\luebke\public_html\cs332</vt:lpwstr>
  </property>
</Properties>
</file>