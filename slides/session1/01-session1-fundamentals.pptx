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CVE records published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  <c:pt idx="8">
                  <c:v>2024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6447</c:v>
                </c:pt>
                <c:pt idx="1">
                  <c:v>14645</c:v>
                </c:pt>
                <c:pt idx="2">
                  <c:v>16511</c:v>
                </c:pt>
                <c:pt idx="3">
                  <c:v>17305</c:v>
                </c:pt>
                <c:pt idx="4">
                  <c:v>18325</c:v>
                </c:pt>
                <c:pt idx="5">
                  <c:v>20153</c:v>
                </c:pt>
                <c:pt idx="6">
                  <c:v>25084</c:v>
                </c:pt>
                <c:pt idx="7">
                  <c:v>29066</c:v>
                </c:pt>
                <c:pt idx="8">
                  <c:v>40009</c:v>
                </c:pt>
                <c:pt idx="9">
                  <c:v>48185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CWE Top 25 score</c:v>
                </c:pt>
              </c:strCache>
            </c:strRef>
          </c:tx>
          <c:cat>
            <c:strRef>
              <c:f>Sheet1!$A$2:$A$11</c:f>
              <c:strCache>
                <c:ptCount val="10"/>
                <c:pt idx="0">
                  <c:v>10. Code Injection (CWE-94)</c:v>
                </c:pt>
                <c:pt idx="1">
                  <c:v>9. OS Command Injection (CWE-78)</c:v>
                </c:pt>
                <c:pt idx="2">
                  <c:v>8. Out-of-bounds Read (CWE-125)</c:v>
                </c:pt>
                <c:pt idx="3">
                  <c:v>7. Use After Free (CWE-416)</c:v>
                </c:pt>
                <c:pt idx="4">
                  <c:v>6. Path Traversal (CWE-22)</c:v>
                </c:pt>
                <c:pt idx="5">
                  <c:v>5. Out-of-bounds Write (CWE-787)</c:v>
                </c:pt>
                <c:pt idx="6">
                  <c:v>4. Missing Authorization (CWE-862)</c:v>
                </c:pt>
                <c:pt idx="7">
                  <c:v>3. Cross-Site Request Forgery (CWE-352)</c:v>
                </c:pt>
                <c:pt idx="8">
                  <c:v>2. SQL Injection (CWE-89)</c:v>
                </c:pt>
                <c:pt idx="9">
                  <c:v>1. Cross-site Scripting (CWE-79)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7.57</c:v>
                </c:pt>
                <c:pt idx="1">
                  <c:v>7.85</c:v>
                </c:pt>
                <c:pt idx="2">
                  <c:v>7.88</c:v>
                </c:pt>
                <c:pt idx="3">
                  <c:v>8.47</c:v>
                </c:pt>
                <c:pt idx="4">
                  <c:v>8.99</c:v>
                </c:pt>
                <c:pt idx="5">
                  <c:v>12.68</c:v>
                </c:pt>
                <c:pt idx="6">
                  <c:v>13.28</c:v>
                </c:pt>
                <c:pt idx="7">
                  <c:v>13.64</c:v>
                </c:pt>
                <c:pt idx="8">
                  <c:v>28.72</c:v>
                </c:pt>
                <c:pt idx="9">
                  <c:v>60.38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svlab.github.io/lucasccordeiro/courses/2022/01/software-security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1 — Fundamentals and Real-World Applications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  <a:hlinkClick r:id="rId2"/>
              </a:rPr>
              <a:t>Built on the COMP63342 Software Security course (University of Manchester)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10698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923544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Welcome + a question for you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Why software fails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1: spot the bug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 vs. verification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From programs to formulas: SAT, SMT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Exercise 2: predict the verdict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Who uses this in the real world?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Quiz + what to install for Session 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Icebreaker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Name a software failure that made the news.</a:t>
            </a:r>
          </a:p>
          <a:p>
            <a:pPr>
              <a:spcAft>
                <a:spcPts val="800"/>
              </a:spcAft>
            </a:pPr>
            <a:r>
              <a:rPr sz="3000">
                <a:solidFill>
                  <a:srgbClr val="212121"/>
                </a:solidFill>
              </a:rPr>
              <a:t>Any failure. Any decade. Shout it out / drop it in the poll.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When software fails: two classics and a fresh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Ariane 5, 1996: a 64-bit float squeezed into a 16-bit integer. The conversion overflowed; the rocket self-destructed 40 seconds after lift-off.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code was reused from Ariane 4, where that value “could never get that large”.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Therac-25, 1985–87: a race condition between operator keystrokes and the radiation beam controller. Six massive overdoses, several fatal.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Sequential testing never showed it: the bug needed precise, fast operator timing.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CrowdStrike, 2024: a security update supplied 21 input fields to sensor code expecting 20. The out-of-bounds read blue-screened 8.5 million Windows machines; the bad file was live for just 78 minutes.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It passed the release tooling: the content validator itself had a bug, and no test ever read the 21st field.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integer overflow, a race condition, and an out-of-bounds read. Hold that thought — you will hunt all three bug classes yourself in Session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 password check in 11 lines of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char *gets(char *s);  /* removed from C11 — unsafe by design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getPassword(void)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char buf[4];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gets(buf);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  return strcmp(buf, "SMT");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/* main: 0 from getPassword =&gt; "Access Granted"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session1-demos/getpassword.c — what happens if you type more than three characters?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What gets() does to the stack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580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stack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where main continues after the call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saved 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caller's state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buf[0] … buf[3]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gets(buf) starts writing here…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gets() never checks the size: byte 5, 6, 7… keep overwriting whatever lies above the buffer — up to the return address.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An attacker chooses those bytes. That is not a crash; that is control of your program.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Could a test suite find this? Only if someone thinks to type the right garbage.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Let's ask a tool instead of an attacker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getpassword.c --unwind 8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[Counterexample]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(out-of-bounds write)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 input was typed. No exploit was written. The tool proved the overflow is reachable — and printed the input that triggers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Safety and security: two sides of one 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Safety — the system must not harm the world (Therac-25, Ariane 5).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Security — the world must not harm the system (getPassword).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root cause tonight: the program reaches a state it was never meant to reach.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65760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840480"/>
                <a:gridCol w="4297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Security 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getPassword breaks it?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Confidentiality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secrets behind the check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Integrity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no unauthorised writing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yes — the stack itself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service stays 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crash = denial of service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Memory safety: the bug class that won't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 trusts you completely: every array index, every pointer dereference, every free() is your problem.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 it wrong and the result is undefined behaviour — the program may crash, corrupt data, or look perfectly fine until it ships.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“Looks fine in testing” is exactly what undefined behaviour does best.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How big is the problem? Let's look at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Vulnerabilities keep climbing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097280" y="1371600"/>
          <a:ext cx="99669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0350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More than 48,000 new CVEs in 2025 — almost tripled since 2020.   Sources: nvd.nist.gov · cve.org (2026)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And the same weaknesses top the chart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280160"/>
          <a:ext cx="96926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436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12121"/>
                </a:solidFill>
              </a:rPr>
              <a:t>Memory safety still everywhere: out-of-bounds write #5, use-after-free #7, out-of-bounds read #8 — plus classic buffer overflow at #11.   Source: cwe.mitre.org/top25 (Dec 2025)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Industry's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~70% of the vulnerabilities Microsoft patches every year are memory-safety bugs (MSRC, 2019) — a figure that has barely moved in a decade.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Every one of those products shipped with a serious test suite. Testing did not stop them.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industry answers: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memory-safe languages for new code (Rust, …)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proving the C/C++ we already run correct — formal verification. Tonight is about this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1 — Spot the Bug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pairs, 7 minutes, on the handout: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*aPtr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*sPtr = NULL;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number,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z[5] = {1, 2, 3, 4, 5};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sPtr = z;   ++zPtr;   number = zPtr;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number = *zPtr[2];   number = *sPtr;   ++z;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bug: WHAT is wrong, and what could happen at runtime?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There are at least six. Debrief: one bug per pair.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Verification vs.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Validation — are we building the right thing? (ask the users)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Verification — are we building the thing right? (ask the specification)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is verification: given a program and a property, does every execution satisfy the property?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testing cannot prove absence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One int input = 2³² cases. At a billion tests per second: about 4 seconds. Fine.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int inputs = 2⁶⁴ cases. Same machine: about 585 years.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getPassword's input isn't even bounded — there is no test suite to write.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“Program testing can be used to show the presence of bugs, but never to show their absence.” — E. W. Dijkstra, 1970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green test suite means: no bug in the cases we tried.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idea of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Turn the program and the property into mathematics, and ask one question: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Can the program reach a state where the property fails?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 — for all inputs, all paths:  a proof.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YES — and here is the exact input:  a counterexample.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Both answers are useful. The second one is a free bug report.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Soundness and completeness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Sound — the tool never misses a bug.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sound tool says SAFE, it is safe.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Complete — the tool never raises a false alarm.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If a complete tool says BUG, it is a real bug.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Testing is complete but not sound (every failure is real; absence proves nothing).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Most static analysers are sound but not complete (no missed bugs, but false alarms).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Where does your technique sit?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356616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Complete (no false alarms)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Incomplete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Sound (no missed bugs)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dream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abstract interpretation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Unsound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bounded model checking*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testing, code review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749039"/>
            <a:ext cx="107899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* sound up to its bound — tonight's central fine print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Think–pair–share (5 min): place testing, code review, compiler warnings, and “prove it with maths” on this grid. Defend your placement.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technique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023360"/>
                <a:gridCol w="320040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Technique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you 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What it costs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failures, 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proves nothing about absence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Static analysis / abstract interp.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sound warnings, scales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false alarms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Symbolic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real bugs + the triggering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path explosion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Bounded model checking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counterexample, or proof up to a bound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the bound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Interactive proof (Coq, Isabelle)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full functional correctness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person-years of effort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937760"/>
            <a:ext cx="1078992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Tonight: bounded model checking. At 20:30 we tour who uses the rest.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no way to violate P exists — a proof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satisfiable, with 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 tool tonight, and every lab in Session 2, is this one move in different costumes.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So we need an oracle for “is this formula satisfiable?” — it exists, it is free, and it is absurdly good. After the break.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SAT: the original hard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(a ∨ ¬b) ∧ (b ∨ c) ∧ (¬a ∨ ¬c)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Is there a true/false assignment that makes the whole formula true?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first problem ever proved NP-complete (Cook, 1971) — in theory, hopeless.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In practice: modern solvers eat formulas with millions of clauses for breakfast. Industrial SAT solving is the closest thing CS has to a superpower.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two answers a solver can give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— and here is a model: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= true, b = true, c = false   ← check it by hand, it works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— no satisfying assignment exists, anywhere.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Not “I didn't find one”. A proof that none exists.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Now recall the trick: encode the bug as the formula.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+ model  =  bug found, with the input that triggers it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=  that bug is impossible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SMT: SAT that speaks 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594360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In your C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SMT theory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int, unsigned, wrap-around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bit-vectors — exact machine arithmetic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arrays, indexing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theory of arrays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float, double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IEEE-754 floating point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pointers, malloc/free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memory models built on the above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38912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SMT = SAT + theories. The solver reasons about what your machine actually does — wrap-around, rounding and all — not idealised mathematics.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Worked example: one array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a[5];          /* valid indices: 0 .. 4 */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a[i] = 0;          /* is this safe? */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property P:  0 ≤ i ∧ i &lt; 5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 question to the solver:  can the program reach this line with  ¬(0 ≤ i ∧ i &lt; 5)?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sat  →  the model contains the bad i — your counterexample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unsat  →  the access is safe on every path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a solver in two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python3 z3_demo.py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1: x + y == 42 and x &gt; 100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[y = -59, x = 101]            ← a model, in milliseconds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Query 2: x*x == 2*y*y, x &gt; 0, y &gt; 0 (no overflow)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unsat                          ← a proof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Query 2 just proved that √2 is irrational — 32-bit bit-vector edition. unsat is a theorem, not a shrug.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Machine arithmetic is not mathematics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    =  2147483647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INT_MAX + 1 =  ?            /* C: undefined behaviour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                    /* bit-vectors: wraps negative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assert(z &gt;= 2);   /* surely true for x &gt;= 0 … ?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 solver finds the x that breaks this in milliseconds. In Lab 1 you will encode these three lines yourself and watch it happen.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Solvers as search engines: SEND + MORE =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S E N D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+ M O R 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---------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M O N E Y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Eight letters, all different digits, S ≠ 0, M ≠ 0 — about 10⁸ candidate assignments.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Z3 finds the unique solution in well under a second.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same engine that solves puzzles finds your bugs: a counterexample is just a solution to “break my program”.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 1, Stage 2: you run this yourself.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Bounded model checking: the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unwind loops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4203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single static
assignment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8231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236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program ∧ ¬P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2259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737360"/>
            <a:ext cx="1737360" cy="1097280"/>
          </a:xfrm>
          <a:prstGeom prst="roundRect">
            <a:avLst/>
          </a:prstGeom>
          <a:solidFill>
            <a:srgbClr val="5A0A7A"/>
          </a:solidFill>
          <a:ln>
            <a:solidFill>
              <a:srgbClr val="5A0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SMT solver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262872" y="2176272"/>
            <a:ext cx="356616" cy="219456"/>
          </a:xfrm>
          <a:prstGeom prst="rightArrow">
            <a:avLst/>
          </a:prstGeom>
          <a:solidFill>
            <a:srgbClr val="2121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sat  →  VERIFICATION FAILED + a counterexample trace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→  no violation exists within the bound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This is exactly what ESBMC did to getpassword.c before the break — now we open the box.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1 — unwind the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89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for (int i = 0; i &lt;= 5; i++)  a[i] = i;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--unwind k copies the loop body k times, each copy guarded by the loop condition.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Then one extra check, the unwinding assertion: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“could the loop have run a (k+1)-th time?”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Bounded — but honest: the tool tells you when its bound was too small, instead of silently missing behaviour.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an --unwind k verdict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55448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12648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The tool prints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It means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FAILED + trace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real bug, reachable within k iterations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VERIFICATION SUCCESSFUL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a proof — k covers every possible run of the loop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FAILED: unwinding assertion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the bound was too small — NOT a program bug; raise k and re-run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02336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choose k yourself for a loop with at most 50 iterations — keep this table within reach.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“Sound up to its bound”, now made precise.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Step 2 — every assignment gets a fresh name (SSA)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y = x + 1;        →   y₁ = x₀ + 1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int z = y * 2;        →   z₁ = y₁ · 2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assert(z &gt;= 2);       →   check:  ¬(z₁ ≥ 2) 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Once every name is assigned exactly once, straight-line code IS a system of equations — no execution needed.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Recognise the three lines? In Lab 1, Stage 3 you translate exactly this function by hand and hand it to Z3. You will be doing ESBMC's job yourself.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Putting 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⟦program⟧  ∧  ¬P      →  SMT solver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sat — the model assigns every input and every choice: replayed in program order, that is the counterexample trace.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unsat — no execution within the bound violates P.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One formula, every path at once. That is why nobody has to enumerate 2⁶⁴ test cases.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Anatomy of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 file offbyone.c  line 15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 = 5 (00000000 ... 101)      ← the value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...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array bounds violated: a[i]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CWE-787                   ← the vulnerability class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it bottom-up: first what was violated, then scroll up for the values that caused it.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Those values are a ready-made failing test case — keep them.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Live: the whole pipeline on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main(void)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int a[5];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for (int i = 0; i &lt;= 5; i++)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a[i] = i;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$ esbmc offbyone.c --unwind 7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first: FAILED or SUCCESSFUL? If FAILED — at which i?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read the trace together, bottom-up.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Modelling the environment: a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nondeterministic input = all tests of that input at once.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In Session 2 you will use these three lines to expose a bug in a program that verifies green as shipped — the tool only checks what you specify.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Beyond one thread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Two threads of two and one statements already have three interleavings. Real code has billions.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Run the program a million times and the bad interleaving may never show up — Therac-25's bug hid exactly this way.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checker enumerates every interleaving up to a bound, including the one that kills your assertion.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Session 2, Lab 4: you write down the killer interleaving before the tool finds it.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Homework for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double w = 0.1 + 0.2;</a:t>
            </a:r>
          </a:p>
          <a:p>
            <a:pPr>
              <a:spcAft>
                <a:spcPts val="0"/>
              </a:spcAft>
            </a:pPr>
            <a:r>
              <a:rPr sz="2200">
                <a:solidFill>
                  <a:srgbClr val="212121"/>
                </a:solidFill>
                <a:latin typeface="Courier New"/>
              </a:rPr>
              <a:t>assert(w == 0.3);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FAILED or SUCCESSFUL?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Bring your answer to Session 2 — Lab 4 settles it with a solver that does exact IEEE-754 arithmetic.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Hint: 0.1 in binary is like 1/3 in decimal.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Exercise 2 — Predict the Verdict (15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Groups of 3–4. Three short C programs on the handout (predict1.c, predict2.c, predict3.c).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For each program, write down BEFORE we run anything: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Will the model checker say VERIFICATION FAILED or SUCCESSFUL?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If FAILED — which line is the culprit?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Then we run ESBMC live and settle every bet.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Model checking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Amazon Web Services — CBMC proves memory safety of the TLS library s2n; bounded proofs run in CI on every commit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/ CBMC — the tools from tonight's demos; compete yearly in SV-COMP on tens of thousands of benchmarks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saw for getpassword.c is the same artefact AWS engineers read when a proof fails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Symbolic execution &amp; fuzzing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KLEE found 56 serious bugs in coreutils, busybox and Minix — including three in coreutils that had survived 15 years of testing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Microsoft SAGE fuzzed Windows file parsers with symbolic execution; it found ~1/3 of all bugs caught by file fuzzing during Windows 7 development — running last, after every other tool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AFL / OSS-Fuzz — Google fuzzes ~1,000 open-source projects continuously; tens of thousands of bugs found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pragmatic cousin of verification: no proofs, ruthless effectiveness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Who uses this? — Proofs all the way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Astrée (abstract interpretation) proved absence of runtime errors in the Airbus A340 fly-by-wire code — 132,000 lines of C — and was then applied to the A380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seL4 — an OS microkernel with a machine-checked proof of functional correctness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CompCert — a C compiler with a proof that compilation preserves semantics; six CPU-years of fuzzing found no wrong-code bugs in its verified core, while every other compiler tested failed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If verification can prove the absence of bugs…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why isn't all software verified?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(Let's collect reasons — then I'll tell you which ones the industry actually cites.)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Closing quiz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A tool that never raises a false alarm is called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ESBMC returns UNSAT for C ∧ ¬P at --unwind 10. What do we know?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What's inside a counterexample?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4. Which technique proved the A340 flight-control code free of runtime errors?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5. Why can't testing prove the getPassword program safe?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Before Session 2 — 10 minutes of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Follow handouts/setup.md in the repo: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1.  pip install z3-solver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2.  download ESBMC: github.com/esbmc/esbmc/releases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3.  smoke test:  esbmc labs/lab4/float.c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→ should print VERIFICATION FAILED (yes, failed — that's the point)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Can't make it work? Come at 17:45 — we'll fix it together.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