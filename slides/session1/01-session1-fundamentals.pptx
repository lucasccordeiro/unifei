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F0-1948-BDAE-261F7823F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invertIfNegative val="1"/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8.4700000000000006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865-8246-B023-CCC09D27C1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ssvlab.github.io/lucasccordeiro/courses/2022/01/software-security/index.html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esbmc.github.io/docs/c-cpp/ctest-gen/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sbmc/esbmc/blob/master/src/irep2/README.md" TargetMode="Externa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96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5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endParaRPr sz="20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endParaRPr sz="20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endParaRPr sz="16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endParaRPr sz="16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endParaRPr sz="16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endParaRPr sz="16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endParaRPr sz="16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endParaRPr sz="16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endParaRPr sz="26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endParaRPr sz="26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endParaRPr sz="2600">
              <a:solidFill>
                <a:srgbClr val="212121"/>
              </a:solidFill>
            </a:endParaRP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endParaRPr sz="22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LLMs find bugs too — but who checks the LLM?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LLMs (Copilot, Claude, Cursor) read code and flag bugs — fast, broad, cheap. They even find real zero-days: Google's Big Sleep found an exploitable buffer underflow in SQLite (2024).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But an LLM is unsound and incomplete: it misses real bugs and hallucinates ones that aren't there — no guarantees. Same corner of the grid as code review.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win is pairing them — the LLM proposes, a sound checker disposes: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LLM suggests bugs, fixes, specs, or inductive invariants;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verifier returns a concrete counterexample or a proof — and catches the hallucinations.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ESBMC-AI does exactly this: ESBMC verifies → counterexample + code → LLM proposes a fix → re-verify, loop until proven.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Sources: Google Big Sleep (Project Zero × DeepMind, 2024) · ESBMC-AI — esbmc.github.io/esbmc-ai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endParaRPr sz="26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endParaRPr sz="22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substitution puzzle: replace each letter with a digit. Same letter → same digit; different letters → different digits.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distinct letters — S E N D M O R Y. The words are fixed; what we solve for is the digit hiding behind each letter.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Goal: find the assignment that makes the addition come out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Turn the puzzle into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word is just its digits times their place value: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SEND  = 1000·S + 100·E + 10·N + 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MORE  = 1000·M + 100·O + 10·R + E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MONEY = 10000·M + 1000·O + 100·N + 10·E + Y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 the whole puzzle becomes one equation:  SEND + MORE = MONEY.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Plus the rules: every letter is a digit 0–9; all eight are different; S ≠ 0 and M ≠ 0 (no number starts with 0).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is MONEY five digits? Two 4-digit numbers can carry into a fifth place — and that carry is at most 1, so M = 1 before we even start.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 the solver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Naïvely 10⁸ ways to fill in eight letters; “all different, S ≠ 0, M ≠ 0” cuts it to about 1.5 million — still far too many to eyeball.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solver does not guess blindly: it fixes M = 1, then propagates each column's carry, backtracking when a choice clashes — the way you solve Sudoku.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returns the unique solution in well under a second: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send_more_money.py        # in session1-demos/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9567 + 1085 = 10652   (S=9 E=5 N=6 D=7 M=1 O=0 R=8 Y=2)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this finds your bugs: a counterexample is just a satisfying assignment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endParaRPr sz="22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endParaRPr sz="22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endParaRPr sz="26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endParaRPr sz="24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endParaRPr sz="22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endParaRPr sz="26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042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dirty="0">
                <a:solidFill>
                  <a:srgbClr val="212121"/>
                </a:solidFill>
              </a:rPr>
              <a:t>The BMC pipeline you just saw hunts a counterexample (or proves up to a bound). Abstract interpretation proves P the other way</a:t>
            </a:r>
            <a:r>
              <a:rPr lang="en-GB" sz="2000" dirty="0">
                <a:solidFill>
                  <a:srgbClr val="212121"/>
                </a:solidFill>
              </a:rPr>
              <a:t>;</a:t>
            </a:r>
            <a:r>
              <a:rPr sz="2000" dirty="0">
                <a:solidFill>
                  <a:srgbClr val="212121"/>
                </a:solidFill>
              </a:rPr>
              <a:t> over-approximate every run at once: no inputs, no paths, no bound.</a:t>
            </a:r>
          </a:p>
          <a:p>
            <a:pPr>
              <a:spcAft>
                <a:spcPts val="800"/>
              </a:spcAft>
            </a:pPr>
            <a:endParaRPr sz="2000" dirty="0">
              <a:solidFill>
                <a:srgbClr val="212121"/>
              </a:solidFill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12121"/>
                </a:solidFill>
                <a:latin typeface="Courier New"/>
              </a:rPr>
              <a:t>x = 0                 # x ∈ [0, 0]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12121"/>
                </a:solidFill>
                <a:latin typeface="Courier New"/>
              </a:rPr>
              <a:t>while x &lt; 100: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12121"/>
                </a:solidFill>
                <a:latin typeface="Courier New"/>
              </a:rPr>
              <a:t>    x = x + 1         # x ∈ [1, 100]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12121"/>
                </a:solidFill>
                <a:latin typeface="Courier New"/>
              </a:rPr>
              <a:t># fixpoint invariant:  x ∈ [0, 100]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12121"/>
                </a:solidFill>
                <a:latin typeface="Courier New"/>
              </a:rPr>
              <a:t>assert 0 &lt;= x &lt;= 100  # implied by the invariant → PROVED</a:t>
            </a:r>
          </a:p>
          <a:p>
            <a:pPr>
              <a:spcAft>
                <a:spcPts val="800"/>
              </a:spcAft>
            </a:pPr>
            <a:endParaRPr sz="1600" dirty="0">
              <a:solidFill>
                <a:srgbClr val="212121"/>
              </a:solidFill>
              <a:latin typeface="Courier New"/>
            </a:endParaRPr>
          </a:p>
          <a:p>
            <a:pPr lvl="1">
              <a:spcAft>
                <a:spcPts val="800"/>
              </a:spcAft>
            </a:pPr>
            <a:r>
              <a:rPr sz="1800" dirty="0">
                <a:solidFill>
                  <a:srgbClr val="212121"/>
                </a:solidFill>
              </a:rPr>
              <a:t>Compute the tightest fact the loop can't escape (a fixpoint); if it implies P, P holds for every run</a:t>
            </a:r>
            <a:r>
              <a:rPr lang="en-GB" sz="1800" dirty="0">
                <a:solidFill>
                  <a:srgbClr val="212121"/>
                </a:solidFill>
              </a:rPr>
              <a:t>;</a:t>
            </a:r>
            <a:r>
              <a:rPr sz="1800" dirty="0">
                <a:solidFill>
                  <a:srgbClr val="212121"/>
                </a:solidFill>
              </a:rPr>
              <a:t> no unrolling.</a:t>
            </a:r>
          </a:p>
          <a:p>
            <a:pPr lvl="1">
              <a:spcAft>
                <a:spcPts val="800"/>
              </a:spcAft>
            </a:pPr>
            <a:r>
              <a:rPr sz="1800" dirty="0">
                <a:solidFill>
                  <a:srgbClr val="212121"/>
                </a:solidFill>
              </a:rPr>
              <a:t>Sound, not complete: too coarse → a false alarm. (Astrée proved the A340/A380 fly-by-wire this way</a:t>
            </a:r>
            <a:r>
              <a:rPr lang="en-GB" sz="1800" dirty="0">
                <a:solidFill>
                  <a:srgbClr val="212121"/>
                </a:solidFill>
              </a:rPr>
              <a:t>;</a:t>
            </a:r>
            <a:r>
              <a:rPr sz="1800" dirty="0">
                <a:solidFill>
                  <a:srgbClr val="212121"/>
                </a:solidFill>
              </a:rPr>
              <a:t> next slide.)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Abstract interpretation: domain, widening, narrowing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</a:pPr>
            <a:r>
              <a:rPr sz="1800" dirty="0">
                <a:solidFill>
                  <a:srgbClr val="212121"/>
                </a:solidFill>
              </a:rPr>
              <a:t>Abstract domain — the facts you track instead of exact values. Intervals x ∈ [a, b]; richer ones add relationships (octagons ±x ±y ≤ c, </a:t>
            </a:r>
            <a:r>
              <a:rPr sz="1800" dirty="0" err="1">
                <a:solidFill>
                  <a:srgbClr val="212121"/>
                </a:solidFill>
              </a:rPr>
              <a:t>polyhedra</a:t>
            </a:r>
            <a:r>
              <a:rPr sz="1800" dirty="0">
                <a:solidFill>
                  <a:srgbClr val="212121"/>
                </a:solidFill>
              </a:rPr>
              <a:t>). At a branch you join the two sides</a:t>
            </a:r>
            <a:r>
              <a:rPr lang="en-GB" sz="1800" dirty="0">
                <a:solidFill>
                  <a:srgbClr val="212121"/>
                </a:solidFill>
              </a:rPr>
              <a:t>;</a:t>
            </a:r>
            <a:r>
              <a:rPr sz="1800" dirty="0">
                <a:solidFill>
                  <a:srgbClr val="212121"/>
                </a:solidFill>
              </a:rPr>
              <a:t> richer domain → more precise, but more costly.</a:t>
            </a:r>
          </a:p>
          <a:p>
            <a:pPr>
              <a:spcAft>
                <a:spcPts val="800"/>
              </a:spcAft>
            </a:pPr>
            <a:endParaRPr sz="1800" dirty="0">
              <a:solidFill>
                <a:srgbClr val="212121"/>
              </a:solidFill>
            </a:endParaRPr>
          </a:p>
          <a:p>
            <a:pPr lvl="1">
              <a:spcAft>
                <a:spcPts val="800"/>
              </a:spcAft>
            </a:pPr>
            <a:r>
              <a:rPr sz="1800" dirty="0">
                <a:solidFill>
                  <a:srgbClr val="212121"/>
                </a:solidFill>
              </a:rPr>
              <a:t>Widening (∇) — forces loops to converge. The loop ascends [0,0] → [0,1] → [0,2] → … and may never stop; widening sees the bound climbing and extrapolates it to [0, +∞). Termination, at the cost of precision.</a:t>
            </a:r>
          </a:p>
          <a:p>
            <a:pPr>
              <a:spcAft>
                <a:spcPts val="800"/>
              </a:spcAft>
            </a:pPr>
            <a:endParaRPr sz="1800" dirty="0">
              <a:solidFill>
                <a:srgbClr val="212121"/>
              </a:solidFill>
            </a:endParaRPr>
          </a:p>
          <a:p>
            <a:pPr lvl="1">
              <a:spcAft>
                <a:spcPts val="800"/>
              </a:spcAft>
            </a:pPr>
            <a:r>
              <a:rPr sz="1800" dirty="0">
                <a:solidFill>
                  <a:srgbClr val="212121"/>
                </a:solidFill>
              </a:rPr>
              <a:t>Narrowing (</a:t>
            </a:r>
            <a:r>
              <a:rPr sz="1800" dirty="0" err="1">
                <a:solidFill>
                  <a:srgbClr val="212121"/>
                </a:solidFill>
              </a:rPr>
              <a:t>Δ</a:t>
            </a:r>
            <a:r>
              <a:rPr sz="1800" dirty="0">
                <a:solidFill>
                  <a:srgbClr val="212121"/>
                </a:solidFill>
              </a:rPr>
              <a:t>) — recovers what widening overshot. Re-reading the guard x &lt; 100 pulls [0, +∞) back to [0, 100]: precision restored, still terminating.</a:t>
            </a:r>
          </a:p>
          <a:p>
            <a:pPr>
              <a:spcAft>
                <a:spcPts val="800"/>
              </a:spcAft>
            </a:pPr>
            <a:endParaRPr sz="1800" dirty="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212121"/>
                </a:solidFill>
              </a:rPr>
              <a:t>ESBMC ships it too</a:t>
            </a:r>
            <a:r>
              <a:rPr lang="en-GB" sz="2000" dirty="0">
                <a:solidFill>
                  <a:srgbClr val="212121"/>
                </a:solidFill>
              </a:rPr>
              <a:t>:</a:t>
            </a:r>
            <a:r>
              <a:rPr sz="2000" dirty="0">
                <a:solidFill>
                  <a:srgbClr val="212121"/>
                </a:solidFill>
              </a:rPr>
              <a:t> --interval-analysis — and can supply the invariant k-induction needs (Session 2, Lab 3).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Under the hood — and how to hack on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Tonight's pipeline was the conceptual one. ESBMC's real pipeline: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Clang frontend → irep2 (typed IR) → GOTO program → symbolic execution (unwind, SSA) → SMT backends (Z3, Bitwuzla, cvc5)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12121"/>
              </a:solidFill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irep2 is the typed, reference-counted representation everything lowers to and every backend consumes.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Want to add a check, a frontend, or a new node type? Start here: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github.com/esbmc/esbmc  →  src/irep2/README.md</a:t>
            </a:r>
          </a:p>
          <a:p>
            <a:pPr>
              <a:spcAft>
                <a:spcPts val="800"/>
              </a:spcAft>
            </a:pPr>
            <a:endParaRPr sz="1800">
              <a:solidFill>
                <a:srgbClr val="212121"/>
              </a:solidFill>
              <a:latin typeface="Courier New"/>
            </a:endParaRP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the curious — and anyone who wants to contribute.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src/irep2/README.md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4994</Words>
  <Application>Microsoft Macintosh PowerPoint</Application>
  <PresentationFormat>Widescreen</PresentationFormat>
  <Paragraphs>489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8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Lucas Cordeiro</cp:lastModifiedBy>
  <cp:revision>2</cp:revision>
  <dcterms:created xsi:type="dcterms:W3CDTF">2013-01-27T09:14:16Z</dcterms:created>
  <dcterms:modified xsi:type="dcterms:W3CDTF">2026-06-13T11:07:27Z</dcterms:modified>
  <cp:category/>
</cp:coreProperties>
</file>