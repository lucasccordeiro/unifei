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CVE records published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6447</c:v>
                </c:pt>
                <c:pt idx="1">
                  <c:v>14645</c:v>
                </c:pt>
                <c:pt idx="2">
                  <c:v>16511</c:v>
                </c:pt>
                <c:pt idx="3">
                  <c:v>17305</c:v>
                </c:pt>
                <c:pt idx="4">
                  <c:v>18325</c:v>
                </c:pt>
                <c:pt idx="5">
                  <c:v>20153</c:v>
                </c:pt>
                <c:pt idx="6">
                  <c:v>25084</c:v>
                </c:pt>
                <c:pt idx="7">
                  <c:v>29066</c:v>
                </c:pt>
                <c:pt idx="8">
                  <c:v>40009</c:v>
                </c:pt>
                <c:pt idx="9">
                  <c:v>48185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AB-F942-930F-2328B436A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CWE Top 25 score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10. Code Injection (CWE-94)</c:v>
                </c:pt>
                <c:pt idx="1">
                  <c:v>9. OS Command Injection (CWE-78)</c:v>
                </c:pt>
                <c:pt idx="2">
                  <c:v>8. Out-of-bounds Read (CWE-125)</c:v>
                </c:pt>
                <c:pt idx="3">
                  <c:v>7. Use After Free (CWE-416)</c:v>
                </c:pt>
                <c:pt idx="4">
                  <c:v>6. Path Traversal (CWE-22)</c:v>
                </c:pt>
                <c:pt idx="5">
                  <c:v>5. Out-of-bounds Write (CWE-787)</c:v>
                </c:pt>
                <c:pt idx="6">
                  <c:v>4. Missing Authorization (CWE-862)</c:v>
                </c:pt>
                <c:pt idx="7">
                  <c:v>3. Cross-Site Request Forgery (CWE-352)</c:v>
                </c:pt>
                <c:pt idx="8">
                  <c:v>2. SQL Injection (CWE-89)</c:v>
                </c:pt>
                <c:pt idx="9">
                  <c:v>1. Cross-site Scripting (CWE-79)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7.57</c:v>
                </c:pt>
                <c:pt idx="1">
                  <c:v>7.85</c:v>
                </c:pt>
                <c:pt idx="2">
                  <c:v>7.88</c:v>
                </c:pt>
                <c:pt idx="3">
                  <c:v>8.4700000000000006</c:v>
                </c:pt>
                <c:pt idx="4">
                  <c:v>8.99</c:v>
                </c:pt>
                <c:pt idx="5">
                  <c:v>12.68</c:v>
                </c:pt>
                <c:pt idx="6">
                  <c:v>13.28</c:v>
                </c:pt>
                <c:pt idx="7">
                  <c:v>13.64</c:v>
                </c:pt>
                <c:pt idx="8">
                  <c:v>28.72</c:v>
                </c:pt>
                <c:pt idx="9">
                  <c:v>60.38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76-5642-BD96-C4DA54E1A2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svlab.github.io/lucasccordeiro/courses/2022/01/software-security/index.html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sbmc.github.io/docs/c-cpp/ctest-gen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sbmc/esbmc/blob/master/src/irep2/README.md" TargetMode="Externa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Formal Verification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Session 1 — Fundamentals and Real-World Applications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18:00 – 21:00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  <a:hlinkClick r:id="rId2"/>
              </a:rPr>
              <a:t>Built on the COMP63342 Software Security course (University of Manchester)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Tonight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Welcome + a question for you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Why software fails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Exercise 1: spot the bug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Testing vs.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Break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From programs to formulas: SAT, SMT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Bounded model checking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Exercise 2: predict the 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Who uses this in the real world?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Quiz + what to install for Session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Icebreaker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>
                <a:solidFill>
                  <a:srgbClr val="212121"/>
                </a:solidFill>
              </a:rPr>
              <a:t>Name a software failure that made the news.</a:t>
            </a:r>
          </a:p>
          <a:p>
            <a:pPr>
              <a:spcAft>
                <a:spcPts val="800"/>
              </a:spcAft>
            </a:pPr>
            <a:r>
              <a:rPr sz="3000">
                <a:solidFill>
                  <a:srgbClr val="212121"/>
                </a:solidFill>
              </a:rPr>
              <a:t>Any failure. Any decade. Shout it out / drop it in the poll.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When software fails: two classics and a fresh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Ariane 5, 1996: a 64-bit float squeezed into a 16-bit integer. The conversion overflowed; the rocket self-destructed 40 seconds after lift-off.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The code was reused from Ariane 4, where that value “could never get that large”.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Therac-25, 1985–87: a race condition between operator keystrokes and the radiation beam controller. Six massive overdoses, several fatal.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Sequential testing never showed it: the bug needed precise, fast operator timing.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CrowdStrike, 2024: a security update supplied 21 input fields to sensor code expecting 20. The out-of-bounds read blue-screened 8.5 million Windows machines; the bad file was live for just 78 minutes.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It passed the release tooling: the content validator itself had a bug, and no test ever read the 21st field.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An integer overflow, a race condition, and an out-of-bounds read. Hold that thought — you will hunt all three bug classes yourself in Session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A password check in 11 lines of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char *gets(char *s);  /* removed from C11 — unsafe by design */</a:t>
            </a:r>
          </a:p>
          <a:p>
            <a:pPr>
              <a:spcAft>
                <a:spcPts val="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int getPassword(void)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  char buf[4];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  gets(buf);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  return strcmp(buf, "SMT");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/* main: 0 from getPassword =&gt; "Access Granted" */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session1-demos/getpassword.c — what happens if you type more than three characters?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What gets() does to the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The stack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return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where main continues after the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saved registers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the caller's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buf[0] … buf[3]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gets(buf) starts writing here…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918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gets() never checks the size: byte 5, 6, 7… keep overwriting whatever lies above the buffer — up to the return address.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An attacker chooses those bytes. That is not a crash; that is control of your program.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Could a test suite find this? Only if someone thinks to type the right garbage.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ESBMC finds the overflow itself (CWE-787) — the door. The check is otherwise sound: no input but "SMT" passes it (provable). A non-password input that still gets in is the strncmp logic-flaw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Let's ask a tool instead of an attacker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$ esbmc getpassword.c --unwind 8</a:t>
            </a:r>
          </a:p>
          <a:p>
            <a:pPr>
              <a:spcAft>
                <a:spcPts val="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[Counterexample]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...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Violated property: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dereference failure: array bounds violated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CWE: CWE-787 (out-of-bounds write)</a:t>
            </a:r>
          </a:p>
          <a:p>
            <a:pPr>
              <a:spcAft>
                <a:spcPts val="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VERIFICATION FAILED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No input was typed. No exploit was written. The tool proved the overflow is reachable — and printed the input that triggers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From counterexample to a runnable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Ask the same tool the opposite question — "can any input get past the check?" — and it hands back one that does, as a test you can run.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char buf[4];                          /* input ESBMC chooses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for (int i = 0; i &lt; 3; i++) buf[i] = nondet_char();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buf[3] = '\0';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if (strcmp(buf, "SMT") == 0)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  assert(0);             /* claim: this is unreachable */</a:t>
            </a:r>
          </a:p>
          <a:p>
            <a:pPr>
              <a:spcAft>
                <a:spcPts val="0"/>
              </a:spcAft>
            </a:pPr>
            <a:endParaRPr sz="16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$ esbmc getpassword.c --unwind 8 --generate-ctest-testcase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→ Generated CTest test case: test_case.c</a:t>
            </a:r>
          </a:p>
          <a:p>
            <a:pPr>
              <a:spcAft>
                <a:spcPts val="0"/>
              </a:spcAft>
            </a:pPr>
            <a:endParaRPr sz="16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char nondet_char(void) {            /* test_case.c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static const char v[] = { 83, 77, 84 };  /* "SMT"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static int i = 0; return v[i++];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}</a:t>
            </a:r>
          </a:p>
          <a:p>
            <a:pPr>
              <a:spcAft>
                <a:spcPts val="800"/>
              </a:spcAft>
            </a:pPr>
            <a:endParaRPr sz="16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ESBMC found the input that reaches the protected branch. The test compiles, runs, and prints "Access Granted with input SMT" — no one had to guess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  <a:hlinkClick r:id="rId2"/>
              </a:rPr>
              <a:t>Docs: esbmc.github.io/docs/c-cpp/ctest-gen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When the check itself is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No overflow, no guessed secret — this time the access check has a one-character bug, and ESBMC walks straight through it.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int access_granted(const char *buf)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  return strncmp(buf, "SMT", strlen(buf)) == 0;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}   /* compares only strlen(buf) chars → any prefix passes */</a:t>
            </a:r>
          </a:p>
          <a:p>
            <a:pPr>
              <a:spcAft>
                <a:spcPts val="0"/>
              </a:spcAft>
            </a:pPr>
            <a:endParaRPr sz="16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if (access_granted(buf) &amp;&amp; strcmp(buf, "SMT") != 0)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  assert(0);     /* got in WITHOUT the password */</a:t>
            </a:r>
          </a:p>
          <a:p>
            <a:pPr>
              <a:spcAft>
                <a:spcPts val="0"/>
              </a:spcAft>
            </a:pPr>
            <a:endParaRPr sz="16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$ esbmc getpassword.c --unwind 8 --generate-ctest-testcase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  buf = { 0, 0, 0 }            → the empty string ""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VERIFICATION FAILED</a:t>
            </a:r>
          </a:p>
          <a:p>
            <a:pPr>
              <a:spcAft>
                <a:spcPts val="800"/>
              </a:spcAft>
            </a:pPr>
            <a:endParaRPr sz="16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ESBMC grants itself access by typing nothing: "" is a prefix of "SMT", so strncmp compares zero characters and returns 0. The fix is strcmp — compare the whole password.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</a:rPr>
              <a:t>session1-demos/strncmp-bypass/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Safety and security: two sides of one coin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Safety — the system must not harm the world (Therac-25, Ariane 5).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Security — the world must not harm the system (getPassword).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Same root cause tonight: the program reaches a state it was never meant to reach.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65760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800" b="1"/>
                        <a:t>Security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getPassword breaks it?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Confidentiality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no unauthorised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yes — secrets behind the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no unauthorised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yes — the stack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service stays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crash = denial of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Memory safety: the bug class that won't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C trusts you completely: every array index, every pointer dereference, every free() is your problem.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Get it wrong and the result is undefined behaviour — the program may crash, corrupt data, or look perfectly fine until it ships.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“Looks fine in testing” is exactly what undefined behaviour does best.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How big is the problem? Let's look at the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Vulnerabilities keep climbing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371600"/>
          <a:ext cx="9966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12121"/>
                </a:solidFill>
              </a:rPr>
              <a:t>More than 48,000 new CVEs in 2025 — almost tripled since 2020.   Sources: nvd.nist.gov · cve.org (2026)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And the same weaknesses top the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280160"/>
          <a:ext cx="96926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121"/>
                </a:solidFill>
              </a:rPr>
              <a:t>Memory safety still everywhere: out-of-bounds write #5, use-after-free #7, out-of-bounds read #8 — plus classic buffer overflow at #11.   Source: cwe.mitre.org/top25 (Dec 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Industry's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~70% of the vulnerabilities Microsoft patches every year are memory-safety bugs (MSRC, 2019) — a figure that has barely moved in a decade.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Every one of those products shipped with a serious test suite. Testing did not stop them.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Two industry answers: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memory-safe languages for new code (Rust, …)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proving the C/C++ we already run correct — formal verification. Tonight is about this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Exercise 1 — Spot the Bug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In pairs, 7 minutes, on the handout: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*zPtr;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*aPtr = NULL;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void *sPtr = NULL;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number, i;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z[5] = {1, 2, 3, 4, 5};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sPtr = z;   ++zPtr;   number = zPtr;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number = *zPtr[2];   number = *sPtr;   ++z;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For each bug: WHAT is wrong, and what could happen at runtime?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There are at least six. Debrief: one bug per pair.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Verification vs.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Validation — are we building the right thing? (ask the users)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Verification — are we building the thing right? (ask the specification)</a:t>
            </a:r>
          </a:p>
          <a:p>
            <a:pPr>
              <a:spcAft>
                <a:spcPts val="800"/>
              </a:spcAft>
            </a:pPr>
            <a:endParaRPr sz="26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Tonight is verification: given a program and a property, does every execution satisfy the property?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Why testing cannot prove absence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One int input = 2³² cases. At a billion tests per second: about 4 seconds. Fine.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Two int inputs = 2⁶⁴ cases. Same machine: about 585 years.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getPassword's input isn't even bounded — there is no test suite to write.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“Program testing can be used to show the presence of bugs, but never to show their absence.” — E. W. Dijkstra, 1970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A green test suite means: no bug in the cases we tried.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idea of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Turn the program and the property into mathematics, and ask one question:</a:t>
            </a:r>
          </a:p>
          <a:p>
            <a:pPr>
              <a:spcAft>
                <a:spcPts val="800"/>
              </a:spcAft>
            </a:pPr>
            <a:endParaRPr sz="26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Can the program reach a state where the property fails?</a:t>
            </a:r>
          </a:p>
          <a:p>
            <a:pPr>
              <a:spcAft>
                <a:spcPts val="800"/>
              </a:spcAft>
            </a:pPr>
            <a:endParaRPr sz="2600">
              <a:solidFill>
                <a:srgbClr val="212121"/>
              </a:solidFill>
            </a:endParaRP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NO — for all inputs, all paths:  a proof.</a:t>
            </a: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YES — and here is the exact input:  a counterexample.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Both answers are useful. The second one is a free bug report.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Soundness and completeness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Sound — the tool never misses a bug.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If a sound tool says SAFE, it is safe.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Complete — the tool never raises a false alarm.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If a complete tool says BUG, it is a real bug.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Testing is complete but not sound (every failure is real; absence proves nothing).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Sound static analysers — e.g. abstract interpretation — are sound but not complete by design (no missed bugs, but false alarms).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Most everyday bug-finders, by contrast, are unsound: they accept missed bugs to scale to real code and keep false alarms manageable.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techniques as real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In one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Example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Testing &amp; fuzzing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run the code on many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AFL++, libFuzzer, OSS-Fuzz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Symbolic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explore paths with a solver; each bug comes with an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KLEE, SAGE, angr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Bug-finding static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scan for suspicious patterns (unsound — misses bugs)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Coverity, Clang Static Analyzer, CodeQL, Cppcheck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Abstract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over-approximate every run (sound — but false alarms)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Astrée, Polyspace, Frama-C (Eva)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Bounded model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prove properties up to a depth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CBMC, ESBMC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/>
                        <a:t>Deductive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prove code against a spec (needs effort)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Dafny, SPARK (GNATprove), Frama-C (WP)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126480"/>
            <a:ext cx="107899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121"/>
                </a:solidFill>
              </a:rPr>
              <a:t>Tonight's tool, ESBMC, is bounded model checking — and BMC and deductive verifiers both run on the SAT/SMT solvers we meet after the break.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Where does your technique sit?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Complete (no false alarms)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Incomplete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Sound (no missed bugs)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the 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abstract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Unsound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bounded model checking*,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code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* sound only up to its bound. k-induction removes it: prove the inductive step — not just unwind to depth k — and BMC climbs into the Sound row (an unbounded proof when the induction converges; Session 2).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Think–pair–share (5 min): place testing, code review, compiler warnings, and “prove it with maths” on this grid. Defend your placement.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technique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800" b="1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What you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What it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real failures,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proves nothing about absence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Static analysis / abstract interp.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sound warnings, 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false alarms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Symbolic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real bugs + the triggering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path explosion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Bounded model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counterexample, or proof up to a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the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Interactive proof (Coq, Isabelle)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full functional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person-years of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937760"/>
            <a:ext cx="107899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Tonight: bounded model checking. At 20:30 we tour who uses the rest.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LLMs find bugs too — but who checks the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LLMs (Copilot, Claude, Cursor) read code and flag bugs — fast, broad, cheap. They even find real zero-days: Google's Big Sleep found an exploitable buffer underflow in SQLite (2024).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But an LLM is unsound and incomplete: it misses real bugs and hallucinates ones that aren't there — no guarantees. Same corner of the grid as code review.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The win is pairing them — the LLM proposes, a sound checker disposes: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12121"/>
                </a:solidFill>
              </a:rPr>
              <a:t>the LLM suggests bugs, fixes, specs, or inductive invariants;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12121"/>
                </a:solidFill>
              </a:rPr>
              <a:t>the verifier returns a concrete counterexample or a proof — and catches the hallucinations.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ESBMC-AI does exactly this: ESBMC verifies → counterexample + code → LLM proposes a fix → re-verify, loop until proven.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</a:rPr>
              <a:t>Sources: Google Big Sleep (Project Zero × DeepMind, 2024) · ESBMC-AI — esbmc.github.io/esbmc-ai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one trick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To prove a property P, ask whether ¬P is satisfiable.</a:t>
            </a: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unsat  ⇒  no way to violate P exists — a proof</a:t>
            </a: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satisfiable, with a model  ⇒  a concrete counterexample to P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Every tool tonight, and every lab in Session 2, is this one move in different costumes.</a:t>
            </a:r>
          </a:p>
          <a:p>
            <a:pPr>
              <a:spcAft>
                <a:spcPts val="800"/>
              </a:spcAft>
            </a:pPr>
            <a:endParaRPr sz="26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So we need an oracle for “is this formula satisfiable?” — it exists, it is free, and it is absurdly good. After the break.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Break — back at 19:25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SAT: the original hard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(a ∨ ¬b) ∧ (b ∨ c) ∧ (¬a ∨ ¬c)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Is there a true/false assignment that makes the whole formula true?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The first problem ever proved NP-complete (Cook, 1971) — in theory, hopeless.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In practice: modern solvers eat formulas with millions of clauses for breakfast. Industrial SAT solving is the closest thing CS has to a superpower.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two answers a solver can give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sat — and here is a model: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 = true, b = true, c = false   ← check it by hand, it works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unsat — no satisfying assignment exists, anywhere.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Not “I didn't find one”. A proof that none exists.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Now recall the trick: encode the bug as the formula.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sat + model  =  bug found, with the input that triggers it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unsat  =  that bug is impossible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SMT: SAT that speaks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In your C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SMT 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int, unsigned, wrap-around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bit-vectors — exact machine arithmetic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arrays, 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theory of arrays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float,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IEEE-754 floating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pointers, malloc/free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memory models built on the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SMT = SAT + theories. The solver reasons about what your machine actually does — wrap-around, rounding and all — not idealised mathematics.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Worked example: one array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int a[5];          /* valid indices: 0 .. 4 */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a[i] = 0;          /* is this safe? */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The property P:  0 ≤ i ∧ i &lt; 5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The question to the solver:  can the program reach this line with  ¬(0 ≤ i ∧ i &lt; 5)?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sat  →  the model contains the bad i — your counterexample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unsat  →  the access is safe on every path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Live: a solver in two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$ python3 z3_demo.py</a:t>
            </a:r>
          </a:p>
          <a:p>
            <a:pPr>
              <a:spcAft>
                <a:spcPts val="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Query 1: x + y == 42 and x &gt;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[y = -59, x = 101]            ← a model, in milliseconds</a:t>
            </a:r>
          </a:p>
          <a:p>
            <a:pPr>
              <a:spcAft>
                <a:spcPts val="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Query 2: x*x == 2*y*y, x &gt; 0, y &gt; 0 (no overflow)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unsat                          ← a proof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Query 2 just proved that √2 is irrational — 32-bit bit-vector edition. unsat is a theorem, not a shrug.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Machine arithmetic is not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INT_MAX     =  2147483647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INT_MAX + 1 =  ?            /* C: undefined behaviour */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                        /* bit-vectors: wraps negative */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y = x + 1;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z = y *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assert(z &gt;= 2);   /* surely true for x &gt;= 0 … ? */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 solver finds the x that breaks this in milliseconds. In Lab 1 you will encode these three lines yourself and watch it happen.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Solvers as search engines: SEND + MORE =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S E N 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+ M O R 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---------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M O N E Y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 substitution puzzle: replace each letter with a digit. Same letter → same digit; different letters → different digits.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Eight distinct letters — S E N D M O R Y. The words are fixed; what we solve for is the digit hiding behind each letter.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Goal: find the assignment that makes the addition come out true.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Turn the puzzle into 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 word is just its digits times their place value: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SEND  = 1000·S + 100·E + 10·N + D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MORE  = 1000·M + 100·O + 10·R + E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MONEY = 10000·M + 1000·O + 100·N + 10·E + Y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So the whole puzzle becomes one equation:  SEND + MORE = MONEY.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Plus the rules: every letter is a digit 0–9; all eight are different; S ≠ 0 and M ≠ 0 (no number starts with 0).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Why is MONEY five digits? Two 4-digit numbers can carry into a fifth place — and that carry is at most 1, so M = 1 before we even start.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Let the solver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Naïvely 10⁸ ways to fill in eight letters; “all different, S ≠ 0, M ≠ 0” cuts it to about 1.5 million — still far too many to eyeball.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solver does not guess blindly: it fixes M = 1, then propagates each column's carry, backtracking when a choice clashes — the way you solve Sudoku.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Z3 returns the unique solution in well under a second: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$ python3 send_more_money.py        # in session1-demos/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9567 + 1085 = 10652   (S=9 E=5 N=6 D=7 M=1 O=0 R=8 Y=2)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same engine that solves this finds your bugs: a counterexample is just a satisfying assignment to “break my program”.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Lab 1, Stage 2: you run this yourself.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Bounded model checking: the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737360" cy="1097280"/>
          </a:xfrm>
          <a:prstGeom prst="roundRect">
            <a:avLst/>
          </a:prstGeom>
          <a:solidFill>
            <a:srgbClr val="5A0A7A"/>
          </a:solidFill>
          <a:ln>
            <a:solidFill>
              <a:srgbClr val="5A0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737360"/>
            <a:ext cx="1737360" cy="1097280"/>
          </a:xfrm>
          <a:prstGeom prst="roundRect">
            <a:avLst/>
          </a:prstGeom>
          <a:solidFill>
            <a:srgbClr val="5A0A7A"/>
          </a:solidFill>
          <a:ln>
            <a:solidFill>
              <a:srgbClr val="5A0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unwind loops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2176272"/>
            <a:ext cx="356616" cy="219456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12080" y="1737360"/>
            <a:ext cx="1737360" cy="1097280"/>
          </a:xfrm>
          <a:prstGeom prst="roundRect">
            <a:avLst/>
          </a:prstGeom>
          <a:solidFill>
            <a:srgbClr val="5A0A7A"/>
          </a:solidFill>
          <a:ln>
            <a:solidFill>
              <a:srgbClr val="5A0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single static
assignment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82312" y="2176272"/>
            <a:ext cx="356616" cy="219456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52360" y="1737360"/>
            <a:ext cx="1737360" cy="1097280"/>
          </a:xfrm>
          <a:prstGeom prst="roundRect">
            <a:avLst/>
          </a:prstGeom>
          <a:solidFill>
            <a:srgbClr val="5A0A7A"/>
          </a:solidFill>
          <a:ln>
            <a:solidFill>
              <a:srgbClr val="5A0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program ∧ ¬P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22592" y="2176272"/>
            <a:ext cx="356616" cy="219456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0" y="1737360"/>
            <a:ext cx="1737360" cy="1097280"/>
          </a:xfrm>
          <a:prstGeom prst="roundRect">
            <a:avLst/>
          </a:prstGeom>
          <a:solidFill>
            <a:srgbClr val="5A0A7A"/>
          </a:solidFill>
          <a:ln>
            <a:solidFill>
              <a:srgbClr val="5A0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SMT solver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62872" y="2176272"/>
            <a:ext cx="356616" cy="219456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sat  →  VERIFICATION FAILED + a counterexample trace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unsat  →  no violation exists within the bound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This is exactly what ESBMC did to getpassword.c before the break — now we open the box.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Step 1 — unwind the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for (int i = 0; i &lt;= 5; i++)  a[i] = i;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--unwind k copies the loop body k times, each copy guarded by the loop condition.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Then one extra check, the unwinding assertion: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“could the loop have run a (k+1)-th time?”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Bounded — but honest: the tool tells you when its bound was too small, instead of silently missing behaviour.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How to read an --unwind k verdict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The tool prints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It 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VERIFICATION FAILED + 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a real bug, reachable within k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VERIFICATION SUCCESSFUL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a proof — k covers every possible run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FAILED: unwinding assertion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the bound was too small — NOT a program bug; raise k and re-run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02336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In Session 2 you will choose k yourself for a loop with at most 50 iterations — keep this table within reach.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“Sound up to its bound”, now made precise.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Step 2 — every assignment gets a fresh name (SSA)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int y = x + 1;        →   y₁ = x₀ + 1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int z = y * 2;        →   z₁ = y₁ · 2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assert(z &gt;= 2);       →   check:  ¬(z₁ ≥ 2)  satisfiable?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Once every name is assigned exactly once, straight-line code IS a system of equations — no execution needed.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Recognise the three lines? In Lab 1, Stage 3 you translate exactly this function by hand and hand it to Z3. You will be doing ESBMC's job yourself.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>
                <a:solidFill>
                  <a:srgbClr val="212121"/>
                </a:solidFill>
                <a:latin typeface="Courier New"/>
              </a:rPr>
              <a:t>⟦program⟧  ∧  ¬P      →  SMT solver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sat — the model assigns every input and every choice: replayed in program order, that is the counterexample trace.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unsat — no execution within the bound violates P.</a:t>
            </a:r>
          </a:p>
          <a:p>
            <a:pPr>
              <a:spcAft>
                <a:spcPts val="800"/>
              </a:spcAft>
            </a:pPr>
            <a:endParaRPr sz="26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One formula, every path at once. That is why nobody has to enumerate 2⁶⁴ test cases.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Anatomy of a counterexample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3  file offbyone.c  line 15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i = 5 (00000000 ... 101)      ← the value the solver chose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...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Violated property: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array bounds violated: a[i]   ← what broke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CWE: CWE-787                   ← the vulnerability class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Read it bottom-up: first what was violated, then scroll up for the values that caused it.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Those values are a ready-made failing test case — keep them.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Live: the whole pipeline on five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main(void)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int a[5];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for (int i = 0; i &lt;= 5; i++)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a[i] = i;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$ esbmc offbyone.c --unwind 7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Predict first: FAILED or SUCCESSFUL? If FAILED — at which i?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Then we read the trace together, bottom-up.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Modelling the environment: a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x = nondet_int();              /* every value at once */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__ESBMC_assume(x &gt; 0 &amp;&amp; x &lt; 100);  /* now: every value in 1..99 */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assert(property(x));               /* must hold for ALL of them */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One nondeterministic input = all tests of that input at once.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In Session 2 you will use these three lines to expose a bug in a program that verifies green as shipped — the tool only checks what you specify.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Beyond one thread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Two threads of two and one statements already have three interleavings. Real code has billions.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Run the program a million times and the bad interleaving may never show up — Therac-25's bug hid exactly this way.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A model checker enumerates every interleaving up to a bound, including the one that kills your assertion.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Session 2, Lab 4: you write down the killer interleaving before the tool finds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Homework for your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>
                <a:solidFill>
                  <a:srgbClr val="212121"/>
                </a:solidFill>
                <a:latin typeface="Courier New"/>
              </a:rPr>
              <a:t>double w = 0.1 + 0.2;</a:t>
            </a:r>
          </a:p>
          <a:p>
            <a:pPr>
              <a:spcAft>
                <a:spcPts val="0"/>
              </a:spcAft>
            </a:pPr>
            <a:r>
              <a:rPr sz="2200">
                <a:solidFill>
                  <a:srgbClr val="212121"/>
                </a:solidFill>
                <a:latin typeface="Courier New"/>
              </a:rPr>
              <a:t>assert(w == 0.3);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FAILED or SUCCESSFUL?</a:t>
            </a:r>
          </a:p>
          <a:p>
            <a:pPr>
              <a:spcAft>
                <a:spcPts val="800"/>
              </a:spcAft>
            </a:pPr>
            <a:endParaRPr sz="26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Bring your answer to Session 2 — Lab 4 settles it with a solver that does exact IEEE-754 arithmetic.</a:t>
            </a: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Hint: 0.1 in binary is like 1/3 in decimal.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Exercise 2 — Predict the Verdict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Groups of 3–4. Three short C programs on the handout (predict1.c, predict2.c, predict3.c).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For each program, write down BEFORE we run anything: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Will the model checker say VERIFICATION FAILED or SUCCESSFUL?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If FAILED — which line is the culprit?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Then we run ESBMC live and settle every bet.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Who uses this? — Model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Amazon Web Services — CBMC proves memory safety of the TLS library s2n; bounded proofs run in CI on every commit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ESBMC / CBMC — the tools from tonight's demos; compete yearly in SV-COMP on tens of thousands of benchmarks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counterexample you saw for getpassword.c is the same artefact AWS engineers read when a proof fails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Who uses this? — Symbolic execution &amp; fuzzing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KLEE found 56 serious bugs in coreutils, busybox and Minix — including three in coreutils that had survived 15 years of testing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Microsoft SAGE fuzzed Windows file parsers with symbolic execution; it found ~1/3 of all bugs caught by file fuzzing during Windows 7 development — running last, after every other tool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AFL / OSS-Fuzz — Google fuzzes ~1,000 open-source projects continuously; tens of thousands of bugs found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pragmatic cousin of verification: no proofs, ruthless effectiveness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Who uses this? — Proofs all the way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Astrée (abstract interpretation) proved absence of runtime errors in the Airbus A340 fly-by-wire code — 132,000 lines of C — and was then applied to the A380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seL4 — an OS microkernel with a machine-checked proof of functional correctness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CompCert — a C compiler with a proof that compilation preserves semantics; six CPU-years of fuzzing found no wrong-code bugs in its verified core, while every other compiler tested failed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If verification can prove the absence of bugs…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why isn't all software verified?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(Let's collect reasons — then I'll tell you which ones the industry actually cites.)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Under the hood — and how to hack 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Tonight's pipeline was the conceptual one. ESBMC's real pipeline: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Clang frontend → irep2 (typed IR) → GOTO program → symbolic execution (unwind, SSA) → SMT backends (Z3, Bitwuzla, cvc5)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irep2 is the typed, reference-counted representation everything lowers to and every backend consumes.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Want to add a check, a frontend, or a new node type? Start here: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github.com/esbmc/esbmc  →  src/irep2/README.md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For the curious — and anyone who wants to contribute.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121"/>
                </a:solidFill>
                <a:hlinkClick r:id="rId2"/>
              </a:rPr>
              <a:t>src/irep2/README.md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Closing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1. A tool that never raises a false alarm is called …?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2. ESBMC returns UNSAT for C ∧ ¬P at --unwind 10. What do we know?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3. What's inside a counterexample?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4. Which technique proved the A340 flight-control code free of runtime errors?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5. Why can't testing prove the getPassword program safe?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Before Session 2 — 10 minutes of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Follow handouts/setup.md in the repo: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1.  pip install z3-solver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2.  download ESBMC: github.com/esbmc/esbmc/releases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3.  smoke test:  esbmc labs/lab4/float.c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→ should print VERIFICATION FAILED (yes, failed — that's the point)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Can't make it work? Come at 17:45 — we'll fix it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4666</Words>
  <Application>Microsoft Macintosh PowerPoint</Application>
  <PresentationFormat>Widescreen</PresentationFormat>
  <Paragraphs>470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Cordeiro</cp:lastModifiedBy>
  <cp:revision>1</cp:revision>
  <dcterms:created xsi:type="dcterms:W3CDTF">2013-01-27T09:14:16Z</dcterms:created>
  <dcterms:modified xsi:type="dcterms:W3CDTF">2026-06-12T21:19:05Z</dcterms:modified>
  <cp:category/>
</cp:coreProperties>
</file>