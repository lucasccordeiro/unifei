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812" r:id="rId2"/>
    <p:sldMasterId id="2147483824" r:id="rId3"/>
  </p:sldMasterIdLst>
  <p:notesMasterIdLst>
    <p:notesMasterId r:id="rId20"/>
  </p:notesMasterIdLst>
  <p:sldIdLst>
    <p:sldId id="256" r:id="rId4"/>
    <p:sldId id="500" r:id="rId5"/>
    <p:sldId id="501" r:id="rId6"/>
    <p:sldId id="502" r:id="rId7"/>
    <p:sldId id="426" r:id="rId8"/>
    <p:sldId id="560" r:id="rId9"/>
    <p:sldId id="561" r:id="rId10"/>
    <p:sldId id="504" r:id="rId11"/>
    <p:sldId id="540" r:id="rId12"/>
    <p:sldId id="562" r:id="rId13"/>
    <p:sldId id="467" r:id="rId14"/>
    <p:sldId id="428" r:id="rId15"/>
    <p:sldId id="429" r:id="rId16"/>
    <p:sldId id="487" r:id="rId17"/>
    <p:sldId id="490" r:id="rId18"/>
    <p:sldId id="527" r:id="rId19"/>
  </p:sldIdLst>
  <p:sldSz cx="9144000" cy="6858000" type="screen4x3"/>
  <p:notesSz cx="6858000" cy="9144000"/>
  <p:defaultTextStyle>
    <a:defPPr marL="0" marR="0" indent="0" algn="l" defTabSz="91430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30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30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30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30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30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30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30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30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30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2544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9EB69D-0E09-1000-ED57-48FF144B4A40}" v="13" dt="2025-11-26T08:51:08.51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 showGuides="1">
      <p:cViewPr varScale="1">
        <p:scale>
          <a:sx n="120" d="100"/>
          <a:sy n="120" d="100"/>
        </p:scale>
        <p:origin x="1944" y="184"/>
      </p:cViewPr>
      <p:guideLst>
        <p:guide orient="horz" pos="2544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Vulnerabilities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5632</c:v>
                </c:pt>
                <c:pt idx="1">
                  <c:v>5736</c:v>
                </c:pt>
                <c:pt idx="2">
                  <c:v>4652</c:v>
                </c:pt>
                <c:pt idx="3">
                  <c:v>4155</c:v>
                </c:pt>
                <c:pt idx="4">
                  <c:v>5297</c:v>
                </c:pt>
                <c:pt idx="5">
                  <c:v>5191</c:v>
                </c:pt>
                <c:pt idx="6">
                  <c:v>7946</c:v>
                </c:pt>
                <c:pt idx="7">
                  <c:v>6484</c:v>
                </c:pt>
                <c:pt idx="8">
                  <c:v>6447</c:v>
                </c:pt>
                <c:pt idx="9">
                  <c:v>14714</c:v>
                </c:pt>
                <c:pt idx="10">
                  <c:v>16556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93-E147-8F33-5FC9559F07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2141991160"/>
        <c:axId val="-2142147400"/>
      </c:lineChart>
      <c:catAx>
        <c:axId val="-2141991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42147400"/>
        <c:crosses val="autoZero"/>
        <c:auto val="1"/>
        <c:lblAlgn val="ctr"/>
        <c:lblOffset val="100"/>
        <c:noMultiLvlLbl val="0"/>
      </c:catAx>
      <c:valAx>
        <c:axId val="-2142147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41991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69C-4402-AAF6-49795C17AA7E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69C-4402-AAF6-49795C17AA7E}"/>
              </c:ext>
            </c:extLst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69C-4402-AAF6-49795C17AA7E}"/>
              </c:ext>
            </c:extLst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F8F-8F4F-A24E-CE4A0F18FD5E}"/>
              </c:ext>
            </c:extLst>
          </c:dPt>
          <c:dPt>
            <c:idx val="4"/>
            <c:bubble3D val="0"/>
            <c:spPr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accent5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69C-4402-AAF6-49795C17AA7E}"/>
              </c:ext>
            </c:extLst>
          </c:dPt>
          <c:dPt>
            <c:idx val="5"/>
            <c:bubble3D val="0"/>
            <c:spPr>
              <a:gradFill>
                <a:gsLst>
                  <a:gs pos="100000">
                    <a:schemeClr val="accent6">
                      <a:lumMod val="60000"/>
                      <a:lumOff val="40000"/>
                    </a:schemeClr>
                  </a:gs>
                  <a:gs pos="0">
                    <a:schemeClr val="accent6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2F8F-8F4F-A24E-CE4A0F18FD5E}"/>
              </c:ext>
            </c:extLst>
          </c:dPt>
          <c:dLbls>
            <c:dLbl>
              <c:idx val="3"/>
              <c:layout>
                <c:manualLayout>
                  <c:x val="0.110165228554852"/>
                  <c:y val="-0.14394320606473801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8F-8F4F-A24E-CE4A0F18FD5E}"/>
                </c:ext>
              </c:extLst>
            </c:dLbl>
            <c:dLbl>
              <c:idx val="5"/>
              <c:layout>
                <c:manualLayout>
                  <c:x val="0.11730388542687201"/>
                  <c:y val="0.21829156135850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F8F-8F4F-A24E-CE4A0F18FD5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Overflow</c:v>
                </c:pt>
                <c:pt idx="1">
                  <c:v>Code Execution</c:v>
                </c:pt>
                <c:pt idx="2">
                  <c:v>DoS</c:v>
                </c:pt>
                <c:pt idx="3">
                  <c:v>Gain Information</c:v>
                </c:pt>
                <c:pt idx="4">
                  <c:v>XXS</c:v>
                </c:pt>
                <c:pt idx="5">
                  <c:v>Other Type of Vulnerabilities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2388</c:v>
                </c:pt>
                <c:pt idx="1">
                  <c:v>3041</c:v>
                </c:pt>
                <c:pt idx="2">
                  <c:v>1853</c:v>
                </c:pt>
                <c:pt idx="3">
                  <c:v>1424</c:v>
                </c:pt>
                <c:pt idx="4">
                  <c:v>2042</c:v>
                </c:pt>
                <c:pt idx="5">
                  <c:v>2876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23-EF40-923D-C53EB3EB1C2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/>
      </a:fgClr>
      <a:bgClr>
        <a:schemeClr val="dk1">
          <a:lumMod val="10000"/>
          <a:lumOff val="90000"/>
        </a:schemeClr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5" name="Shape 2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6340707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Calibri"/>
      </a:defRPr>
    </a:lvl1pPr>
    <a:lvl2pPr indent="228577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2pPr>
    <a:lvl3pPr indent="457153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3pPr>
    <a:lvl4pPr indent="685729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4pPr>
    <a:lvl5pPr indent="914305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5pPr>
    <a:lvl6pPr indent="1142882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6pPr>
    <a:lvl7pPr indent="1371458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7pPr>
    <a:lvl8pPr indent="1600034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8pPr>
    <a:lvl9pPr indent="182861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" name="Shape 2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Shape 2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hape 3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1" name="Shape 5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hape 5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0" name="Shape 6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1" name="Shape 6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9" name="Shape 6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hape 7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9" name="Shape 7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hape 8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6" name="Shape 9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hape 9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Shape 10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hape 10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4" name="Shape 11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5" name="Shape 1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3" name="Shape 1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4" name="Shape 1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2" name="Shape 13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3" name="Shape 13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5" name="Shape 15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Shape 15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4" name="Shape 16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5" name="Shape 16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73" name="Shape 17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4" name="Shape 17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2" name="Shape 18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hape 18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1" name="Shape 19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2" name="Shape 19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00" name="Shape 20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1" name="Shape 20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09" name="Shape 20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0" name="Shape 2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8" name="Shape 21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9" name="Shape 21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7" name="Shape 22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hape 22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>
            <a:spLocks noChangeArrowheads="1"/>
          </p:cNvSpPr>
          <p:nvPr userDrawn="1"/>
        </p:nvSpPr>
        <p:spPr bwMode="auto">
          <a:xfrm>
            <a:off x="7696201" y="152401"/>
            <a:ext cx="1293813" cy="5381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sz="1100" kern="120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sz="1800" kern="120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CaixaDeTexto 4"/>
          <p:cNvSpPr txBox="1">
            <a:spLocks noChangeArrowheads="1"/>
          </p:cNvSpPr>
          <p:nvPr userDrawn="1"/>
        </p:nvSpPr>
        <p:spPr bwMode="auto">
          <a:xfrm>
            <a:off x="7620001" y="152401"/>
            <a:ext cx="1293813" cy="5381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sz="1100" kern="120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sz="1800" kern="120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6072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David Luebke				         </a:t>
            </a:r>
            <a:fld id="{7D0C4CC9-8773-E34B-94BB-CD42A276BB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				            </a:t>
            </a:r>
            <a:fld id="{DCD0AE5E-7E34-F042-BB0C-EB2ADCAC2B7F}" type="datetime1">
              <a:rPr lang="en-US">
                <a:solidFill>
                  <a:srgbClr val="000000"/>
                </a:solidFill>
              </a:rPr>
              <a:pPr>
                <a:defRPr/>
              </a:pPr>
              <a:t>6/11/26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7152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David Luebke				         </a:t>
            </a:r>
            <a:fld id="{C5CDC7D8-4393-214E-8001-1984C33F7F7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				            </a:t>
            </a:r>
            <a:fld id="{DCD0AE5E-7E34-F042-BB0C-EB2ADCAC2B7F}" type="datetime1">
              <a:rPr lang="en-US">
                <a:solidFill>
                  <a:srgbClr val="000000"/>
                </a:solidFill>
              </a:rPr>
              <a:pPr>
                <a:defRPr/>
              </a:pPr>
              <a:t>6/11/26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0840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David Luebke				         </a:t>
            </a:r>
            <a:fld id="{5E468A2B-996A-1243-8E41-7E7953EA03B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				            </a:t>
            </a:r>
            <a:fld id="{DCD0AE5E-7E34-F042-BB0C-EB2ADCAC2B7F}" type="datetime1">
              <a:rPr lang="en-US">
                <a:solidFill>
                  <a:srgbClr val="000000"/>
                </a:solidFill>
              </a:rPr>
              <a:pPr>
                <a:defRPr/>
              </a:pPr>
              <a:t>6/11/26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3514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David Luebke				         </a:t>
            </a:r>
            <a:fld id="{ACEC6AE5-B4A4-3742-8B63-539DBAEAB4D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				            </a:t>
            </a:r>
            <a:fld id="{DCD0AE5E-7E34-F042-BB0C-EB2ADCAC2B7F}" type="datetime1">
              <a:rPr lang="en-US">
                <a:solidFill>
                  <a:srgbClr val="000000"/>
                </a:solidFill>
              </a:rPr>
              <a:pPr>
                <a:defRPr/>
              </a:pPr>
              <a:t>6/11/26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4861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David Luebke				         </a:t>
            </a:r>
            <a:fld id="{2B5501E6-78D3-F440-994B-D7048EF5B86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				            </a:t>
            </a:r>
            <a:fld id="{DCD0AE5E-7E34-F042-BB0C-EB2ADCAC2B7F}" type="datetime1">
              <a:rPr lang="en-US">
                <a:solidFill>
                  <a:srgbClr val="000000"/>
                </a:solidFill>
              </a:rPr>
              <a:pPr>
                <a:defRPr/>
              </a:pPr>
              <a:t>6/11/26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6366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David Luebke				         </a:t>
            </a:r>
            <a:fld id="{E7F516C5-94AD-C44E-85B3-02802C1E9A2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				            </a:t>
            </a:r>
            <a:fld id="{DCD0AE5E-7E34-F042-BB0C-EB2ADCAC2B7F}" type="datetime1">
              <a:rPr lang="en-US">
                <a:solidFill>
                  <a:srgbClr val="000000"/>
                </a:solidFill>
              </a:rPr>
              <a:pPr>
                <a:defRPr/>
              </a:pPr>
              <a:t>6/11/26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8755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David Luebke				         </a:t>
            </a:r>
            <a:fld id="{404A5B87-BA86-9D48-836E-93D0ABDC692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				            </a:t>
            </a:r>
            <a:fld id="{DCD0AE5E-7E34-F042-BB0C-EB2ADCAC2B7F}" type="datetime1">
              <a:rPr lang="en-US">
                <a:solidFill>
                  <a:srgbClr val="000000"/>
                </a:solidFill>
              </a:rPr>
              <a:pPr>
                <a:defRPr/>
              </a:pPr>
              <a:t>6/11/26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9162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David Luebke				         </a:t>
            </a:r>
            <a:fld id="{2DD8F45F-9C88-8246-A92E-7867AC07474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				            </a:t>
            </a:r>
            <a:fld id="{DCD0AE5E-7E34-F042-BB0C-EB2ADCAC2B7F}" type="datetime1">
              <a:rPr lang="en-US">
                <a:solidFill>
                  <a:srgbClr val="000000"/>
                </a:solidFill>
              </a:rPr>
              <a:pPr>
                <a:defRPr/>
              </a:pPr>
              <a:t>6/11/26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5099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David Luebke				         </a:t>
            </a:r>
            <a:fld id="{4576B0AE-2C8F-A64F-AABD-55118F20B92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				            </a:t>
            </a:r>
            <a:fld id="{DCD0AE5E-7E34-F042-BB0C-EB2ADCAC2B7F}" type="datetime1">
              <a:rPr lang="en-US">
                <a:solidFill>
                  <a:srgbClr val="000000"/>
                </a:solidFill>
              </a:rPr>
              <a:pPr>
                <a:defRPr/>
              </a:pPr>
              <a:t>6/11/26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2712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David Luebke				         </a:t>
            </a:r>
            <a:fld id="{40CF07BC-15A8-BD47-BEFA-B248604409B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				            </a:t>
            </a:r>
            <a:fld id="{DCD0AE5E-7E34-F042-BB0C-EB2ADCAC2B7F}" type="datetime1">
              <a:rPr lang="en-US">
                <a:solidFill>
                  <a:srgbClr val="000000"/>
                </a:solidFill>
              </a:rPr>
              <a:pPr>
                <a:defRPr/>
              </a:pPr>
              <a:t>6/11/26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0447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David Luebke				         </a:t>
            </a:r>
            <a:fld id="{A4A21AB0-DDD8-644B-8D84-496671BB994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				            </a:t>
            </a:r>
            <a:fld id="{DCD0AE5E-7E34-F042-BB0C-EB2ADCAC2B7F}" type="datetime1">
              <a:rPr lang="en-US">
                <a:solidFill>
                  <a:srgbClr val="000000"/>
                </a:solidFill>
              </a:rPr>
              <a:pPr>
                <a:defRPr/>
              </a:pPr>
              <a:t>6/11/26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330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14CB84-9FF9-D747-B53A-83C2D2469705}" type="datetime1">
              <a:rPr lang="en-US">
                <a:latin typeface="Calibri"/>
              </a:rPr>
              <a:pPr>
                <a:defRPr/>
              </a:pPr>
              <a:t>6/11/26</a:t>
            </a:fld>
            <a:endParaRPr lang="en-GB">
              <a:latin typeface="Calibri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1E318-5B0B-7F49-90A4-AB1CF13AEA5E}" type="slidenum">
              <a:rPr lang="en-GB">
                <a:latin typeface="Calibri"/>
              </a:rPr>
              <a:pPr>
                <a:defRPr/>
              </a:pPr>
              <a:t>‹#›</a:t>
            </a:fld>
            <a:endParaRPr lang="en-GB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20576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GB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435280" cy="4525963"/>
          </a:xfrm>
        </p:spPr>
        <p:txBody>
          <a:bodyPr/>
          <a:lstStyle>
            <a:lvl1pPr>
              <a:defRPr sz="2600">
                <a:latin typeface="Arial" pitchFamily="34" charset="0"/>
                <a:cs typeface="Arial" pitchFamily="34" charset="0"/>
              </a:defRPr>
            </a:lvl1pPr>
            <a:lvl2pPr>
              <a:defRPr sz="23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GB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6423B-CAAC-034E-89C2-8CC983387190}" type="datetime1">
              <a:rPr lang="en-US">
                <a:latin typeface="Calibri"/>
              </a:rPr>
              <a:pPr>
                <a:defRPr/>
              </a:pPr>
              <a:t>6/11/26</a:t>
            </a:fld>
            <a:endParaRPr lang="en-GB">
              <a:latin typeface="Calibri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B9D5E-8165-BF4F-A173-9BE9B6CB0E67}" type="slidenum">
              <a:rPr lang="en-GB">
                <a:latin typeface="Calibri"/>
              </a:rPr>
              <a:pPr>
                <a:defRPr/>
              </a:pPr>
              <a:t>‹#›</a:t>
            </a:fld>
            <a:endParaRPr lang="en-GB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44242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1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6713F3-176C-214C-9D63-5B5C55D39B53}" type="datetime1">
              <a:rPr lang="en-US">
                <a:latin typeface="Calibri"/>
              </a:rPr>
              <a:pPr>
                <a:defRPr/>
              </a:pPr>
              <a:t>6/11/26</a:t>
            </a:fld>
            <a:endParaRPr lang="en-GB">
              <a:latin typeface="Calibri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5D7FF-7518-FB4F-A9E1-D64092D6026C}" type="slidenum">
              <a:rPr lang="en-GB">
                <a:latin typeface="Calibri"/>
              </a:rPr>
              <a:pPr>
                <a:defRPr/>
              </a:pPr>
              <a:t>‹#›</a:t>
            </a:fld>
            <a:endParaRPr lang="en-GB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31403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4D8F5-E70C-E643-91EE-9427531D3576}" type="datetime1">
              <a:rPr lang="en-US">
                <a:latin typeface="Calibri"/>
              </a:rPr>
              <a:pPr>
                <a:defRPr/>
              </a:pPr>
              <a:t>6/11/26</a:t>
            </a:fld>
            <a:endParaRPr lang="en-GB">
              <a:latin typeface="Calibri"/>
            </a:endParaRPr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6AE680-23E0-5E4B-9D20-166197558D96}" type="slidenum">
              <a:rPr lang="en-GB">
                <a:latin typeface="Calibri"/>
              </a:rPr>
              <a:pPr>
                <a:defRPr/>
              </a:pPr>
              <a:t>‹#›</a:t>
            </a:fld>
            <a:endParaRPr lang="en-GB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09519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ECD8C-5E22-C446-A8BF-D1ED95D52CAA}" type="datetime1">
              <a:rPr lang="en-US">
                <a:latin typeface="Calibri"/>
              </a:rPr>
              <a:pPr>
                <a:defRPr/>
              </a:pPr>
              <a:t>6/11/26</a:t>
            </a:fld>
            <a:endParaRPr lang="en-GB">
              <a:latin typeface="Calibri"/>
            </a:endParaRPr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3B6547-27AE-AD4D-A69C-87889D322CF4}" type="slidenum">
              <a:rPr lang="en-GB">
                <a:latin typeface="Calibri"/>
              </a:rPr>
              <a:pPr>
                <a:defRPr/>
              </a:pPr>
              <a:t>‹#›</a:t>
            </a:fld>
            <a:endParaRPr lang="en-GB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60312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02F87-25C3-F347-81E0-14BE9BCEF139}" type="datetime1">
              <a:rPr lang="en-US">
                <a:latin typeface="Calibri"/>
              </a:rPr>
              <a:pPr>
                <a:defRPr/>
              </a:pPr>
              <a:t>6/11/26</a:t>
            </a:fld>
            <a:endParaRPr lang="en-GB">
              <a:latin typeface="Calibri"/>
            </a:endParaRPr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200AC-7FA7-AB40-A4E2-F8E12F8DF8EC}" type="slidenum">
              <a:rPr lang="en-GB">
                <a:latin typeface="Calibri"/>
              </a:rPr>
              <a:pPr>
                <a:defRPr/>
              </a:pPr>
              <a:t>‹#›</a:t>
            </a:fld>
            <a:endParaRPr lang="en-GB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0441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06FDB-E666-764C-B488-A6B9AE16E0F4}" type="datetime1">
              <a:rPr lang="en-US">
                <a:latin typeface="Calibri"/>
              </a:rPr>
              <a:pPr>
                <a:defRPr/>
              </a:pPr>
              <a:t>6/11/26</a:t>
            </a:fld>
            <a:endParaRPr lang="en-GB">
              <a:latin typeface="Calibri"/>
            </a:endParaRPr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951FA-61B3-734C-8245-BC85F6391059}" type="slidenum">
              <a:rPr lang="en-GB">
                <a:latin typeface="Calibri"/>
              </a:rPr>
              <a:pPr>
                <a:defRPr/>
              </a:pPr>
              <a:t>‹#›</a:t>
            </a:fld>
            <a:endParaRPr lang="en-GB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84440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1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B06E9E-BE8D-E44A-BA7F-FF15BBE9CDA7}" type="datetime1">
              <a:rPr lang="en-US">
                <a:latin typeface="Calibri"/>
              </a:rPr>
              <a:pPr>
                <a:defRPr/>
              </a:pPr>
              <a:t>6/11/26</a:t>
            </a:fld>
            <a:endParaRPr lang="en-GB">
              <a:latin typeface="Calibri"/>
            </a:endParaRPr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9C208-6481-3D49-91C6-7DA00BB8037C}" type="slidenum">
              <a:rPr lang="en-GB">
                <a:latin typeface="Calibri"/>
              </a:rPr>
              <a:pPr>
                <a:defRPr/>
              </a:pPr>
              <a:t>‹#›</a:t>
            </a:fld>
            <a:endParaRPr lang="en-GB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71352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53" indent="0">
              <a:buNone/>
              <a:defRPr sz="2800"/>
            </a:lvl2pPr>
            <a:lvl3pPr marL="914305" indent="0">
              <a:buNone/>
              <a:defRPr sz="2400"/>
            </a:lvl3pPr>
            <a:lvl4pPr marL="1371458" indent="0">
              <a:buNone/>
              <a:defRPr sz="2000"/>
            </a:lvl4pPr>
            <a:lvl5pPr marL="1828610" indent="0">
              <a:buNone/>
              <a:defRPr sz="2000"/>
            </a:lvl5pPr>
            <a:lvl6pPr marL="2285763" indent="0">
              <a:buNone/>
              <a:defRPr sz="2000"/>
            </a:lvl6pPr>
            <a:lvl7pPr marL="2742915" indent="0">
              <a:buNone/>
              <a:defRPr sz="2000"/>
            </a:lvl7pPr>
            <a:lvl8pPr marL="3200068" indent="0">
              <a:buNone/>
              <a:defRPr sz="2000"/>
            </a:lvl8pPr>
            <a:lvl9pPr marL="365722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57C9E-8B9C-B240-8B44-0C690C16AEA9}" type="datetime1">
              <a:rPr lang="en-US">
                <a:latin typeface="Calibri"/>
              </a:rPr>
              <a:pPr>
                <a:defRPr/>
              </a:pPr>
              <a:t>6/11/26</a:t>
            </a:fld>
            <a:endParaRPr lang="en-GB">
              <a:latin typeface="Calibri"/>
            </a:endParaRPr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5C93B3-C87E-5740-9F1A-2B0AF4F8DFE7}" type="slidenum">
              <a:rPr lang="en-GB">
                <a:latin typeface="Calibri"/>
              </a:rPr>
              <a:pPr>
                <a:defRPr/>
              </a:pPr>
              <a:t>‹#›</a:t>
            </a:fld>
            <a:endParaRPr lang="en-GB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36402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F14B06-84E7-4B49-9F1C-BD70C3ABEA29}" type="datetime1">
              <a:rPr lang="en-US">
                <a:latin typeface="Calibri"/>
              </a:rPr>
              <a:pPr>
                <a:defRPr/>
              </a:pPr>
              <a:t>6/11/26</a:t>
            </a:fld>
            <a:endParaRPr lang="en-GB">
              <a:latin typeface="Calibri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F07D7-F58E-E94C-A1AE-C4907451FBFD}" type="slidenum">
              <a:rPr lang="en-GB">
                <a:latin typeface="Calibri"/>
              </a:rPr>
              <a:pPr>
                <a:defRPr/>
              </a:pPr>
              <a:t>‹#›</a:t>
            </a:fld>
            <a:endParaRPr lang="en-GB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82708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1" y="274639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A6831-CA03-3642-AE9B-5018C376D7F3}" type="datetime1">
              <a:rPr lang="en-US">
                <a:latin typeface="Calibri"/>
              </a:rPr>
              <a:pPr>
                <a:defRPr/>
              </a:pPr>
              <a:t>6/11/26</a:t>
            </a:fld>
            <a:endParaRPr lang="en-GB">
              <a:latin typeface="Calibri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B97DF-89AA-7346-9E71-C1C6A0B91841}" type="slidenum">
              <a:rPr lang="en-GB">
                <a:latin typeface="Calibri"/>
              </a:rPr>
              <a:pPr>
                <a:defRPr/>
              </a:pPr>
              <a:t>‹#›</a:t>
            </a:fld>
            <a:endParaRPr lang="en-GB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87769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6116163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10"/>
          </p:nvPr>
        </p:nvSpPr>
        <p:spPr>
          <a:ln w="12700">
            <a:miter lim="400000"/>
          </a:ln>
        </p:spPr>
        <p:txBody>
          <a:bodyPr/>
          <a:lstStyle>
            <a:lvl1pPr defTabSz="914400" eaLnBrk="0">
              <a:defRPr sz="1000" i="1">
                <a:solidFill>
                  <a:schemeClr val="tx1"/>
                </a:solidFill>
                <a:latin typeface="Helvetica Neue" charset="0"/>
                <a:ea typeface="ＭＳ Ｐゴシック" charset="0"/>
                <a:cs typeface="Helvetica Neue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fld id="{614D5C72-0A86-1743-A8F5-22AFF7417A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9353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3" tIns="45713" rIns="45713" bIns="45713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3" tIns="45713" rIns="45713" bIns="45713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413543" y="6400422"/>
            <a:ext cx="273258" cy="276985"/>
          </a:xfrm>
          <a:prstGeom prst="rect">
            <a:avLst/>
          </a:prstGeom>
          <a:ln w="12700">
            <a:miter lim="400000"/>
          </a:ln>
        </p:spPr>
        <p:txBody>
          <a:bodyPr wrap="none" lIns="45713" tIns="45713" rIns="45713" bIns="45713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837" r:id="rId23"/>
  </p:sldLayoutIdLst>
  <p:transition spd="med"/>
  <p:txStyles>
    <p:titleStyle>
      <a:lvl1pPr marL="0" marR="0" indent="0" algn="ct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865" marR="0" indent="-342865" algn="l" defTabSz="914305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690" marR="0" indent="-326537" algn="l" defTabSz="914305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073" marR="0" indent="-304768" algn="l" defTabSz="914305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180" marR="0" indent="-365722" algn="l" defTabSz="914305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234968" marR="0" indent="-406358" algn="l" defTabSz="914305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92121" marR="0" indent="-406358" algn="l" defTabSz="914305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49273" marR="0" indent="-406358" algn="l" defTabSz="914305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06426" marR="0" indent="-406358" algn="l" defTabSz="914305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63579" marR="0" indent="-406358" algn="l" defTabSz="914305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3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553200"/>
            <a:ext cx="822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900" b="1" i="0">
                <a:cs typeface="+mn-cs"/>
              </a:defRPr>
            </a:lvl1pPr>
          </a:lstStyle>
          <a:p>
            <a:pPr defTabSz="914400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kern="1200">
                <a:latin typeface="Arial" charset="0"/>
                <a:ea typeface="ＭＳ Ｐゴシック" charset="0"/>
              </a:rPr>
              <a:t>David Luebke				         </a:t>
            </a:r>
            <a:fld id="{E1CCA5FF-4ACF-0F49-88F6-852EA189D065}" type="slidenum">
              <a:rPr lang="en-US" kern="1200">
                <a:latin typeface="Arial" charset="0"/>
                <a:ea typeface="ＭＳ Ｐゴシック" charset="0"/>
              </a:rPr>
              <a:pPr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lang="en-US" kern="1200">
                <a:latin typeface="Arial" charset="0"/>
                <a:ea typeface="ＭＳ Ｐゴシック" charset="0"/>
              </a:rPr>
              <a:t> 				            </a:t>
            </a:r>
            <a:fld id="{DCD0AE5E-7E34-F042-BB0C-EB2ADCAC2B7F}" type="datetime1">
              <a:rPr lang="en-US" kern="1200">
                <a:latin typeface="Arial" charset="0"/>
                <a:ea typeface="ＭＳ Ｐゴシック" charset="0"/>
              </a:rPr>
              <a:pPr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t>6/11/26</a:t>
            </a:fld>
            <a:endParaRPr lang="en-US" kern="1200">
              <a:latin typeface="Arial" charset="0"/>
              <a:ea typeface="ＭＳ Ｐゴシック" charset="0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311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25000"/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charset="0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charset="0"/>
        <a:buChar char="]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27651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FBF632-BADB-3B4D-AB1B-8AF538786869}" type="datetime1">
              <a:rPr lang="en-US" kern="1200">
                <a:latin typeface="Calibri" charset="0"/>
                <a:ea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6/11/26</a:t>
            </a:fld>
            <a:endParaRPr lang="en-GB" kern="1200">
              <a:latin typeface="Calibri" charset="0"/>
              <a:ea typeface="ＭＳ Ｐゴシック" charset="0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kern="120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9E3314-EBDC-2240-A81E-61172B014B24}" type="slidenum">
              <a:rPr lang="en-GB" kern="1200">
                <a:latin typeface="Calibri" charset="0"/>
                <a:ea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kern="1200">
              <a:latin typeface="Calibri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87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9" r:id="rId12"/>
    <p:sldLayoutId id="2147483840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153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6pPr>
      <a:lvl7pPr marL="914305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7pPr>
      <a:lvl8pPr marL="137145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8pPr>
      <a:lvl9pPr marL="182861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9pPr>
    </p:titleStyle>
    <p:bodyStyle>
      <a:lvl1pPr marL="342865" indent="-34286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873" indent="-28572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2882" indent="-22857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034" indent="-22857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187" indent="-22857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340" indent="-228577" algn="l" defTabSz="914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2" indent="-228577" algn="l" defTabSz="914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45" indent="-228577" algn="l" defTabSz="914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97" indent="-228577" algn="l" defTabSz="91430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5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8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0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3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15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68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0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ucas.cordeiro@cs.ox.ac.uk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vedetails.com/%23https:/www.cvedetails.com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/>
        </p:nvSpPr>
        <p:spPr>
          <a:xfrm>
            <a:off x="545213" y="2061903"/>
            <a:ext cx="8076187" cy="2122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3" tIns="45713" rIns="45713" bIns="45713" anchor="ctr">
            <a:normAutofit/>
          </a:bodyPr>
          <a:lstStyle/>
          <a:p>
            <a:pPr algn="ctr"/>
            <a:r>
              <a:rPr lang="x-none" sz="4800" b="1" dirty="0">
                <a:solidFill>
                  <a:schemeClr val="accent4">
                    <a:lumMod val="75000"/>
                  </a:schemeClr>
                </a:solidFill>
                <a:latin typeface="Arial"/>
                <a:ea typeface="+mj-ea"/>
                <a:cs typeface="Arial"/>
                <a:sym typeface="Calibri"/>
              </a:rPr>
              <a:t>Software Security</a:t>
            </a:r>
            <a:endParaRPr lang="en-US" sz="4800" b="1" dirty="0">
              <a:solidFill>
                <a:schemeClr val="accent4">
                  <a:lumMod val="75000"/>
                </a:schemeClr>
              </a:solidFill>
              <a:latin typeface="Arial"/>
              <a:ea typeface="+mj-ea"/>
              <a:cs typeface="Arial"/>
              <a:sym typeface="Calibri"/>
            </a:endParaRPr>
          </a:p>
        </p:txBody>
      </p:sp>
      <p:sp>
        <p:nvSpPr>
          <p:cNvPr id="238" name="Shape 238"/>
          <p:cNvSpPr/>
          <p:nvPr/>
        </p:nvSpPr>
        <p:spPr>
          <a:xfrm>
            <a:off x="250825" y="5589111"/>
            <a:ext cx="8642350" cy="1014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994" tIns="44994" rIns="44994" bIns="44994">
            <a:spAutoFit/>
          </a:bodyPr>
          <a:lstStyle/>
          <a:p>
            <a:pPr algn="r"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sz="2000" dirty="0"/>
              <a:t>Lucas Cordeiro</a:t>
            </a:r>
          </a:p>
          <a:p>
            <a:pPr algn="r"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x-none" sz="2000" dirty="0"/>
              <a:t>Department of Computer Science</a:t>
            </a:r>
            <a:endParaRPr sz="2000" dirty="0"/>
          </a:p>
          <a:p>
            <a:pPr algn="r"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2000" dirty="0">
                <a:hlinkClick r:id="rId2"/>
              </a:rPr>
              <a:t>lucas.cordeiro@</a:t>
            </a:r>
            <a:r>
              <a:rPr lang="x-none" sz="2000" dirty="0">
                <a:hlinkClick r:id="rId2"/>
              </a:rPr>
              <a:t>manchester</a:t>
            </a:r>
            <a:r>
              <a:rPr sz="2000" dirty="0">
                <a:hlinkClick r:id="rId2"/>
              </a:rPr>
              <a:t>.ac.uk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8600"/>
            <a:ext cx="233838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66" y="228600"/>
            <a:ext cx="990600" cy="990600"/>
          </a:xfrm>
          <a:prstGeom prst="rect">
            <a:avLst/>
          </a:prstGeom>
        </p:spPr>
      </p:pic>
      <p:sp>
        <p:nvSpPr>
          <p:cNvPr id="7" name="Shape 238"/>
          <p:cNvSpPr/>
          <p:nvPr/>
        </p:nvSpPr>
        <p:spPr>
          <a:xfrm>
            <a:off x="1329574" y="354414"/>
            <a:ext cx="4527364" cy="706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4994" tIns="44994" rIns="44994" bIns="44994">
            <a:spAutoFit/>
          </a:bodyPr>
          <a:lstStyle/>
          <a:p>
            <a:pPr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2000" dirty="0"/>
              <a:t>Systems and Software </a:t>
            </a:r>
          </a:p>
          <a:p>
            <a:pPr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2000" dirty="0"/>
              <a:t>Verification Laboratory</a:t>
            </a:r>
            <a:endParaRPr sz="2000" dirty="0">
              <a:hlinkClick r:id="rId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Shape 2"/>
          <p:cNvSpPr txBox="1"/>
          <p:nvPr/>
        </p:nvSpPr>
        <p:spPr>
          <a:xfrm>
            <a:off x="132353" y="-26988"/>
            <a:ext cx="8882062" cy="9413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 hangingPunct="1">
              <a:defRPr/>
            </a:pPr>
            <a:r>
              <a:rPr lang="en-US" sz="3600" b="1" kern="1200" spc="-1" dirty="0">
                <a:uFill>
                  <a:solidFill>
                    <a:srgbClr val="FFFFFF"/>
                  </a:solidFill>
                </a:uFill>
                <a:latin typeface="Arial"/>
                <a:ea typeface="DejaVu Sans"/>
                <a:cs typeface="DejaVu Sans"/>
              </a:rPr>
              <a:t>Motivating Example</a:t>
            </a:r>
          </a:p>
        </p:txBody>
      </p:sp>
      <p:sp>
        <p:nvSpPr>
          <p:cNvPr id="105474" name="TextBox 5"/>
          <p:cNvSpPr txBox="1">
            <a:spLocks noChangeArrowheads="1"/>
          </p:cNvSpPr>
          <p:nvPr/>
        </p:nvSpPr>
        <p:spPr bwMode="auto">
          <a:xfrm>
            <a:off x="826134" y="1457327"/>
            <a:ext cx="3269698" cy="13487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int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getPassword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() {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 </a:t>
            </a:r>
            <a:r>
              <a:rPr lang="en-US" sz="1600" b="1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char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buf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[4];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 gets(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buf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 </a:t>
            </a:r>
            <a:r>
              <a:rPr lang="en-US" sz="1600" b="1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return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strcmp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(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buf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, ”SMT”);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}</a:t>
            </a:r>
          </a:p>
        </p:txBody>
      </p:sp>
      <p:sp>
        <p:nvSpPr>
          <p:cNvPr id="105477" name="TextBox 8"/>
          <p:cNvSpPr txBox="1">
            <a:spLocks noChangeArrowheads="1"/>
          </p:cNvSpPr>
          <p:nvPr/>
        </p:nvSpPr>
        <p:spPr bwMode="auto">
          <a:xfrm>
            <a:off x="5029566" y="1052513"/>
            <a:ext cx="3248841" cy="21026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void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main(){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</a:t>
            </a:r>
            <a:r>
              <a:rPr lang="en-US" sz="1600" b="1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</a:t>
            </a:r>
            <a:r>
              <a:rPr lang="en-US" sz="1600" b="1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int</a:t>
            </a:r>
            <a:r>
              <a:rPr lang="en-US" sz="1600" b="1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x=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getPassword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();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 if(x){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   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printf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(“Access Denied\n”);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   exit(0);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 }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 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printf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(“Access Granted\n”); 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} </a:t>
            </a:r>
          </a:p>
        </p:txBody>
      </p:sp>
      <p:sp>
        <p:nvSpPr>
          <p:cNvPr id="105480" name="Rectangle 13"/>
          <p:cNvSpPr>
            <a:spLocks noChangeArrowheads="1"/>
          </p:cNvSpPr>
          <p:nvPr/>
        </p:nvSpPr>
        <p:spPr bwMode="auto">
          <a:xfrm>
            <a:off x="2700339" y="6381750"/>
            <a:ext cx="5713817" cy="338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>
            <a:spAutoFit/>
          </a:bodyPr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Arial"/>
                <a:ea typeface="ＭＳ Ｐゴシック" charset="0"/>
                <a:cs typeface="Arial"/>
              </a:rPr>
              <a:t>Barrett et al., Problem Solving for the 21st Century, 2014.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2267" y="3429001"/>
            <a:ext cx="8438101" cy="255453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342865" indent="-342865">
              <a:buFont typeface="Arial"/>
              <a:buChar char="•"/>
            </a:pPr>
            <a:r>
              <a:rPr lang="en-US" sz="2000" dirty="0">
                <a:latin typeface="Arial"/>
                <a:cs typeface="Arial"/>
              </a:rPr>
              <a:t>What happens if the user enters “SMT”?</a:t>
            </a:r>
          </a:p>
          <a:p>
            <a:endParaRPr lang="en-US" sz="2000" dirty="0">
              <a:latin typeface="Arial"/>
              <a:cs typeface="Arial"/>
            </a:endParaRPr>
          </a:p>
          <a:p>
            <a:pPr marL="342865" indent="-342865">
              <a:buFont typeface="Arial"/>
              <a:buChar char="•"/>
            </a:pPr>
            <a:r>
              <a:rPr lang="en-US" sz="2000" dirty="0">
                <a:latin typeface="Arial"/>
                <a:cs typeface="Arial"/>
              </a:rPr>
              <a:t>On a Linux x64 platform running GCC 4.8.2, an input consisting of 24 arbitrary characters followed by </a:t>
            </a:r>
            <a:r>
              <a:rPr lang="en-US" sz="2000" i="1" dirty="0">
                <a:latin typeface="Arial"/>
                <a:cs typeface="Arial"/>
              </a:rPr>
              <a:t>]</a:t>
            </a:r>
            <a:r>
              <a:rPr lang="en-US" sz="2000" dirty="0">
                <a:latin typeface="Arial"/>
                <a:cs typeface="Arial"/>
              </a:rPr>
              <a:t>, </a:t>
            </a:r>
            <a:r>
              <a:rPr lang="en-US" sz="2000" i="1" dirty="0">
                <a:latin typeface="Arial"/>
                <a:cs typeface="Arial"/>
              </a:rPr>
              <a:t>&lt;ctrl-f&gt;</a:t>
            </a:r>
            <a:r>
              <a:rPr lang="en-US" sz="2000" dirty="0">
                <a:latin typeface="Arial"/>
                <a:cs typeface="Arial"/>
              </a:rPr>
              <a:t>, and </a:t>
            </a:r>
            <a:r>
              <a:rPr lang="en-US" sz="2000" i="1" dirty="0">
                <a:latin typeface="Arial"/>
                <a:cs typeface="Arial"/>
              </a:rPr>
              <a:t>@</a:t>
            </a:r>
            <a:r>
              <a:rPr lang="en-US" sz="2000" dirty="0">
                <a:latin typeface="Arial"/>
                <a:cs typeface="Arial"/>
              </a:rPr>
              <a:t>, will bypass the “Access Denied” message</a:t>
            </a:r>
          </a:p>
          <a:p>
            <a:pPr marL="342865" indent="-342865">
              <a:buFont typeface="Arial"/>
              <a:buChar char="•"/>
            </a:pPr>
            <a:endParaRPr lang="en-US" sz="2000" dirty="0">
              <a:latin typeface="Arial"/>
              <a:cs typeface="Arial"/>
            </a:endParaRPr>
          </a:p>
          <a:p>
            <a:pPr marL="342865" indent="-342865">
              <a:buFont typeface="Arial"/>
              <a:buChar char="•"/>
            </a:pPr>
            <a:r>
              <a:rPr lang="en-US" sz="2000" dirty="0">
                <a:latin typeface="Arial"/>
                <a:cs typeface="Arial"/>
              </a:rPr>
              <a:t>A more extended input will run over into other parts of the </a:t>
            </a:r>
            <a:r>
              <a:rPr lang="en-US" sz="2000" b="1" dirty="0">
                <a:latin typeface="Arial"/>
                <a:cs typeface="Arial"/>
              </a:rPr>
              <a:t>computer memory</a:t>
            </a:r>
          </a:p>
        </p:txBody>
      </p:sp>
    </p:spTree>
    <p:extLst>
      <p:ext uri="{BB962C8B-B14F-4D97-AF65-F5344CB8AC3E}">
        <p14:creationId xmlns:p14="http://schemas.microsoft.com/office/powerpoint/2010/main" val="155881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439" y="4988560"/>
            <a:ext cx="2016227" cy="15595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1978661"/>
            <a:ext cx="3139440" cy="2150517"/>
          </a:xfrm>
          <a:prstGeom prst="rect">
            <a:avLst/>
          </a:prstGeom>
        </p:spPr>
      </p:pic>
      <p:sp>
        <p:nvSpPr>
          <p:cNvPr id="96260" name="Rectangle 2" descr=" 26"/>
          <p:cNvSpPr>
            <a:spLocks noGrp="1" noChangeArrowheads="1"/>
          </p:cNvSpPr>
          <p:nvPr>
            <p:ph type="title"/>
          </p:nvPr>
        </p:nvSpPr>
        <p:spPr>
          <a:xfrm>
            <a:off x="179388" y="74930"/>
            <a:ext cx="8839200" cy="719138"/>
          </a:xfrm>
        </p:spPr>
        <p:txBody>
          <a:bodyPr/>
          <a:lstStyle/>
          <a:p>
            <a:pPr eaLnBrk="1" hangingPunct="1"/>
            <a:r>
              <a:rPr lang="en-US" b="1" dirty="0">
                <a:latin typeface="Arial" charset="0"/>
                <a:cs typeface="Arial" charset="0"/>
              </a:rPr>
              <a:t>What is Safety and Security?</a:t>
            </a:r>
            <a:endParaRPr lang="en-GB" b="1" dirty="0">
              <a:latin typeface="Arial" charset="0"/>
              <a:cs typeface="Arial" charset="0"/>
            </a:endParaRPr>
          </a:p>
        </p:txBody>
      </p:sp>
      <p:sp>
        <p:nvSpPr>
          <p:cNvPr id="27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203200" y="960120"/>
            <a:ext cx="7772400" cy="525780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Safety</a:t>
            </a:r>
          </a:p>
          <a:p>
            <a:pPr lvl="1"/>
            <a:r>
              <a:rPr lang="en-US" dirty="0">
                <a:latin typeface="Arial"/>
                <a:cs typeface="Arial"/>
              </a:rPr>
              <a:t>If the user supplies </a:t>
            </a:r>
            <a:r>
              <a:rPr lang="en-US" b="1" dirty="0">
                <a:latin typeface="Arial"/>
                <a:cs typeface="Arial"/>
              </a:rPr>
              <a:t>any input</a:t>
            </a:r>
            <a:r>
              <a:rPr lang="en-US" dirty="0">
                <a:latin typeface="Arial"/>
                <a:cs typeface="Arial"/>
              </a:rPr>
              <a:t>, then the system generates the </a:t>
            </a:r>
            <a:r>
              <a:rPr lang="en-US" b="1" dirty="0">
                <a:latin typeface="Arial"/>
                <a:cs typeface="Arial"/>
              </a:rPr>
              <a:t>desired output</a:t>
            </a:r>
          </a:p>
          <a:p>
            <a:pPr lvl="2"/>
            <a:r>
              <a:rPr lang="en-US" dirty="0">
                <a:latin typeface="Arial"/>
                <a:cs typeface="Arial"/>
              </a:rPr>
              <a:t>Any input </a:t>
            </a:r>
            <a:r>
              <a:rPr lang="en-US" dirty="0">
                <a:latin typeface="Arial"/>
                <a:cs typeface="Arial"/>
                <a:sym typeface="Symbol" charset="0"/>
              </a:rPr>
              <a:t> Good output</a:t>
            </a:r>
            <a:endParaRPr lang="en-US" dirty="0">
              <a:latin typeface="Arial"/>
              <a:cs typeface="Arial"/>
            </a:endParaRPr>
          </a:p>
          <a:p>
            <a:pPr lvl="2"/>
            <a:r>
              <a:rPr lang="en-US" dirty="0">
                <a:latin typeface="Arial"/>
                <a:cs typeface="Arial"/>
              </a:rPr>
              <a:t>Safe and protected from danger/harm</a:t>
            </a:r>
            <a:endParaRPr lang="en-US" dirty="0">
              <a:latin typeface="Arial"/>
              <a:cs typeface="Arial"/>
              <a:sym typeface="Symbol" charset="0"/>
            </a:endParaRPr>
          </a:p>
          <a:p>
            <a:pPr lvl="2"/>
            <a:r>
              <a:rPr lang="en-US" dirty="0">
                <a:latin typeface="Arial"/>
                <a:cs typeface="Arial"/>
              </a:rPr>
              <a:t>More features leads to a higher                          verification effort</a:t>
            </a:r>
          </a:p>
          <a:p>
            <a:pPr marL="914305" lvl="2" indent="0">
              <a:buNone/>
            </a:pPr>
            <a:endParaRPr lang="en-US" sz="800" b="1" dirty="0">
              <a:latin typeface="Arial"/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Security</a:t>
            </a:r>
          </a:p>
          <a:p>
            <a:pPr lvl="1"/>
            <a:r>
              <a:rPr lang="en-US" dirty="0">
                <a:latin typeface="Arial"/>
                <a:cs typeface="Arial"/>
              </a:rPr>
              <a:t>If an attacker supplies </a:t>
            </a:r>
            <a:r>
              <a:rPr lang="en-US" b="1" dirty="0">
                <a:latin typeface="Arial"/>
                <a:cs typeface="Arial"/>
              </a:rPr>
              <a:t>unexpected input</a:t>
            </a:r>
            <a:r>
              <a:rPr lang="en-US" dirty="0">
                <a:latin typeface="Arial"/>
                <a:cs typeface="Arial"/>
              </a:rPr>
              <a:t>, then the system </a:t>
            </a:r>
            <a:r>
              <a:rPr lang="en-US" b="1" dirty="0">
                <a:latin typeface="Arial"/>
                <a:cs typeface="Arial"/>
              </a:rPr>
              <a:t>does not fail in specific ways</a:t>
            </a:r>
          </a:p>
          <a:p>
            <a:pPr lvl="2"/>
            <a:r>
              <a:rPr lang="en-US" dirty="0">
                <a:latin typeface="Arial"/>
                <a:cs typeface="Arial"/>
              </a:rPr>
              <a:t>Bad input </a:t>
            </a:r>
            <a:r>
              <a:rPr lang="en-US" dirty="0">
                <a:latin typeface="Arial"/>
                <a:cs typeface="Arial"/>
                <a:sym typeface="Symbol" charset="0"/>
              </a:rPr>
              <a:t></a:t>
            </a:r>
            <a:r>
              <a:rPr lang="en-US" dirty="0">
                <a:latin typeface="Arial"/>
                <a:cs typeface="Arial"/>
              </a:rPr>
              <a:t> Bad output</a:t>
            </a:r>
          </a:p>
          <a:p>
            <a:pPr lvl="2"/>
            <a:r>
              <a:rPr lang="en-US" dirty="0">
                <a:latin typeface="Arial"/>
                <a:cs typeface="Arial"/>
              </a:rPr>
              <a:t>Protection of individuals, organizations,                         and properties against external threats</a:t>
            </a:r>
          </a:p>
          <a:p>
            <a:pPr lvl="2"/>
            <a:r>
              <a:rPr lang="en-US" dirty="0">
                <a:latin typeface="Arial"/>
                <a:cs typeface="Arial"/>
              </a:rPr>
              <a:t>More features leads to a higher                               chance of attacks</a:t>
            </a:r>
          </a:p>
          <a:p>
            <a:pPr lvl="2"/>
            <a:endParaRPr lang="en-US" dirty="0">
              <a:latin typeface="Arial"/>
              <a:cs typeface="Arial"/>
            </a:endParaRPr>
          </a:p>
          <a:p>
            <a:pPr lvl="1"/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827882"/>
      </p:ext>
    </p:extLst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4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228600" y="3962400"/>
            <a:ext cx="8686800" cy="259080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Security consists of the following basic elements:</a:t>
            </a:r>
          </a:p>
          <a:p>
            <a:pPr lvl="1"/>
            <a:r>
              <a:rPr lang="en-US" dirty="0">
                <a:latin typeface="Arial"/>
                <a:cs typeface="Arial"/>
              </a:rPr>
              <a:t>Honest user (Alice)</a:t>
            </a:r>
          </a:p>
          <a:p>
            <a:pPr lvl="1"/>
            <a:r>
              <a:rPr lang="en-US" dirty="0">
                <a:latin typeface="Arial"/>
                <a:cs typeface="Arial"/>
              </a:rPr>
              <a:t>Dishonest attacker</a:t>
            </a:r>
          </a:p>
          <a:p>
            <a:pPr lvl="1"/>
            <a:r>
              <a:rPr lang="en-US" dirty="0">
                <a:latin typeface="Arial"/>
                <a:cs typeface="Arial"/>
              </a:rPr>
              <a:t>How the attacker </a:t>
            </a:r>
          </a:p>
          <a:p>
            <a:pPr lvl="2"/>
            <a:r>
              <a:rPr lang="en-US" dirty="0">
                <a:latin typeface="Arial"/>
                <a:cs typeface="Arial"/>
              </a:rPr>
              <a:t>Disrupts Alice’s use of the system  (Integrity, Availability)</a:t>
            </a:r>
          </a:p>
          <a:p>
            <a:pPr lvl="2"/>
            <a:r>
              <a:rPr lang="en-US" dirty="0">
                <a:latin typeface="Arial"/>
                <a:cs typeface="Arial"/>
              </a:rPr>
              <a:t>Learns information intended for Alice only (Confidentiality)</a:t>
            </a:r>
          </a:p>
        </p:txBody>
      </p:sp>
      <p:sp>
        <p:nvSpPr>
          <p:cNvPr id="11" name="Rectangle 2" descr=" 26"/>
          <p:cNvSpPr>
            <a:spLocks noGrp="1" noChangeArrowheads="1"/>
          </p:cNvSpPr>
          <p:nvPr>
            <p:ph type="title"/>
          </p:nvPr>
        </p:nvSpPr>
        <p:spPr>
          <a:xfrm>
            <a:off x="179388" y="74930"/>
            <a:ext cx="8839200" cy="719138"/>
          </a:xfrm>
        </p:spPr>
        <p:txBody>
          <a:bodyPr/>
          <a:lstStyle/>
          <a:p>
            <a:pPr eaLnBrk="1" hangingPunct="1"/>
            <a:r>
              <a:rPr lang="en-US" b="1" dirty="0">
                <a:latin typeface="Arial" charset="0"/>
                <a:cs typeface="Arial" charset="0"/>
              </a:rPr>
              <a:t>Overview</a:t>
            </a:r>
            <a:endParaRPr lang="en-GB" b="1" dirty="0">
              <a:latin typeface="Arial" charset="0"/>
              <a:cs typeface="Arial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3505200" y="1100138"/>
            <a:ext cx="2209800" cy="2286000"/>
          </a:xfrm>
          <a:prstGeom prst="rect">
            <a:avLst/>
          </a:prstGeom>
          <a:ln>
            <a:headEnd type="none" w="med" len="med"/>
            <a:tailEnd type="triangle" w="lg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dirty="0">
                <a:latin typeface="Arial"/>
                <a:ea typeface="+mn-ea"/>
                <a:cs typeface="Arial"/>
              </a:rPr>
              <a:t>System</a:t>
            </a: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2971800" y="1104900"/>
            <a:ext cx="533400" cy="2286000"/>
          </a:xfrm>
          <a:prstGeom prst="rect">
            <a:avLst/>
          </a:prstGeom>
          <a:ln>
            <a:headEnd/>
            <a:tailEnd type="triangle" w="lg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/>
          <a:lstStyle/>
          <a:p>
            <a:endParaRPr lang="en-US"/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5715000" y="1104900"/>
            <a:ext cx="533400" cy="2286000"/>
          </a:xfrm>
          <a:prstGeom prst="rect">
            <a:avLst/>
          </a:prstGeom>
          <a:ln>
            <a:headEnd/>
            <a:tailEnd type="triangle" w="lg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/>
          <a:lstStyle/>
          <a:p>
            <a:endParaRPr lang="en-US"/>
          </a:p>
        </p:txBody>
      </p:sp>
      <p:sp>
        <p:nvSpPr>
          <p:cNvPr id="39" name="TextBox 11"/>
          <p:cNvSpPr txBox="1">
            <a:spLocks noChangeArrowheads="1"/>
          </p:cNvSpPr>
          <p:nvPr/>
        </p:nvSpPr>
        <p:spPr bwMode="auto">
          <a:xfrm>
            <a:off x="7594600" y="3308350"/>
            <a:ext cx="11464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Arial"/>
                <a:cs typeface="Arial"/>
              </a:rPr>
              <a:t>Attacker</a:t>
            </a:r>
          </a:p>
        </p:txBody>
      </p:sp>
      <p:sp>
        <p:nvSpPr>
          <p:cNvPr id="40" name="TextBox 13"/>
          <p:cNvSpPr txBox="1">
            <a:spLocks noChangeArrowheads="1"/>
          </p:cNvSpPr>
          <p:nvPr/>
        </p:nvSpPr>
        <p:spPr bwMode="auto">
          <a:xfrm>
            <a:off x="533400" y="3308350"/>
            <a:ext cx="7360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Arial"/>
                <a:cs typeface="Arial"/>
              </a:rPr>
              <a:t>User</a:t>
            </a:r>
          </a:p>
        </p:txBody>
      </p:sp>
      <p:sp>
        <p:nvSpPr>
          <p:cNvPr id="41" name="Right Arrow 14"/>
          <p:cNvSpPr>
            <a:spLocks noChangeArrowheads="1"/>
          </p:cNvSpPr>
          <p:nvPr/>
        </p:nvSpPr>
        <p:spPr bwMode="auto">
          <a:xfrm>
            <a:off x="2133600" y="14859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42" name="Right Arrow 15"/>
          <p:cNvSpPr>
            <a:spLocks noChangeArrowheads="1"/>
          </p:cNvSpPr>
          <p:nvPr/>
        </p:nvSpPr>
        <p:spPr bwMode="auto">
          <a:xfrm flipH="1">
            <a:off x="2133600" y="24003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43" name="Right Arrow 16"/>
          <p:cNvSpPr>
            <a:spLocks noChangeArrowheads="1"/>
          </p:cNvSpPr>
          <p:nvPr/>
        </p:nvSpPr>
        <p:spPr bwMode="auto">
          <a:xfrm>
            <a:off x="6400800" y="14859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44" name="Right Arrow 17"/>
          <p:cNvSpPr>
            <a:spLocks noChangeArrowheads="1"/>
          </p:cNvSpPr>
          <p:nvPr/>
        </p:nvSpPr>
        <p:spPr bwMode="auto">
          <a:xfrm flipH="1">
            <a:off x="6400800" y="24003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678748" y="6455956"/>
            <a:ext cx="64550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Arial"/>
                <a:cs typeface="Arial"/>
              </a:rPr>
              <a:t>Boneh</a:t>
            </a:r>
            <a:r>
              <a:rPr lang="en-US" sz="1600" dirty="0">
                <a:latin typeface="Arial"/>
                <a:cs typeface="Arial"/>
              </a:rPr>
              <a:t>, D. and Mitchell, J., </a:t>
            </a:r>
            <a:r>
              <a:rPr lang="en-US" sz="1600" i="1" dirty="0">
                <a:latin typeface="Arial"/>
                <a:cs typeface="Arial"/>
              </a:rPr>
              <a:t>“Computer and Network Security”</a:t>
            </a:r>
            <a:r>
              <a:rPr lang="en-US" sz="1600" dirty="0">
                <a:latin typeface="Arial"/>
                <a:cs typeface="Arial"/>
              </a:rPr>
              <a:t>, 2009.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5" y="1186180"/>
            <a:ext cx="1983682" cy="19227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420" y="1216660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90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299720" y="4165600"/>
            <a:ext cx="5186680" cy="22453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b="1" dirty="0">
                <a:latin typeface="Arial"/>
                <a:cs typeface="Arial"/>
              </a:rPr>
              <a:t>Confidentiality:</a:t>
            </a:r>
            <a:r>
              <a:rPr lang="en-US" dirty="0">
                <a:latin typeface="Arial"/>
                <a:cs typeface="Arial"/>
              </a:rPr>
              <a:t> Attacker does not learn the user’s secrets.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b="1" dirty="0">
                <a:latin typeface="Arial"/>
                <a:cs typeface="Arial"/>
              </a:rPr>
              <a:t>Integrity:</a:t>
            </a:r>
            <a:r>
              <a:rPr lang="en-US" dirty="0">
                <a:latin typeface="Arial"/>
                <a:cs typeface="Arial"/>
              </a:rPr>
              <a:t> Attacker does not undetectably corrupt system’s function for the user</a:t>
            </a:r>
          </a:p>
          <a:p>
            <a:pPr marL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b="1" dirty="0">
                <a:latin typeface="Arial"/>
                <a:cs typeface="Arial"/>
              </a:rPr>
              <a:t>Availability:</a:t>
            </a:r>
            <a:r>
              <a:rPr lang="en-US" dirty="0">
                <a:latin typeface="Arial"/>
                <a:cs typeface="Arial"/>
              </a:rPr>
              <a:t> Attacker does not keep system from being useful to the user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287520"/>
            <a:ext cx="2495656" cy="1930400"/>
          </a:xfrm>
          <a:prstGeom prst="rect">
            <a:avLst/>
          </a:prstGeom>
        </p:spPr>
      </p:pic>
      <p:sp>
        <p:nvSpPr>
          <p:cNvPr id="18" name="Title 15"/>
          <p:cNvSpPr txBox="1">
            <a:spLocks/>
          </p:cNvSpPr>
          <p:nvPr/>
        </p:nvSpPr>
        <p:spPr>
          <a:xfrm>
            <a:off x="609600" y="213360"/>
            <a:ext cx="7772400" cy="91440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4400" b="1" kern="0" dirty="0">
                <a:solidFill>
                  <a:schemeClr val="tx1"/>
                </a:solidFill>
                <a:latin typeface="Arial"/>
                <a:ea typeface="+mj-ea"/>
                <a:cs typeface="Arial"/>
              </a:rPr>
              <a:t>CIA Principle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3558" y="1261428"/>
            <a:ext cx="8959157" cy="2665790"/>
            <a:chOff x="63558" y="1261428"/>
            <a:chExt cx="8959157" cy="2665790"/>
          </a:xfrm>
        </p:grpSpPr>
        <p:sp>
          <p:nvSpPr>
            <p:cNvPr id="5" name="Rectangle 4"/>
            <p:cNvSpPr/>
            <p:nvPr/>
          </p:nvSpPr>
          <p:spPr bwMode="auto">
            <a:xfrm>
              <a:off x="3505200" y="1261428"/>
              <a:ext cx="2209800" cy="2286000"/>
            </a:xfrm>
            <a:prstGeom prst="rect">
              <a:avLst/>
            </a:prstGeom>
            <a:ln>
              <a:headEnd type="none" w="med" len="med"/>
              <a:tailEnd type="triangle" w="lg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latin typeface="Arial"/>
                  <a:ea typeface="+mn-ea"/>
                  <a:cs typeface="Arial"/>
                </a:rPr>
                <a:t>System</a:t>
              </a: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971800" y="1266190"/>
              <a:ext cx="533400" cy="2286000"/>
            </a:xfrm>
            <a:prstGeom prst="rect">
              <a:avLst/>
            </a:prstGeom>
            <a:ln>
              <a:headEnd/>
              <a:tailEnd type="triangle" w="lg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5715000" y="1266190"/>
              <a:ext cx="533400" cy="2286000"/>
            </a:xfrm>
            <a:prstGeom prst="rect">
              <a:avLst/>
            </a:prstGeom>
            <a:ln>
              <a:headEnd/>
              <a:tailEnd type="triangle" w="lg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10" name="TextBox 11"/>
            <p:cNvSpPr txBox="1">
              <a:spLocks noChangeArrowheads="1"/>
            </p:cNvSpPr>
            <p:nvPr/>
          </p:nvSpPr>
          <p:spPr bwMode="auto">
            <a:xfrm>
              <a:off x="7546788" y="3527108"/>
              <a:ext cx="11464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latin typeface="Arial"/>
                  <a:cs typeface="Arial"/>
                </a:rPr>
                <a:t>Attacker</a:t>
              </a:r>
            </a:p>
          </p:txBody>
        </p:sp>
        <p:sp>
          <p:nvSpPr>
            <p:cNvPr id="11" name="TextBox 13"/>
            <p:cNvSpPr txBox="1">
              <a:spLocks noChangeArrowheads="1"/>
            </p:cNvSpPr>
            <p:nvPr/>
          </p:nvSpPr>
          <p:spPr bwMode="auto">
            <a:xfrm>
              <a:off x="609600" y="3481070"/>
              <a:ext cx="7360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latin typeface="Arial"/>
                  <a:cs typeface="Arial"/>
                </a:rPr>
                <a:t>User</a:t>
              </a:r>
            </a:p>
          </p:txBody>
        </p:sp>
        <p:sp>
          <p:nvSpPr>
            <p:cNvPr id="12" name="Right Arrow 14"/>
            <p:cNvSpPr>
              <a:spLocks noChangeArrowheads="1"/>
            </p:cNvSpPr>
            <p:nvPr/>
          </p:nvSpPr>
          <p:spPr bwMode="auto">
            <a:xfrm>
              <a:off x="2133600" y="1647190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699FF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" name="Right Arrow 15"/>
            <p:cNvSpPr>
              <a:spLocks noChangeArrowheads="1"/>
            </p:cNvSpPr>
            <p:nvPr/>
          </p:nvSpPr>
          <p:spPr bwMode="auto">
            <a:xfrm flipH="1">
              <a:off x="2133600" y="2561590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699FF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" name="Right Arrow 16"/>
            <p:cNvSpPr>
              <a:spLocks noChangeArrowheads="1"/>
            </p:cNvSpPr>
            <p:nvPr/>
          </p:nvSpPr>
          <p:spPr bwMode="auto">
            <a:xfrm>
              <a:off x="6400800" y="1647190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" name="Right Arrow 17"/>
            <p:cNvSpPr>
              <a:spLocks noChangeArrowheads="1"/>
            </p:cNvSpPr>
            <p:nvPr/>
          </p:nvSpPr>
          <p:spPr bwMode="auto">
            <a:xfrm flipH="1">
              <a:off x="6400800" y="2561590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58" y="1462723"/>
              <a:ext cx="1983682" cy="192278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0415" y="1391603"/>
              <a:ext cx="1892300" cy="1892300"/>
            </a:xfrm>
            <a:prstGeom prst="rect">
              <a:avLst/>
            </a:prstGeom>
          </p:spPr>
        </p:pic>
      </p:grpSp>
      <p:sp>
        <p:nvSpPr>
          <p:cNvPr id="21" name="Rectangle 20"/>
          <p:cNvSpPr/>
          <p:nvPr/>
        </p:nvSpPr>
        <p:spPr>
          <a:xfrm>
            <a:off x="2678748" y="6455956"/>
            <a:ext cx="64550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Arial"/>
                <a:cs typeface="Arial"/>
              </a:rPr>
              <a:t>Boneh</a:t>
            </a:r>
            <a:r>
              <a:rPr lang="en-US" sz="1600" dirty="0">
                <a:latin typeface="Arial"/>
                <a:cs typeface="Arial"/>
              </a:rPr>
              <a:t>, D. and Mitchell, J., </a:t>
            </a:r>
            <a:r>
              <a:rPr lang="en-US" sz="1600" i="1" dirty="0">
                <a:latin typeface="Arial"/>
                <a:cs typeface="Arial"/>
              </a:rPr>
              <a:t>“Computer and Network Security”</a:t>
            </a:r>
            <a:r>
              <a:rPr lang="en-US" sz="1600" dirty="0">
                <a:latin typeface="Arial"/>
                <a:cs typeface="Arial"/>
              </a:rPr>
              <a:t>, 2009.</a:t>
            </a:r>
          </a:p>
        </p:txBody>
      </p:sp>
    </p:spTree>
    <p:extLst>
      <p:ext uri="{BB962C8B-B14F-4D97-AF65-F5344CB8AC3E}">
        <p14:creationId xmlns:p14="http://schemas.microsoft.com/office/powerpoint/2010/main" val="2792386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733080" y="4038600"/>
            <a:ext cx="7928034" cy="267225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dirty="0">
                <a:solidFill>
                  <a:srgbClr val="0000FF"/>
                </a:solidFill>
                <a:latin typeface="Arial"/>
                <a:cs typeface="Arial"/>
              </a:rPr>
              <a:t>Example of Social Networking Service</a:t>
            </a:r>
            <a:endParaRPr lang="en-US" sz="2200" b="1" dirty="0">
              <a:solidFill>
                <a:srgbClr val="0000FF"/>
              </a:solidFill>
              <a:latin typeface="Arial"/>
              <a:cs typeface="Arial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latin typeface="Arial"/>
                <a:cs typeface="Arial"/>
              </a:rPr>
              <a:t>Confidentiality: </a:t>
            </a:r>
            <a:r>
              <a:rPr lang="en-US" sz="2200" dirty="0">
                <a:latin typeface="Arial"/>
                <a:cs typeface="Arial"/>
              </a:rPr>
              <a:t>Pictures posted by a user can only be seen by that user’s friends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latin typeface="Arial"/>
                <a:cs typeface="Arial"/>
              </a:rPr>
              <a:t>Integrity:</a:t>
            </a:r>
            <a:r>
              <a:rPr lang="en-US" sz="2200" dirty="0">
                <a:latin typeface="Arial"/>
                <a:cs typeface="Arial"/>
              </a:rPr>
              <a:t> A user can like any given post at most once</a:t>
            </a:r>
          </a:p>
          <a:p>
            <a:pPr marL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latin typeface="Arial"/>
                <a:cs typeface="Arial"/>
              </a:rPr>
              <a:t>Availability:</a:t>
            </a:r>
            <a:r>
              <a:rPr lang="en-US" sz="2200" dirty="0">
                <a:latin typeface="Arial"/>
                <a:cs typeface="Arial"/>
              </a:rPr>
              <a:t> The service is operational more than 99.9% of the time on average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370433" y="1708151"/>
            <a:ext cx="848471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1800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  <a:tabLst>
                <a:tab pos="265113" algn="l"/>
              </a:tabLst>
            </a:pPr>
            <a:r>
              <a:rPr lang="en-US" sz="2600" dirty="0">
                <a:latin typeface="Arial"/>
                <a:cs typeface="Arial"/>
              </a:rPr>
              <a:t>A software system is secure if it </a:t>
            </a:r>
            <a:r>
              <a:rPr lang="en-US" sz="2600" b="1" dirty="0">
                <a:latin typeface="Arial"/>
                <a:cs typeface="Arial"/>
              </a:rPr>
              <a:t>satisfies</a:t>
            </a:r>
            <a:r>
              <a:rPr lang="en-US" sz="2600" dirty="0">
                <a:latin typeface="Arial"/>
                <a:cs typeface="Arial"/>
              </a:rPr>
              <a:t> a specified or implied </a:t>
            </a:r>
            <a:r>
              <a:rPr lang="en-US" sz="2600" b="1" dirty="0">
                <a:latin typeface="Arial"/>
                <a:cs typeface="Arial"/>
              </a:rPr>
              <a:t>security objective</a:t>
            </a:r>
            <a:r>
              <a:rPr lang="en-US" sz="2600" dirty="0">
                <a:latin typeface="Arial"/>
                <a:cs typeface="Arial"/>
              </a:rPr>
              <a:t> </a:t>
            </a:r>
          </a:p>
          <a:p>
            <a:pPr marL="431800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  <a:tabLst>
                <a:tab pos="265113" algn="l"/>
              </a:tabLst>
            </a:pPr>
            <a:r>
              <a:rPr lang="en-US" sz="2600" dirty="0">
                <a:latin typeface="Arial"/>
                <a:cs typeface="Arial"/>
              </a:rPr>
              <a:t>This security objective specifies</a:t>
            </a:r>
            <a:r>
              <a:rPr lang="en-US" sz="2600" b="1" dirty="0">
                <a:latin typeface="Arial"/>
                <a:cs typeface="Arial"/>
              </a:rPr>
              <a:t> confidentiality, integrity and availability</a:t>
            </a:r>
            <a:r>
              <a:rPr lang="en-US" sz="2600" dirty="0">
                <a:latin typeface="Arial"/>
                <a:cs typeface="Arial"/>
              </a:rPr>
              <a:t> requirements for the system’s data and functionality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3354" y="243840"/>
            <a:ext cx="829068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800" b="1" dirty="0">
                <a:latin typeface="Arial"/>
                <a:cs typeface="Arial"/>
              </a:rPr>
              <a:t>What does it mean for software to be secure?</a:t>
            </a:r>
            <a:endParaRPr lang="en-US" sz="3800" b="1" dirty="0"/>
          </a:p>
        </p:txBody>
      </p:sp>
    </p:spTree>
    <p:extLst>
      <p:ext uri="{BB962C8B-B14F-4D97-AF65-F5344CB8AC3E}">
        <p14:creationId xmlns:p14="http://schemas.microsoft.com/office/powerpoint/2010/main" val="316461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5"/>
          <p:cNvSpPr txBox="1">
            <a:spLocks/>
          </p:cNvSpPr>
          <p:nvPr/>
        </p:nvSpPr>
        <p:spPr>
          <a:xfrm>
            <a:off x="405715" y="231001"/>
            <a:ext cx="8484715" cy="914400"/>
          </a:xfrm>
          <a:prstGeom prst="rect">
            <a:avLst/>
          </a:prstGeom>
        </p:spPr>
        <p:txBody>
          <a:bodyPr/>
          <a:lstStyle/>
          <a:p>
            <a:pPr algn="ctr" eaLnBrk="0">
              <a:defRPr/>
            </a:pPr>
            <a:r>
              <a:rPr lang="en-US" sz="3800" b="1" dirty="0">
                <a:solidFill>
                  <a:schemeClr val="tx1"/>
                </a:solidFill>
                <a:latin typeface="Arial"/>
                <a:ea typeface="+mj-ea"/>
                <a:cs typeface="Arial"/>
              </a:rPr>
              <a:t>Security Failure and Vulnerabilities</a:t>
            </a:r>
            <a:endParaRPr lang="en-US" sz="3800" b="1" kern="0" dirty="0">
              <a:solidFill>
                <a:schemeClr val="tx1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5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423355" y="1396134"/>
            <a:ext cx="8361235" cy="506053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/>
                <a:cs typeface="Arial"/>
              </a:rPr>
              <a:t>A </a:t>
            </a:r>
            <a:r>
              <a:rPr lang="en-US" b="1" dirty="0">
                <a:latin typeface="Arial"/>
                <a:cs typeface="Arial"/>
              </a:rPr>
              <a:t>security failure</a:t>
            </a:r>
            <a:r>
              <a:rPr lang="en-US" dirty="0">
                <a:latin typeface="Arial"/>
                <a:cs typeface="Arial"/>
              </a:rPr>
              <a:t> is a scenario where the software system does not achieve its </a:t>
            </a:r>
            <a:r>
              <a:rPr lang="en-US" b="1" dirty="0">
                <a:latin typeface="Arial"/>
                <a:cs typeface="Arial"/>
              </a:rPr>
              <a:t>security objective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/>
                <a:cs typeface="Arial"/>
              </a:rPr>
              <a:t>A </a:t>
            </a:r>
            <a:r>
              <a:rPr lang="en-US" sz="2200" b="1" dirty="0">
                <a:latin typeface="Arial"/>
                <a:cs typeface="Arial"/>
              </a:rPr>
              <a:t>vulnerability</a:t>
            </a:r>
            <a:r>
              <a:rPr lang="en-US" sz="2200" dirty="0">
                <a:latin typeface="Arial"/>
                <a:cs typeface="Arial"/>
              </a:rPr>
              <a:t> is the </a:t>
            </a:r>
            <a:r>
              <a:rPr lang="en-US" sz="2200" b="1" dirty="0">
                <a:latin typeface="Arial"/>
                <a:cs typeface="Arial"/>
              </a:rPr>
              <a:t>underlying cause</a:t>
            </a:r>
            <a:r>
              <a:rPr lang="en-US" sz="2200" dirty="0">
                <a:latin typeface="Arial"/>
                <a:cs typeface="Arial"/>
              </a:rPr>
              <a:t> of such a failure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/>
                <a:cs typeface="Arial"/>
              </a:rPr>
              <a:t>Most software systems do not have </a:t>
            </a:r>
            <a:r>
              <a:rPr lang="en-US" b="1" dirty="0">
                <a:latin typeface="Arial"/>
                <a:cs typeface="Arial"/>
              </a:rPr>
              <a:t>precise explicit security objectives</a:t>
            </a:r>
            <a:r>
              <a:rPr lang="en-US" dirty="0">
                <a:latin typeface="Arial"/>
                <a:cs typeface="Arial"/>
              </a:rPr>
              <a:t>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/>
                <a:cs typeface="Arial"/>
              </a:rPr>
              <a:t>These objectives are not absolute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/>
                <a:cs typeface="Arial"/>
              </a:rPr>
              <a:t>They have to be traded off against other objectives such as </a:t>
            </a:r>
            <a:r>
              <a:rPr lang="en-US" sz="2200" b="1" dirty="0">
                <a:latin typeface="Arial"/>
                <a:cs typeface="Arial"/>
              </a:rPr>
              <a:t>performance</a:t>
            </a:r>
            <a:r>
              <a:rPr lang="en-US" sz="2200" dirty="0">
                <a:latin typeface="Arial"/>
                <a:cs typeface="Arial"/>
              </a:rPr>
              <a:t> or </a:t>
            </a:r>
            <a:r>
              <a:rPr lang="en-US" sz="2200" b="1" dirty="0">
                <a:latin typeface="Arial"/>
                <a:cs typeface="Arial"/>
              </a:rPr>
              <a:t>usability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/>
                <a:cs typeface="Arial"/>
              </a:rPr>
              <a:t>Software </a:t>
            </a:r>
            <a:r>
              <a:rPr lang="en-US" b="1" dirty="0">
                <a:latin typeface="Arial"/>
                <a:cs typeface="Arial"/>
              </a:rPr>
              <a:t>implementation bugs</a:t>
            </a:r>
            <a:r>
              <a:rPr lang="en-US" dirty="0">
                <a:latin typeface="Arial"/>
                <a:cs typeface="Arial"/>
              </a:rPr>
              <a:t> can lead to a substantial </a:t>
            </a:r>
            <a:r>
              <a:rPr lang="en-US" b="1" dirty="0">
                <a:latin typeface="Arial"/>
                <a:cs typeface="Arial"/>
              </a:rPr>
              <a:t>disruption</a:t>
            </a:r>
            <a:r>
              <a:rPr lang="en-US" dirty="0">
                <a:latin typeface="Arial"/>
                <a:cs typeface="Arial"/>
              </a:rPr>
              <a:t> in the </a:t>
            </a:r>
            <a:r>
              <a:rPr lang="en-US" dirty="0" err="1">
                <a:latin typeface="Arial"/>
                <a:cs typeface="Arial"/>
              </a:rPr>
              <a:t>behaviour</a:t>
            </a:r>
            <a:r>
              <a:rPr lang="en-US" dirty="0">
                <a:latin typeface="Arial"/>
                <a:cs typeface="Arial"/>
              </a:rPr>
              <a:t> of the software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Arial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8370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 descr=" 5122"/>
          <p:cNvSpPr txBox="1">
            <a:spLocks noChangeArrowheads="1"/>
          </p:cNvSpPr>
          <p:nvPr/>
        </p:nvSpPr>
        <p:spPr bwMode="auto">
          <a:xfrm>
            <a:off x="228599" y="119064"/>
            <a:ext cx="8767667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GB" sz="3600" dirty="0">
                <a:solidFill>
                  <a:srgbClr val="000000"/>
                </a:solidFill>
                <a:latin typeface="Arial" charset="0"/>
              </a:rPr>
              <a:t>Software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0256" y="2135765"/>
            <a:ext cx="2798614" cy="422121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28952" y="2664888"/>
            <a:ext cx="2234187" cy="517364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Application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8952" y="3421644"/>
            <a:ext cx="2234187" cy="517364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Firmware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8952" y="4185474"/>
            <a:ext cx="2234187" cy="517364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OS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28952" y="4961519"/>
            <a:ext cx="2234187" cy="517364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Services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28952" y="5678316"/>
            <a:ext cx="2234187" cy="510774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-10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4031" y="2065218"/>
            <a:ext cx="1306904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Software</a:t>
            </a:r>
          </a:p>
        </p:txBody>
      </p:sp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287032"/>
              </p:ext>
            </p:extLst>
          </p:nvPr>
        </p:nvGraphicFramePr>
        <p:xfrm>
          <a:off x="3952219" y="2280474"/>
          <a:ext cx="4772872" cy="393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6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Requirements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Definition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services are accessible if requested by authorized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data completeness and accuracy are preserved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marL="0" marR="0" indent="0" algn="l" defTabSz="9143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Confidentiality</a:t>
                      </a:r>
                    </a:p>
                    <a:p>
                      <a:pPr algn="l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only authorized users can get access to the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52766" y="1083360"/>
            <a:ext cx="8553074" cy="861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342900" indent="-342900" defTabSz="914400">
              <a:buFont typeface="Arial"/>
              <a:buChar char="•"/>
            </a:pPr>
            <a:r>
              <a:rPr lang="en-US" sz="2500" dirty="0">
                <a:latin typeface="Arial"/>
                <a:cs typeface="Arial"/>
              </a:rPr>
              <a:t>Software security consists of </a:t>
            </a:r>
            <a:r>
              <a:rPr lang="en-US" sz="2500" b="1" dirty="0">
                <a:latin typeface="Arial"/>
                <a:cs typeface="Arial"/>
              </a:rPr>
              <a:t>building programs</a:t>
            </a:r>
            <a:r>
              <a:rPr lang="en-US" sz="2500" dirty="0">
                <a:latin typeface="Arial"/>
                <a:cs typeface="Arial"/>
              </a:rPr>
              <a:t> that continue to function </a:t>
            </a:r>
            <a:r>
              <a:rPr lang="en-US" sz="2500" b="1" dirty="0">
                <a:latin typeface="Arial"/>
                <a:cs typeface="Arial"/>
              </a:rPr>
              <a:t>correctly</a:t>
            </a:r>
            <a:r>
              <a:rPr lang="en-US" sz="2500" dirty="0">
                <a:latin typeface="Arial"/>
                <a:cs typeface="Arial"/>
              </a:rPr>
              <a:t> under </a:t>
            </a:r>
            <a:r>
              <a:rPr lang="en-US" sz="2500" b="1" dirty="0">
                <a:latin typeface="Arial"/>
                <a:cs typeface="Arial"/>
              </a:rPr>
              <a:t>malicious attack</a:t>
            </a:r>
            <a:endParaRPr kumimoji="0" lang="en-US" sz="25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cs typeface="Arial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26685140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94640" y="172720"/>
            <a:ext cx="8534400" cy="1143000"/>
          </a:xfrm>
          <a:noFill/>
          <a:ln>
            <a:noFill/>
          </a:ln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b="1" dirty="0">
                <a:latin typeface="Arial"/>
                <a:cs typeface="Arial"/>
              </a:rPr>
              <a:t>Why are there security vulnerabilities? </a:t>
            </a:r>
          </a:p>
        </p:txBody>
      </p:sp>
      <p:sp>
        <p:nvSpPr>
          <p:cNvPr id="6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467360" y="1457960"/>
            <a:ext cx="8361680" cy="5044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marL="342865" indent="-34286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6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742873" indent="-28572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marL="1142882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marL="1600034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marL="2057187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2514340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92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45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97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b="1" dirty="0">
                <a:latin typeface="Arial"/>
                <a:cs typeface="Arial"/>
              </a:rPr>
              <a:t>Software </a:t>
            </a:r>
            <a:r>
              <a:rPr lang="en-US" dirty="0">
                <a:latin typeface="Arial"/>
                <a:cs typeface="Arial"/>
              </a:rPr>
              <a:t>is one of the sources of</a:t>
            </a:r>
            <a:r>
              <a:rPr lang="en-US" b="1" dirty="0">
                <a:latin typeface="Arial"/>
                <a:cs typeface="Arial"/>
              </a:rPr>
              <a:t> security problems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rial"/>
                <a:cs typeface="Arial"/>
              </a:rPr>
              <a:t>Why do programmers write insecure code?</a:t>
            </a:r>
          </a:p>
          <a:p>
            <a:pPr lvl="2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1900" dirty="0">
                <a:latin typeface="Arial"/>
                <a:cs typeface="Arial"/>
              </a:rPr>
              <a:t>Awareness is the main issue</a:t>
            </a:r>
          </a:p>
          <a:p>
            <a:pPr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dirty="0">
                <a:latin typeface="Arial"/>
                <a:cs typeface="Arial"/>
              </a:rPr>
              <a:t>Some contributing factors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rial"/>
                <a:cs typeface="Arial"/>
              </a:rPr>
              <a:t>Limited number of </a:t>
            </a:r>
            <a:r>
              <a:rPr lang="en-US" sz="2200" b="1" dirty="0">
                <a:latin typeface="Arial"/>
                <a:cs typeface="Arial"/>
              </a:rPr>
              <a:t>courses</a:t>
            </a:r>
            <a:r>
              <a:rPr lang="en-US" sz="2200" dirty="0">
                <a:latin typeface="Arial"/>
                <a:cs typeface="Arial"/>
              </a:rPr>
              <a:t> in computer security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b="1" dirty="0">
                <a:latin typeface="Arial"/>
                <a:cs typeface="Arial"/>
              </a:rPr>
              <a:t>Programming</a:t>
            </a:r>
            <a:r>
              <a:rPr lang="en-US" sz="2200" dirty="0">
                <a:latin typeface="Arial"/>
                <a:cs typeface="Arial"/>
              </a:rPr>
              <a:t> textbooks do not emphasize </a:t>
            </a:r>
            <a:r>
              <a:rPr lang="en-US" sz="2200" b="1" dirty="0">
                <a:latin typeface="Arial"/>
                <a:cs typeface="Arial"/>
              </a:rPr>
              <a:t>security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rial"/>
                <a:cs typeface="Arial"/>
              </a:rPr>
              <a:t>Limited number of </a:t>
            </a:r>
            <a:r>
              <a:rPr lang="en-US" sz="2200" b="1" dirty="0">
                <a:latin typeface="Arial"/>
                <a:cs typeface="Arial"/>
              </a:rPr>
              <a:t>security audits</a:t>
            </a:r>
            <a:r>
              <a:rPr lang="en-US" sz="2200" dirty="0">
                <a:latin typeface="Arial"/>
                <a:cs typeface="Arial"/>
              </a:rPr>
              <a:t> 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rial"/>
                <a:cs typeface="Arial"/>
              </a:rPr>
              <a:t>Programmers are focused on </a:t>
            </a:r>
            <a:r>
              <a:rPr lang="en-US" sz="2200" b="1" dirty="0">
                <a:latin typeface="Arial"/>
                <a:cs typeface="Arial"/>
              </a:rPr>
              <a:t>implementing features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rial"/>
                <a:cs typeface="Arial"/>
              </a:rPr>
              <a:t>Security is </a:t>
            </a:r>
            <a:r>
              <a:rPr lang="en-US" sz="2200" b="1" dirty="0">
                <a:latin typeface="Arial"/>
                <a:cs typeface="Arial"/>
              </a:rPr>
              <a:t>expensive</a:t>
            </a:r>
            <a:r>
              <a:rPr lang="en-US" sz="2200" dirty="0">
                <a:latin typeface="Arial"/>
                <a:cs typeface="Arial"/>
              </a:rPr>
              <a:t> and takes time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b="1" dirty="0">
                <a:latin typeface="Arial"/>
                <a:cs typeface="Arial"/>
              </a:rPr>
              <a:t>Legacy software </a:t>
            </a:r>
            <a:r>
              <a:rPr lang="en-US" sz="2200" dirty="0">
                <a:latin typeface="Arial"/>
                <a:cs typeface="Arial"/>
              </a:rPr>
              <a:t>(e.g., </a:t>
            </a:r>
            <a:r>
              <a:rPr lang="en-US" sz="2200" kern="0" dirty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C is an unsafe language)</a:t>
            </a:r>
            <a:endParaRPr lang="en-US" sz="2200" dirty="0">
              <a:latin typeface="Arial"/>
              <a:cs typeface="Arial"/>
            </a:endParaRP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9478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 descr=" 5122"/>
          <p:cNvSpPr txBox="1">
            <a:spLocks noChangeArrowheads="1"/>
          </p:cNvSpPr>
          <p:nvPr/>
        </p:nvSpPr>
        <p:spPr bwMode="auto">
          <a:xfrm>
            <a:off x="228599" y="119064"/>
            <a:ext cx="8767667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GB" sz="4000" dirty="0">
                <a:solidFill>
                  <a:srgbClr val="000000"/>
                </a:solidFill>
                <a:latin typeface="Arial" charset="0"/>
              </a:rPr>
              <a:t>Implementation Vulnerability</a:t>
            </a:r>
          </a:p>
        </p:txBody>
      </p:sp>
      <p:sp>
        <p:nvSpPr>
          <p:cNvPr id="1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389573" y="1345454"/>
            <a:ext cx="8361680" cy="546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marL="342865" indent="-34286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6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742873" indent="-28572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marL="1142882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marL="1600034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marL="2057187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2514340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92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45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97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dirty="0">
                <a:latin typeface="Arial"/>
                <a:cs typeface="Arial"/>
              </a:rPr>
              <a:t>We use the term </a:t>
            </a:r>
            <a:r>
              <a:rPr lang="en-US" i="1" dirty="0">
                <a:latin typeface="Arial"/>
                <a:cs typeface="Arial"/>
              </a:rPr>
              <a:t>implementation vulnerability</a:t>
            </a:r>
            <a:r>
              <a:rPr lang="en-US" dirty="0">
                <a:latin typeface="Arial"/>
                <a:cs typeface="Arial"/>
              </a:rPr>
              <a:t> (or </a:t>
            </a:r>
            <a:r>
              <a:rPr lang="en-US" i="1" dirty="0">
                <a:latin typeface="Arial"/>
                <a:cs typeface="Arial"/>
              </a:rPr>
              <a:t>security bug</a:t>
            </a:r>
            <a:r>
              <a:rPr lang="en-US" dirty="0">
                <a:latin typeface="Arial"/>
                <a:cs typeface="Arial"/>
              </a:rPr>
              <a:t>) both for bugs that</a:t>
            </a:r>
            <a:endParaRPr lang="en-US" b="1" dirty="0">
              <a:latin typeface="Arial"/>
              <a:cs typeface="Arial"/>
            </a:endParaRP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rial"/>
                <a:cs typeface="Arial"/>
              </a:rPr>
              <a:t>make it possible for an attacker to violate a </a:t>
            </a:r>
            <a:r>
              <a:rPr lang="en-US" sz="2200" b="1" dirty="0">
                <a:latin typeface="Arial"/>
                <a:cs typeface="Arial"/>
              </a:rPr>
              <a:t>security objective</a:t>
            </a:r>
            <a:endParaRPr lang="en-US" sz="2200" dirty="0">
              <a:latin typeface="Arial"/>
              <a:cs typeface="Arial"/>
            </a:endParaRP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rial"/>
                <a:cs typeface="Arial"/>
              </a:rPr>
              <a:t>for classes of bugs that enable </a:t>
            </a:r>
            <a:r>
              <a:rPr lang="en-US" sz="2200" b="1" dirty="0">
                <a:latin typeface="Arial"/>
                <a:cs typeface="Arial"/>
              </a:rPr>
              <a:t>specific attack</a:t>
            </a:r>
            <a:r>
              <a:rPr lang="en-US" sz="2200" dirty="0">
                <a:latin typeface="Arial"/>
                <a:cs typeface="Arial"/>
              </a:rPr>
              <a:t> techniques</a:t>
            </a:r>
          </a:p>
          <a:p>
            <a:pPr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dirty="0">
                <a:latin typeface="Arial"/>
                <a:cs typeface="Arial"/>
              </a:rPr>
              <a:t>The </a:t>
            </a:r>
            <a:r>
              <a:rPr lang="en-US" b="1" dirty="0">
                <a:latin typeface="Arial"/>
                <a:cs typeface="Arial"/>
              </a:rPr>
              <a:t>Common Vulnerabilities and Exposures</a:t>
            </a:r>
            <a:r>
              <a:rPr lang="en-US" dirty="0">
                <a:latin typeface="Arial"/>
                <a:cs typeface="Arial"/>
              </a:rPr>
              <a:t> (CVE) is a publicly available list of entries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rial"/>
                <a:cs typeface="Arial"/>
              </a:rPr>
              <a:t>describes vulnerabilities in widely-used software components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rial"/>
                <a:cs typeface="Arial"/>
              </a:rPr>
              <a:t>it lists close to a hundred thousand such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221442050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1" y="1270165"/>
            <a:ext cx="8763000" cy="5007148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x-none" sz="2800" dirty="0">
                <a:latin typeface="Arial" charset="0"/>
                <a:cs typeface="Arial" charset="0"/>
              </a:rPr>
              <a:t>Null pointer dereference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x-none" sz="2800" dirty="0">
                <a:latin typeface="Arial" charset="0"/>
                <a:cs typeface="Arial" charset="0"/>
              </a:rPr>
              <a:t>Double free</a:t>
            </a:r>
            <a:endParaRPr lang="en-US" sz="2800" dirty="0">
              <a:latin typeface="Arial" charset="0"/>
              <a:cs typeface="Arial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Arial" charset="0"/>
                <a:cs typeface="Arial" charset="0"/>
              </a:rPr>
              <a:t>Unchecked Return Value to NULL Pointer Dereference</a:t>
            </a:r>
            <a:endParaRPr lang="x-none" sz="2800" dirty="0">
              <a:latin typeface="Arial" charset="0"/>
              <a:cs typeface="Arial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x-none" sz="2800" dirty="0">
                <a:latin typeface="Arial" charset="0"/>
                <a:cs typeface="Arial" charset="0"/>
              </a:rPr>
              <a:t>Division by zero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x-none" sz="2800" dirty="0">
                <a:latin typeface="Arial" charset="0"/>
                <a:cs typeface="Arial" charset="0"/>
              </a:rPr>
              <a:t>Missing free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x-none" sz="2800" dirty="0">
                <a:latin typeface="Arial" charset="0"/>
                <a:cs typeface="Arial" charset="0"/>
              </a:rPr>
              <a:t>Use after free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sz="2800" dirty="0">
                <a:latin typeface="Arial" charset="0"/>
                <a:cs typeface="Arial" charset="0"/>
              </a:rPr>
              <a:t>APIs rule based checking </a:t>
            </a:r>
          </a:p>
        </p:txBody>
      </p:sp>
      <p:sp>
        <p:nvSpPr>
          <p:cNvPr id="2" name="Rectangle 1"/>
          <p:cNvSpPr/>
          <p:nvPr/>
        </p:nvSpPr>
        <p:spPr>
          <a:xfrm>
            <a:off x="7514530" y="52923"/>
            <a:ext cx="158855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28600" y="119064"/>
            <a:ext cx="88392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GB" sz="3600" dirty="0">
                <a:solidFill>
                  <a:srgbClr val="000000"/>
                </a:solidFill>
                <a:latin typeface="Arial" charset="0"/>
                <a:cs typeface="Arial" charset="0"/>
              </a:rPr>
              <a:t>Critical Software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246187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65760" y="162560"/>
            <a:ext cx="8422640" cy="751840"/>
          </a:xfrm>
        </p:spPr>
        <p:txBody>
          <a:bodyPr/>
          <a:lstStyle/>
          <a:p>
            <a:r>
              <a:rPr lang="en-US" b="1" dirty="0">
                <a:latin typeface="Arial"/>
                <a:cs typeface="Arial"/>
              </a:rPr>
              <a:t>Common Vulnerability and Exposure</a:t>
            </a:r>
            <a:endParaRPr lang="en-US" sz="3600" b="1" dirty="0"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08000" y="1221512"/>
            <a:ext cx="8168640" cy="1212200"/>
          </a:xfrm>
          <a:noFill/>
          <a:ln>
            <a:noFill/>
          </a:ln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The number of software vulnerabilities has increased rapidly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latin typeface="Arial"/>
                <a:cs typeface="Arial"/>
              </a:rPr>
              <a:t>More than 16000 vulnerabilities in 2018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GB" dirty="0">
              <a:latin typeface="Arial"/>
              <a:cs typeface="Arial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935C8EA-B228-394D-9408-D6EB9670CA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7444878"/>
              </p:ext>
            </p:extLst>
          </p:nvPr>
        </p:nvGraphicFramePr>
        <p:xfrm>
          <a:off x="718265" y="2748672"/>
          <a:ext cx="7200800" cy="3312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angle 1"/>
          <p:cNvSpPr/>
          <p:nvPr/>
        </p:nvSpPr>
        <p:spPr>
          <a:xfrm>
            <a:off x="2880595" y="6195368"/>
            <a:ext cx="3390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hlinkClick r:id="rId3"/>
              </a:rPr>
              <a:t>https://www.cvedetails.com/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0322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Graphic spid="12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83568" y="1262152"/>
            <a:ext cx="7848872" cy="4680520"/>
          </a:xfrm>
          <a:noFill/>
          <a:ln>
            <a:noFill/>
          </a:ln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dirty="0">
                <a:latin typeface="Arial"/>
                <a:cs typeface="Arial"/>
              </a:rPr>
              <a:t>The most common vulnerabilities in 2018: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GB" dirty="0">
                <a:latin typeface="Arial"/>
                <a:cs typeface="Arial"/>
              </a:rPr>
              <a:t>Code Execution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GB" dirty="0">
                <a:latin typeface="Arial"/>
                <a:cs typeface="Arial"/>
              </a:rPr>
              <a:t>Overflow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GB" dirty="0">
                <a:latin typeface="Arial"/>
                <a:cs typeface="Arial"/>
              </a:rPr>
              <a:t>XXS (Cross-site scripting)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GB" dirty="0">
                <a:latin typeface="Arial"/>
                <a:cs typeface="Arial"/>
              </a:rPr>
              <a:t>Denial of Service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endParaRPr lang="en-GB" dirty="0">
              <a:latin typeface="Arial"/>
              <a:cs typeface="Arial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endParaRPr lang="en-GB" dirty="0">
              <a:latin typeface="Arial"/>
              <a:cs typeface="Arial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1E6F1A4-7396-924B-A0E8-74C8B24C9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643627"/>
              </p:ext>
            </p:extLst>
          </p:nvPr>
        </p:nvGraphicFramePr>
        <p:xfrm>
          <a:off x="1006017" y="3499486"/>
          <a:ext cx="7128792" cy="3159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65760" y="162560"/>
            <a:ext cx="8422640" cy="751840"/>
          </a:xfrm>
        </p:spPr>
        <p:txBody>
          <a:bodyPr/>
          <a:lstStyle/>
          <a:p>
            <a:r>
              <a:rPr lang="en-US" b="1" dirty="0">
                <a:latin typeface="Arial"/>
                <a:cs typeface="Arial"/>
              </a:rPr>
              <a:t>Common Vulnerability and Exposure</a:t>
            </a:r>
          </a:p>
        </p:txBody>
      </p:sp>
    </p:spTree>
    <p:extLst>
      <p:ext uri="{BB962C8B-B14F-4D97-AF65-F5344CB8AC3E}">
        <p14:creationId xmlns:p14="http://schemas.microsoft.com/office/powerpoint/2010/main" val="281573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Graphic spid="7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Why should we ensure software reliability?"/>
          <p:cNvSpPr txBox="1">
            <a:spLocks noGrp="1"/>
          </p:cNvSpPr>
          <p:nvPr>
            <p:ph type="title"/>
          </p:nvPr>
        </p:nvSpPr>
        <p:spPr>
          <a:xfrm>
            <a:off x="401638" y="404178"/>
            <a:ext cx="8340725" cy="109950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Arial" charset="0"/>
                <a:cs typeface="Arial" charset="0"/>
              </a:rPr>
              <a:t>Why do we need to ensure software security?</a:t>
            </a:r>
            <a:br>
              <a:rPr lang="en-US" sz="3600" b="1" dirty="0">
                <a:latin typeface="Arial" charset="0"/>
                <a:cs typeface="Arial" charset="0"/>
              </a:rPr>
            </a:br>
            <a:endParaRPr lang="en-US" sz="3600" b="1" dirty="0">
              <a:latin typeface="Arial" charset="0"/>
              <a:cs typeface="Arial" charset="0"/>
            </a:endParaRPr>
          </a:p>
        </p:txBody>
      </p:sp>
      <p:sp>
        <p:nvSpPr>
          <p:cNvPr id="144" name="Consumer electronic products must be as robust and bug-free as possible, given that even medium product-return rates tend to be unacceptable"/>
          <p:cNvSpPr txBox="1">
            <a:spLocks noGrp="1"/>
          </p:cNvSpPr>
          <p:nvPr>
            <p:ph type="body" sz="half" idx="1"/>
          </p:nvPr>
        </p:nvSpPr>
        <p:spPr>
          <a:xfrm>
            <a:off x="401638" y="1633220"/>
            <a:ext cx="5172075" cy="4687888"/>
          </a:xfrm>
        </p:spPr>
        <p:txBody>
          <a:bodyPr>
            <a:normAutofit/>
          </a:bodyPr>
          <a:lstStyle/>
          <a:p>
            <a:pPr marL="225007" indent="-225007" defTabSz="287511" eaLnBrk="1" fontAlgn="auto" hangingPunct="1">
              <a:spcBef>
                <a:spcPts val="2039"/>
              </a:spcBef>
              <a:spcAft>
                <a:spcPts val="0"/>
              </a:spcAft>
              <a:buFont typeface="Helvetica Neue"/>
              <a:buChar char="•"/>
              <a:defRPr sz="252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0000"/>
                </a:solidFill>
                <a:latin typeface="Arial"/>
                <a:ea typeface="+mn-ea"/>
                <a:cs typeface="Arial"/>
                <a:sym typeface="Helvetica Neue Light"/>
              </a:rPr>
              <a:t>Consumer electronic products must be as </a:t>
            </a:r>
            <a:r>
              <a:rPr sz="2400" b="1" dirty="0">
                <a:solidFill>
                  <a:srgbClr val="000000"/>
                </a:solidFill>
                <a:latin typeface="Arial"/>
                <a:ea typeface="+mn-ea"/>
                <a:cs typeface="Arial"/>
                <a:sym typeface="Helvetica Neue Light"/>
              </a:rPr>
              <a:t>robust</a:t>
            </a:r>
            <a:r>
              <a:rPr sz="2400" dirty="0">
                <a:solidFill>
                  <a:srgbClr val="000000"/>
                </a:solidFill>
                <a:latin typeface="Arial"/>
                <a:ea typeface="+mn-ea"/>
                <a:cs typeface="Arial"/>
                <a:sym typeface="Helvetica Neue Light"/>
              </a:rPr>
              <a:t> and </a:t>
            </a:r>
            <a:r>
              <a:rPr sz="2400" b="1" dirty="0">
                <a:solidFill>
                  <a:srgbClr val="000000"/>
                </a:solidFill>
                <a:latin typeface="Arial"/>
                <a:ea typeface="+mn-ea"/>
                <a:cs typeface="Arial"/>
                <a:sym typeface="Helvetica Neue Light"/>
              </a:rPr>
              <a:t>bug-free </a:t>
            </a:r>
            <a:r>
              <a:rPr sz="2400" dirty="0">
                <a:solidFill>
                  <a:srgbClr val="000000"/>
                </a:solidFill>
                <a:latin typeface="Arial"/>
                <a:ea typeface="+mn-ea"/>
                <a:cs typeface="Arial"/>
                <a:sym typeface="Helvetica Neue Light"/>
              </a:rPr>
              <a:t>as possible, given that even medium product-return rates tend to be unacceptable</a:t>
            </a:r>
          </a:p>
          <a:p>
            <a:pPr marL="225007" indent="-225007" defTabSz="287511" eaLnBrk="1" fontAlgn="auto" hangingPunct="1">
              <a:spcBef>
                <a:spcPts val="2039"/>
              </a:spcBef>
              <a:spcAft>
                <a:spcPts val="0"/>
              </a:spcAft>
              <a:buFont typeface="Helvetica Neue"/>
              <a:buChar char="•"/>
              <a:defRPr sz="2520">
                <a:solidFill>
                  <a:srgbClr val="000000"/>
                </a:solidFill>
              </a:defRPr>
            </a:pPr>
            <a:endParaRPr sz="2520" dirty="0">
              <a:solidFill>
                <a:srgbClr val="000000"/>
              </a:solidFill>
              <a:latin typeface="Arial"/>
              <a:ea typeface="+mn-ea"/>
              <a:cs typeface="Arial"/>
              <a:sym typeface="Helvetica Neue Light"/>
            </a:endParaRPr>
          </a:p>
          <a:p>
            <a:pPr marL="225007" indent="-225007" defTabSz="287511" eaLnBrk="1" fontAlgn="auto" hangingPunct="1">
              <a:spcBef>
                <a:spcPts val="2039"/>
              </a:spcBef>
              <a:spcAft>
                <a:spcPts val="0"/>
              </a:spcAft>
              <a:buFont typeface="Helvetica Neue"/>
              <a:buChar char="•"/>
              <a:defRPr sz="2520">
                <a:solidFill>
                  <a:srgbClr val="000000"/>
                </a:solidFill>
              </a:defRPr>
            </a:pPr>
            <a:endParaRPr sz="2520" dirty="0">
              <a:solidFill>
                <a:srgbClr val="000000"/>
              </a:solidFill>
              <a:latin typeface="Arial"/>
              <a:ea typeface="+mn-ea"/>
              <a:cs typeface="Arial"/>
              <a:sym typeface="Helvetica Neue Light"/>
            </a:endParaRPr>
          </a:p>
          <a:p>
            <a:pPr marL="225007" indent="-225007" defTabSz="287511" eaLnBrk="1" fontAlgn="auto" hangingPunct="1">
              <a:spcBef>
                <a:spcPts val="2039"/>
              </a:spcBef>
              <a:spcAft>
                <a:spcPts val="0"/>
              </a:spcAft>
              <a:buFont typeface="Helvetica Neue"/>
              <a:buChar char="•"/>
              <a:defRPr sz="2520">
                <a:solidFill>
                  <a:srgbClr val="000000"/>
                </a:solidFill>
              </a:defRPr>
            </a:pPr>
            <a:endParaRPr sz="2520" dirty="0">
              <a:solidFill>
                <a:srgbClr val="000000"/>
              </a:solidFill>
              <a:latin typeface="Arial"/>
              <a:ea typeface="+mn-ea"/>
              <a:cs typeface="Arial"/>
              <a:sym typeface="Helvetica Neue Light"/>
            </a:endParaRPr>
          </a:p>
          <a:p>
            <a:pPr marL="225007" indent="-225007" defTabSz="287511" eaLnBrk="1" fontAlgn="auto" hangingPunct="1">
              <a:spcBef>
                <a:spcPts val="2039"/>
              </a:spcBef>
              <a:spcAft>
                <a:spcPts val="0"/>
              </a:spcAft>
              <a:buFont typeface="Helvetica Neue"/>
              <a:buChar char="•"/>
              <a:defRPr sz="2520">
                <a:solidFill>
                  <a:srgbClr val="000000"/>
                </a:solidFill>
              </a:defRPr>
            </a:pPr>
            <a:endParaRPr sz="2520" dirty="0">
              <a:solidFill>
                <a:srgbClr val="000000"/>
              </a:solidFill>
              <a:latin typeface="Arial"/>
              <a:ea typeface="+mn-ea"/>
              <a:cs typeface="Arial"/>
              <a:sym typeface="Helvetica Neue Light"/>
            </a:endParaRPr>
          </a:p>
          <a:p>
            <a:pPr marL="225007" indent="-225007" defTabSz="287511" eaLnBrk="1" fontAlgn="auto" hangingPunct="1">
              <a:spcBef>
                <a:spcPts val="2039"/>
              </a:spcBef>
              <a:spcAft>
                <a:spcPts val="0"/>
              </a:spcAft>
              <a:buFont typeface="Helvetica Neue"/>
              <a:buChar char="•"/>
              <a:defRPr sz="2520">
                <a:solidFill>
                  <a:srgbClr val="000000"/>
                </a:solidFill>
              </a:defRPr>
            </a:pPr>
            <a:endParaRPr sz="2520" dirty="0">
              <a:solidFill>
                <a:srgbClr val="000000"/>
              </a:solidFill>
              <a:latin typeface="Arial"/>
              <a:ea typeface="+mn-ea"/>
              <a:cs typeface="Arial"/>
              <a:sym typeface="Helvetica Neue Light"/>
            </a:endParaRPr>
          </a:p>
          <a:p>
            <a:pPr marL="225007" indent="-225007" defTabSz="287511" eaLnBrk="1" fontAlgn="auto" hangingPunct="1">
              <a:spcBef>
                <a:spcPts val="2039"/>
              </a:spcBef>
              <a:spcAft>
                <a:spcPts val="0"/>
              </a:spcAft>
              <a:buFont typeface="Helvetica Neue"/>
              <a:buChar char="•"/>
              <a:defRPr sz="2520">
                <a:solidFill>
                  <a:srgbClr val="FFFFFF"/>
                </a:solidFill>
              </a:defRPr>
            </a:pPr>
            <a:endParaRPr sz="2520" dirty="0">
              <a:solidFill>
                <a:srgbClr val="FFFFFF"/>
              </a:solidFill>
              <a:latin typeface="Arial"/>
              <a:ea typeface="+mn-ea"/>
              <a:cs typeface="Arial"/>
              <a:sym typeface="Helvetica Neue Light"/>
            </a:endParaRPr>
          </a:p>
        </p:txBody>
      </p:sp>
      <p:sp>
        <p:nvSpPr>
          <p:cNvPr id="145" name="Not only safety-critical systems"/>
          <p:cNvSpPr/>
          <p:nvPr/>
        </p:nvSpPr>
        <p:spPr>
          <a:xfrm>
            <a:off x="6096000" y="1671320"/>
            <a:ext cx="2182813" cy="21828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27" y="0"/>
                </a:moveTo>
                <a:lnTo>
                  <a:pt x="0" y="6325"/>
                </a:lnTo>
                <a:lnTo>
                  <a:pt x="0" y="15270"/>
                </a:lnTo>
                <a:lnTo>
                  <a:pt x="6327" y="21600"/>
                </a:lnTo>
                <a:lnTo>
                  <a:pt x="15273" y="21600"/>
                </a:lnTo>
                <a:lnTo>
                  <a:pt x="21600" y="15275"/>
                </a:lnTo>
                <a:lnTo>
                  <a:pt x="21600" y="6325"/>
                </a:lnTo>
                <a:lnTo>
                  <a:pt x="15280" y="0"/>
                </a:lnTo>
                <a:lnTo>
                  <a:pt x="6327" y="0"/>
                </a:lnTo>
                <a:close/>
                <a:moveTo>
                  <a:pt x="6645" y="767"/>
                </a:moveTo>
                <a:lnTo>
                  <a:pt x="14956" y="767"/>
                </a:lnTo>
                <a:lnTo>
                  <a:pt x="20832" y="6642"/>
                </a:lnTo>
                <a:lnTo>
                  <a:pt x="20832" y="14958"/>
                </a:lnTo>
                <a:lnTo>
                  <a:pt x="20838" y="14958"/>
                </a:lnTo>
                <a:lnTo>
                  <a:pt x="14961" y="20833"/>
                </a:lnTo>
                <a:lnTo>
                  <a:pt x="6645" y="20833"/>
                </a:lnTo>
                <a:lnTo>
                  <a:pt x="768" y="14958"/>
                </a:lnTo>
                <a:lnTo>
                  <a:pt x="768" y="6642"/>
                </a:lnTo>
                <a:lnTo>
                  <a:pt x="6645" y="767"/>
                </a:lnTo>
                <a:close/>
                <a:moveTo>
                  <a:pt x="6920" y="1425"/>
                </a:moveTo>
                <a:lnTo>
                  <a:pt x="1425" y="6916"/>
                </a:lnTo>
                <a:lnTo>
                  <a:pt x="1425" y="14684"/>
                </a:lnTo>
                <a:lnTo>
                  <a:pt x="6920" y="20175"/>
                </a:lnTo>
                <a:lnTo>
                  <a:pt x="14687" y="20175"/>
                </a:lnTo>
                <a:lnTo>
                  <a:pt x="20180" y="14684"/>
                </a:lnTo>
                <a:lnTo>
                  <a:pt x="20180" y="6916"/>
                </a:lnTo>
                <a:lnTo>
                  <a:pt x="14687" y="1425"/>
                </a:lnTo>
                <a:lnTo>
                  <a:pt x="6920" y="1425"/>
                </a:lnTo>
                <a:close/>
              </a:path>
            </a:pathLst>
          </a:custGeom>
          <a:solidFill>
            <a:srgbClr val="C51D0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ctr" defTabSz="410730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2500" i="0" kern="0">
                <a:latin typeface="Helvetica Neue Light"/>
                <a:ea typeface="Helvetica Neue Light"/>
                <a:cs typeface="Helvetica Neue Light"/>
                <a:sym typeface="Helvetica Neue Light"/>
              </a:rPr>
              <a:t>Not only safety-critical systems</a:t>
            </a:r>
          </a:p>
        </p:txBody>
      </p:sp>
      <p:sp>
        <p:nvSpPr>
          <p:cNvPr id="146" name="“Engineers reported the static analyser Infer was key to build a concurrent version of Facebook app to the Android platform.”…"/>
          <p:cNvSpPr txBox="1"/>
          <p:nvPr/>
        </p:nvSpPr>
        <p:spPr>
          <a:xfrm>
            <a:off x="844550" y="4362450"/>
            <a:ext cx="5257800" cy="2098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/>
          <a:p>
            <a:pPr defTabSz="410730" eaLnBrk="1" fontAlgn="auto">
              <a:spcBef>
                <a:spcPts val="2953"/>
              </a:spcBef>
              <a:spcAft>
                <a:spcPts val="0"/>
              </a:spcAft>
              <a:defRPr sz="3200"/>
            </a:pPr>
            <a:r>
              <a:rPr sz="2400" i="0" kern="0" dirty="0">
                <a:solidFill>
                  <a:srgbClr val="000000"/>
                </a:solidFill>
                <a:latin typeface="Arial"/>
                <a:ea typeface="Helvetica Neue Light"/>
                <a:cs typeface="Arial"/>
                <a:sym typeface="Helvetica Neue Light"/>
              </a:rPr>
              <a:t>“</a:t>
            </a:r>
            <a:r>
              <a:rPr sz="2400" kern="0" dirty="0">
                <a:solidFill>
                  <a:srgbClr val="000000"/>
                </a:solidFill>
                <a:latin typeface="Arial"/>
                <a:ea typeface="Helvetica Neue"/>
                <a:cs typeface="Arial"/>
                <a:sym typeface="Helvetica Neue"/>
              </a:rPr>
              <a:t>Engineers reported the static analyser </a:t>
            </a:r>
            <a:r>
              <a:rPr sz="2400" b="1" kern="0" dirty="0">
                <a:solidFill>
                  <a:srgbClr val="000000"/>
                </a:solidFill>
                <a:latin typeface="Arial"/>
                <a:ea typeface="Helvetica Neue"/>
                <a:cs typeface="Arial"/>
                <a:sym typeface="Helvetica Neue"/>
              </a:rPr>
              <a:t>Infer</a:t>
            </a:r>
            <a:r>
              <a:rPr sz="2400" kern="0" dirty="0">
                <a:solidFill>
                  <a:srgbClr val="000000"/>
                </a:solidFill>
                <a:latin typeface="Arial"/>
                <a:ea typeface="Helvetica Neue"/>
                <a:cs typeface="Arial"/>
                <a:sym typeface="Helvetica Neue"/>
              </a:rPr>
              <a:t> was key to build a concurrent version of Facebook app to the Android platform.</a:t>
            </a:r>
            <a:r>
              <a:rPr sz="2400" i="0" kern="0" dirty="0">
                <a:solidFill>
                  <a:srgbClr val="000000"/>
                </a:solidFill>
                <a:latin typeface="Arial"/>
                <a:ea typeface="Helvetica Neue Light"/>
                <a:cs typeface="Arial"/>
                <a:sym typeface="Helvetica Neue Light"/>
              </a:rPr>
              <a:t>”</a:t>
            </a:r>
          </a:p>
          <a:p>
            <a:pPr algn="r" defTabSz="410730" eaLnBrk="1" fontAlgn="auto">
              <a:spcBef>
                <a:spcPts val="1406"/>
              </a:spcBef>
              <a:spcAft>
                <a:spcPts val="0"/>
              </a:spcAft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400" b="1" i="0" kern="0" dirty="0">
                <a:solidFill>
                  <a:srgbClr val="000000"/>
                </a:solidFill>
                <a:latin typeface="Arial"/>
                <a:ea typeface="Helvetica Neue"/>
                <a:cs typeface="Arial"/>
                <a:sym typeface="Helvetica Neue"/>
              </a:rPr>
              <a:t>- Peter O’Hearn, FLoC, 2018</a:t>
            </a:r>
          </a:p>
        </p:txBody>
      </p:sp>
      <p:pic>
        <p:nvPicPr>
          <p:cNvPr id="110597" name="Image" descr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5" y="6003925"/>
            <a:ext cx="377825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04800" y="1295400"/>
            <a:ext cx="8534400" cy="228600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50800" tIns="50800" rIns="50800" bIns="50800" spcCol="38100" anchor="ctr">
            <a:spAutoFit/>
          </a:bodyPr>
          <a:lstStyle/>
          <a:p>
            <a:pPr algn="ctr" defTabSz="584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600" i="0">
              <a:solidFill>
                <a:srgbClr val="FFFFFF"/>
              </a:solidFill>
              <a:latin typeface="+mn-lt"/>
              <a:ea typeface="+mn-ea"/>
              <a:cs typeface="+mn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46290762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Industry NEEDS Formal Verification"/>
          <p:cNvSpPr txBox="1">
            <a:spLocks noGrp="1"/>
          </p:cNvSpPr>
          <p:nvPr>
            <p:ph type="title"/>
          </p:nvPr>
        </p:nvSpPr>
        <p:spPr>
          <a:xfrm>
            <a:off x="401638" y="287338"/>
            <a:ext cx="8340725" cy="98266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Arial" charset="0"/>
                <a:cs typeface="Arial" charset="0"/>
              </a:rPr>
              <a:t>Industry NEEDS Formal Verification</a:t>
            </a:r>
          </a:p>
        </p:txBody>
      </p:sp>
      <p:sp>
        <p:nvSpPr>
          <p:cNvPr id="165" name="“There has been a tremendous amount of valuable research in formal methods, but rarely have formal reasoning techniques been deployed as part of the development process of large industrial codebases.”…"/>
          <p:cNvSpPr txBox="1"/>
          <p:nvPr/>
        </p:nvSpPr>
        <p:spPr>
          <a:xfrm>
            <a:off x="388938" y="1536700"/>
            <a:ext cx="5256212" cy="259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/>
          <a:p>
            <a:pPr defTabSz="410730" eaLnBrk="1" fontAlgn="auto">
              <a:spcBef>
                <a:spcPts val="2953"/>
              </a:spcBef>
              <a:spcAft>
                <a:spcPts val="0"/>
              </a:spcAft>
              <a:defRPr sz="3200"/>
            </a:pPr>
            <a:r>
              <a:rPr sz="2200" i="0" kern="0" dirty="0">
                <a:solidFill>
                  <a:srgbClr val="000000"/>
                </a:solidFill>
                <a:latin typeface="Arial"/>
                <a:ea typeface="Helvetica Neue Light"/>
                <a:cs typeface="Arial"/>
                <a:sym typeface="Helvetica Neue Light"/>
              </a:rPr>
              <a:t>“</a:t>
            </a:r>
            <a:r>
              <a:rPr sz="2200" kern="0" dirty="0">
                <a:solidFill>
                  <a:srgbClr val="000000"/>
                </a:solidFill>
                <a:latin typeface="Arial"/>
                <a:ea typeface="Helvetica Neue"/>
                <a:cs typeface="Arial"/>
                <a:sym typeface="Helvetica Neue"/>
              </a:rPr>
              <a:t>There has been a tremendous amount of valuable research in formal methods, but rarely have formal reasoning techniques been deployed as part of the development process of large industrial codebases.</a:t>
            </a:r>
            <a:r>
              <a:rPr sz="2200" i="0" kern="0" dirty="0">
                <a:solidFill>
                  <a:srgbClr val="000000"/>
                </a:solidFill>
                <a:latin typeface="Arial"/>
                <a:ea typeface="Helvetica Neue Light"/>
                <a:cs typeface="Arial"/>
                <a:sym typeface="Helvetica Neue Light"/>
              </a:rPr>
              <a:t>”</a:t>
            </a:r>
          </a:p>
          <a:p>
            <a:pPr algn="r" defTabSz="410730" eaLnBrk="1" fontAlgn="auto">
              <a:spcBef>
                <a:spcPts val="1406"/>
              </a:spcBef>
              <a:spcAft>
                <a:spcPts val="0"/>
              </a:spcAft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700" b="1" i="0" kern="0" dirty="0">
                <a:solidFill>
                  <a:srgbClr val="000000"/>
                </a:solidFill>
                <a:latin typeface="Arial"/>
                <a:ea typeface="Helvetica Neue"/>
                <a:cs typeface="Arial"/>
                <a:sym typeface="Helvetica Neue"/>
              </a:rPr>
              <a:t>- Peter O’Hearn, FLoC, 2018.</a:t>
            </a:r>
          </a:p>
        </p:txBody>
      </p:sp>
      <p:pic>
        <p:nvPicPr>
          <p:cNvPr id="113667" name="Image" descr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675" y="2192338"/>
            <a:ext cx="3387725" cy="67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67" name="“Formal automated reasoning is one of the investments that AWS is making in order to facilitate continued simultaneous growth in both functionality and security.”…"/>
          <p:cNvSpPr txBox="1"/>
          <p:nvPr/>
        </p:nvSpPr>
        <p:spPr>
          <a:xfrm>
            <a:off x="3636963" y="4619625"/>
            <a:ext cx="5256212" cy="1868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/>
          <a:p>
            <a:pPr defTabSz="410730" eaLnBrk="1" fontAlgn="auto">
              <a:spcBef>
                <a:spcPts val="2953"/>
              </a:spcBef>
              <a:spcAft>
                <a:spcPts val="0"/>
              </a:spcAft>
              <a:defRPr sz="3200"/>
            </a:pPr>
            <a:r>
              <a:rPr sz="2200" i="0" kern="0">
                <a:solidFill>
                  <a:srgbClr val="000000"/>
                </a:solidFill>
                <a:latin typeface="Arial"/>
                <a:ea typeface="Helvetica Neue Light"/>
                <a:cs typeface="Arial"/>
                <a:sym typeface="Helvetica Neue Light"/>
              </a:rPr>
              <a:t>“</a:t>
            </a:r>
            <a:r>
              <a:rPr sz="2200" kern="0">
                <a:solidFill>
                  <a:srgbClr val="000000"/>
                </a:solidFill>
                <a:latin typeface="Arial"/>
                <a:ea typeface="Helvetica Neue"/>
                <a:cs typeface="Arial"/>
                <a:sym typeface="Helvetica Neue"/>
              </a:rPr>
              <a:t>Formal automated reasoning is one of the investments that AWS is making in order to facilitate continued simultaneous growth in both functionality and security.</a:t>
            </a:r>
            <a:r>
              <a:rPr sz="2200" i="0" kern="0">
                <a:solidFill>
                  <a:srgbClr val="000000"/>
                </a:solidFill>
                <a:latin typeface="Arial"/>
                <a:ea typeface="Helvetica Neue Light"/>
                <a:cs typeface="Arial"/>
                <a:sym typeface="Helvetica Neue Light"/>
              </a:rPr>
              <a:t>”</a:t>
            </a:r>
          </a:p>
          <a:p>
            <a:pPr algn="r" defTabSz="410730" eaLnBrk="1" fontAlgn="auto">
              <a:spcBef>
                <a:spcPts val="1406"/>
              </a:spcBef>
              <a:spcAft>
                <a:spcPts val="0"/>
              </a:spcAft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700" b="1" i="0" kern="0">
                <a:solidFill>
                  <a:srgbClr val="000000"/>
                </a:solidFill>
                <a:latin typeface="Arial"/>
                <a:ea typeface="Helvetica Neue"/>
                <a:cs typeface="Arial"/>
                <a:sym typeface="Helvetica Neue"/>
              </a:rPr>
              <a:t>- Byron Cook, FLoC, 2018.</a:t>
            </a:r>
          </a:p>
        </p:txBody>
      </p:sp>
      <p:pic>
        <p:nvPicPr>
          <p:cNvPr id="113669" name="Image" descr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4775200"/>
            <a:ext cx="2754312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04800" y="1295400"/>
            <a:ext cx="8534400" cy="228600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50800" tIns="50800" rIns="50800" bIns="50800" spcCol="38100" anchor="ctr">
            <a:spAutoFit/>
          </a:bodyPr>
          <a:lstStyle/>
          <a:p>
            <a:pPr algn="ctr" defTabSz="584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600" i="0">
              <a:solidFill>
                <a:srgbClr val="FFFFFF"/>
              </a:solidFill>
              <a:latin typeface="+mn-lt"/>
              <a:ea typeface="+mn-ea"/>
              <a:cs typeface="+mn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01275044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Shape 2"/>
          <p:cNvSpPr txBox="1"/>
          <p:nvPr/>
        </p:nvSpPr>
        <p:spPr>
          <a:xfrm>
            <a:off x="179389" y="-26988"/>
            <a:ext cx="8882062" cy="9413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hangingPunct="1">
              <a:defRPr/>
            </a:pPr>
            <a:r>
              <a:rPr lang="en-US" sz="3600" b="1" kern="1200" spc="-1" dirty="0">
                <a:uFill>
                  <a:solidFill>
                    <a:srgbClr val="FFFFFF"/>
                  </a:solidFill>
                </a:uFill>
                <a:latin typeface="Arial"/>
                <a:ea typeface="DejaVu Sans"/>
                <a:cs typeface="DejaVu Sans"/>
              </a:rPr>
              <a:t>Software BMC Applied to Security</a:t>
            </a:r>
          </a:p>
        </p:txBody>
      </p:sp>
      <p:sp>
        <p:nvSpPr>
          <p:cNvPr id="105474" name="TextBox 5"/>
          <p:cNvSpPr txBox="1">
            <a:spLocks noChangeArrowheads="1"/>
          </p:cNvSpPr>
          <p:nvPr/>
        </p:nvSpPr>
        <p:spPr bwMode="auto">
          <a:xfrm>
            <a:off x="144112" y="1457327"/>
            <a:ext cx="3269698" cy="13487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int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getPassword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() {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 </a:t>
            </a:r>
            <a:r>
              <a:rPr lang="en-US" sz="1600" b="1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char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buf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[4];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 gets(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buf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 </a:t>
            </a:r>
            <a:r>
              <a:rPr lang="en-US" sz="1600" b="1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return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 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strcmp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(</a:t>
            </a:r>
            <a:r>
              <a:rPr lang="en-US" sz="1600" kern="1200" dirty="0" err="1">
                <a:solidFill>
                  <a:prstClr val="black"/>
                </a:solidFill>
                <a:latin typeface="Verdana" charset="0"/>
                <a:cs typeface="Verdana" charset="0"/>
              </a:rPr>
              <a:t>buf</a:t>
            </a: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, ”SMT”);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Verdana" charset="0"/>
                <a:cs typeface="Verdana" charset="0"/>
              </a:rPr>
              <a:t>}</a:t>
            </a:r>
          </a:p>
        </p:txBody>
      </p:sp>
      <p:sp>
        <p:nvSpPr>
          <p:cNvPr id="105475" name="Rectangle 6"/>
          <p:cNvSpPr>
            <a:spLocks noChangeArrowheads="1"/>
          </p:cNvSpPr>
          <p:nvPr/>
        </p:nvSpPr>
        <p:spPr bwMode="auto">
          <a:xfrm>
            <a:off x="6608763" y="1125539"/>
            <a:ext cx="2520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>
            <a:spAutoFit/>
          </a:bodyPr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800" kern="1200">
                <a:solidFill>
                  <a:srgbClr val="FF3300"/>
                </a:solidFill>
                <a:latin typeface="Calibri" charset="0"/>
                <a:ea typeface="ＭＳ Ｐゴシック" charset="0"/>
                <a:cs typeface="ＭＳ Ｐゴシック" charset="0"/>
              </a:rPr>
              <a:t>buffer overflow attack</a:t>
            </a:r>
          </a:p>
        </p:txBody>
      </p:sp>
      <p:sp>
        <p:nvSpPr>
          <p:cNvPr id="105476" name="Rectangle 7"/>
          <p:cNvSpPr>
            <a:spLocks noChangeArrowheads="1"/>
          </p:cNvSpPr>
          <p:nvPr/>
        </p:nvSpPr>
        <p:spPr bwMode="auto">
          <a:xfrm>
            <a:off x="250825" y="3573463"/>
            <a:ext cx="7200900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>
            <a:spAutoFit/>
          </a:bodyPr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sp0,sp1,sp2:BITVECTOR(8);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 err="1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ip:BITVECTOR</a:t>
            </a: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(8);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m0,m1,m2,m3,m4,m5 : ARRAY BITVECTOR(8) OF BITVECTOR(8);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in : ARRAY INT OF BITVECTOR(8);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ASSERT sp1 = BVSUB(8,sp0,0bin100);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ASSERT m1 = m0 WITH [sp1] := in[1];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ASSERT m2 = m1 WITH [BVPLUS(8,sp1,0bin1)] := in[2];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ASSERT m3 = m2 WITH [BVPLUS(8,sp1,0bin10)] := in[3];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ASSERT m4 = m3 WITH [BVPLUS(8,sp1,0bin11)] := in[4];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ASSERT m5 = m4 WITH [BVPLUS(8,sp1,0bin100)] := in[5];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ASSERT sp2 = BVPLUS(8,sp1,0bin100);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ASSERT </a:t>
            </a:r>
            <a:r>
              <a:rPr lang="en-US" sz="1400" kern="1200" dirty="0" err="1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ip</a:t>
            </a: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 = m5[sp2];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ASSERT NOT </a:t>
            </a:r>
            <a:r>
              <a:rPr lang="en-US" sz="1400" kern="1200" dirty="0" err="1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ip</a:t>
            </a: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 = m0[sp0];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 dirty="0">
                <a:solidFill>
                  <a:prstClr val="black"/>
                </a:solidFill>
                <a:latin typeface="Verdana" charset="0"/>
                <a:ea typeface="ＭＳ Ｐゴシック" charset="0"/>
                <a:cs typeface="Verdana" charset="0"/>
              </a:rPr>
              <a:t>CHECKSAT;</a:t>
            </a:r>
          </a:p>
        </p:txBody>
      </p:sp>
      <p:sp>
        <p:nvSpPr>
          <p:cNvPr id="105477" name="TextBox 8"/>
          <p:cNvSpPr txBox="1">
            <a:spLocks noChangeArrowheads="1"/>
          </p:cNvSpPr>
          <p:nvPr/>
        </p:nvSpPr>
        <p:spPr bwMode="auto">
          <a:xfrm>
            <a:off x="3430351" y="1052513"/>
            <a:ext cx="3248841" cy="21026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kern="1200">
                <a:solidFill>
                  <a:prstClr val="black"/>
                </a:solidFill>
                <a:latin typeface="Verdana" charset="0"/>
                <a:cs typeface="Verdana" charset="0"/>
              </a:rPr>
              <a:t>void</a:t>
            </a:r>
            <a:r>
              <a:rPr lang="en-US" sz="1600" kern="1200">
                <a:solidFill>
                  <a:prstClr val="black"/>
                </a:solidFill>
                <a:latin typeface="Verdana" charset="0"/>
                <a:cs typeface="Verdana" charset="0"/>
              </a:rPr>
              <a:t> main(){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>
                <a:solidFill>
                  <a:prstClr val="black"/>
                </a:solidFill>
                <a:latin typeface="Verdana" charset="0"/>
                <a:cs typeface="Verdana" charset="0"/>
              </a:rPr>
              <a:t> </a:t>
            </a:r>
            <a:r>
              <a:rPr lang="en-US" sz="1600" b="1" kern="1200">
                <a:solidFill>
                  <a:prstClr val="black"/>
                </a:solidFill>
                <a:latin typeface="Verdana" charset="0"/>
                <a:cs typeface="Verdana" charset="0"/>
              </a:rPr>
              <a:t> int </a:t>
            </a:r>
            <a:r>
              <a:rPr lang="en-US" sz="1600" kern="1200">
                <a:solidFill>
                  <a:prstClr val="black"/>
                </a:solidFill>
                <a:latin typeface="Verdana" charset="0"/>
                <a:cs typeface="Verdana" charset="0"/>
              </a:rPr>
              <a:t>x=getPassword();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>
                <a:solidFill>
                  <a:prstClr val="black"/>
                </a:solidFill>
                <a:latin typeface="Verdana" charset="0"/>
                <a:cs typeface="Verdana" charset="0"/>
              </a:rPr>
              <a:t>  if(x){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>
                <a:solidFill>
                  <a:prstClr val="black"/>
                </a:solidFill>
                <a:latin typeface="Verdana" charset="0"/>
                <a:cs typeface="Verdana" charset="0"/>
              </a:rPr>
              <a:t>    printf(“Access Denied\n”);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>
                <a:solidFill>
                  <a:prstClr val="black"/>
                </a:solidFill>
                <a:latin typeface="Verdana" charset="0"/>
                <a:cs typeface="Verdana" charset="0"/>
              </a:rPr>
              <a:t>    exit(0);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>
                <a:solidFill>
                  <a:prstClr val="black"/>
                </a:solidFill>
                <a:latin typeface="Verdana" charset="0"/>
                <a:cs typeface="Verdana" charset="0"/>
              </a:rPr>
              <a:t>  }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>
                <a:solidFill>
                  <a:prstClr val="black"/>
                </a:solidFill>
                <a:latin typeface="Verdana" charset="0"/>
                <a:cs typeface="Verdana" charset="0"/>
              </a:rPr>
              <a:t>  printf(“Access Granted\n”); 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>
                <a:solidFill>
                  <a:prstClr val="black"/>
                </a:solidFill>
                <a:latin typeface="Verdana" charset="0"/>
                <a:cs typeface="Verdana" charset="0"/>
              </a:rPr>
              <a:t>} </a:t>
            </a:r>
          </a:p>
        </p:txBody>
      </p:sp>
      <p:sp>
        <p:nvSpPr>
          <p:cNvPr id="105478" name="Rectangle 11"/>
          <p:cNvSpPr>
            <a:spLocks noChangeArrowheads="1"/>
          </p:cNvSpPr>
          <p:nvPr/>
        </p:nvSpPr>
        <p:spPr bwMode="auto">
          <a:xfrm>
            <a:off x="2268539" y="3059113"/>
            <a:ext cx="2097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800" kern="1200">
                <a:solidFill>
                  <a:srgbClr val="000099"/>
                </a:solidFill>
                <a:latin typeface="Calibri" charset="0"/>
                <a:ea typeface="ＭＳ Ｐゴシック" charset="0"/>
                <a:cs typeface="ＭＳ Ｐゴシック" charset="0"/>
              </a:rPr>
              <a:t>SSA &amp; loop unrolling</a:t>
            </a:r>
          </a:p>
        </p:txBody>
      </p:sp>
      <p:sp>
        <p:nvSpPr>
          <p:cNvPr id="13" name="Left Brace 12"/>
          <p:cNvSpPr/>
          <p:nvPr/>
        </p:nvSpPr>
        <p:spPr>
          <a:xfrm rot="16200000">
            <a:off x="3067050" y="1219202"/>
            <a:ext cx="446087" cy="4348162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30" tIns="45715" rIns="91430" bIns="45715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prstClr val="black"/>
              </a:solidFill>
              <a:latin typeface="Arial"/>
              <a:ea typeface="DejaVu Sans"/>
              <a:cs typeface="DejaVu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82491" y="4411070"/>
            <a:ext cx="2370696" cy="369322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</a:rPr>
              <a:t>4-character array </a:t>
            </a:r>
            <a:r>
              <a:rPr lang="en-US" sz="1800" i="1" dirty="0" err="1">
                <a:solidFill>
                  <a:srgbClr val="0000FF"/>
                </a:solidFill>
              </a:rPr>
              <a:t>buf</a:t>
            </a:r>
            <a:endParaRPr lang="en-US" sz="1800" i="1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11840" y="5692883"/>
            <a:ext cx="4572000" cy="369322"/>
          </a:xfrm>
          <a:prstGeom prst="rect">
            <a:avLst/>
          </a:prstGeom>
        </p:spPr>
        <p:txBody>
          <a:bodyPr lIns="91430" tIns="45715" rIns="91430" bIns="45715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</a:rPr>
              <a:t>reclaim the memory occupied by </a:t>
            </a:r>
            <a:r>
              <a:rPr lang="en-US" sz="1800" i="1" dirty="0" err="1">
                <a:solidFill>
                  <a:srgbClr val="0000FF"/>
                </a:solidFill>
              </a:rPr>
              <a:t>buf</a:t>
            </a:r>
            <a:endParaRPr lang="en-US" sz="1800" i="1" dirty="0">
              <a:solidFill>
                <a:srgbClr val="0000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3761" y="5917649"/>
            <a:ext cx="4907652" cy="3693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r>
              <a:rPr lang="en-US" sz="1800" dirty="0" err="1">
                <a:solidFill>
                  <a:srgbClr val="0000FF"/>
                </a:solidFill>
              </a:rPr>
              <a:t>ip</a:t>
            </a:r>
            <a:r>
              <a:rPr lang="en-US" sz="1800" dirty="0">
                <a:solidFill>
                  <a:srgbClr val="0000FF"/>
                </a:solidFill>
              </a:rPr>
              <a:t> is loaded with the location pointed to by </a:t>
            </a:r>
            <a:r>
              <a:rPr lang="en-US" sz="1800" dirty="0" err="1">
                <a:solidFill>
                  <a:srgbClr val="0000FF"/>
                </a:solidFill>
              </a:rPr>
              <a:t>sp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6502402" y="3757309"/>
            <a:ext cx="2627312" cy="1754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>
            <a:spAutoFit/>
          </a:bodyPr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800" kern="1200" dirty="0">
                <a:solidFill>
                  <a:srgbClr val="000099"/>
                </a:solidFill>
                <a:latin typeface="Arial" charset="0"/>
                <a:ea typeface="ＭＳ Ｐゴシック" charset="0"/>
                <a:cs typeface="Arial" charset="0"/>
              </a:rPr>
              <a:t>We wish to determine whether it is possible to set </a:t>
            </a:r>
            <a:r>
              <a:rPr lang="en-US" sz="1800" i="1" kern="1200" dirty="0" err="1">
                <a:solidFill>
                  <a:srgbClr val="000099"/>
                </a:solidFill>
                <a:latin typeface="Arial" charset="0"/>
                <a:ea typeface="ＭＳ Ｐゴシック" charset="0"/>
                <a:cs typeface="Arial" charset="0"/>
              </a:rPr>
              <a:t>ip</a:t>
            </a:r>
            <a:r>
              <a:rPr lang="en-US" sz="1800" kern="1200" dirty="0">
                <a:solidFill>
                  <a:srgbClr val="000099"/>
                </a:solidFill>
                <a:latin typeface="Arial" charset="0"/>
                <a:ea typeface="ＭＳ Ｐゴシック" charset="0"/>
                <a:cs typeface="Arial" charset="0"/>
              </a:rPr>
              <a:t> to a value that we choose instead of the location of the if statement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430351" y="6503670"/>
            <a:ext cx="5713817" cy="338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>
            <a:spAutoFit/>
          </a:bodyPr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1600" kern="1200" dirty="0">
                <a:solidFill>
                  <a:prstClr val="black"/>
                </a:solidFill>
                <a:latin typeface="Arial"/>
                <a:ea typeface="ＭＳ Ｐゴシック" charset="0"/>
                <a:cs typeface="Arial"/>
              </a:rPr>
              <a:t>Barrett et al., </a:t>
            </a:r>
            <a:r>
              <a:rPr lang="en-US" sz="1600" i="1" kern="1200" dirty="0">
                <a:solidFill>
                  <a:prstClr val="black"/>
                </a:solidFill>
                <a:latin typeface="Arial"/>
                <a:ea typeface="ＭＳ Ｐゴシック" charset="0"/>
                <a:cs typeface="Arial"/>
              </a:rPr>
              <a:t>“Problem Solving for the 21st Century”</a:t>
            </a:r>
            <a:r>
              <a:rPr lang="en-US" sz="1600" kern="1200" dirty="0">
                <a:solidFill>
                  <a:prstClr val="black"/>
                </a:solidFill>
                <a:latin typeface="Arial"/>
                <a:ea typeface="ＭＳ Ｐゴシック" charset="0"/>
                <a:cs typeface="Arial"/>
              </a:rPr>
              <a:t>, 2014.</a:t>
            </a:r>
          </a:p>
        </p:txBody>
      </p:sp>
    </p:spTree>
    <p:extLst>
      <p:ext uri="{BB962C8B-B14F-4D97-AF65-F5344CB8AC3E}">
        <p14:creationId xmlns:p14="http://schemas.microsoft.com/office/powerpoint/2010/main" val="2074046819"/>
      </p:ext>
    </p:extLst>
  </p:cSld>
  <p:clrMapOvr>
    <a:masterClrMapping/>
  </p:clrMapOvr>
</p:sld>
</file>

<file path=ppt/theme/theme1.xml><?xml version="1.0" encoding="utf-8"?>
<a:theme xmlns:a="http://schemas.openxmlformats.org/drawingml/2006/main" name="2_Tema do Office">
  <a:themeElements>
    <a:clrScheme name="2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2_Tema do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2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computer-bunny.blue.pot">
      <a:majorFont>
        <a:latin typeface="Arial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computer-bunny.blue.po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uter-bunny.blue.po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4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Tema do Office">
  <a:themeElements>
    <a:clrScheme name="2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2_Tema do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2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8048</TotalTime>
  <Words>1222</Words>
  <Application>Microsoft Macintosh PowerPoint</Application>
  <PresentationFormat>On-screen Show (4:3)</PresentationFormat>
  <Paragraphs>174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Helvetica Neue</vt:lpstr>
      <vt:lpstr>Helvetica Neue Light</vt:lpstr>
      <vt:lpstr>Monotype Sorts</vt:lpstr>
      <vt:lpstr>Times New Roman</vt:lpstr>
      <vt:lpstr>Verdana</vt:lpstr>
      <vt:lpstr>Wingdings</vt:lpstr>
      <vt:lpstr>2_Tema do Office</vt:lpstr>
      <vt:lpstr>1_computer-bunny.blue</vt:lpstr>
      <vt:lpstr>4_Tema do Office</vt:lpstr>
      <vt:lpstr>PowerPoint Presentation</vt:lpstr>
      <vt:lpstr>PowerPoint Presentation</vt:lpstr>
      <vt:lpstr>What is Safety and Security?</vt:lpstr>
      <vt:lpstr>Overview</vt:lpstr>
      <vt:lpstr>PowerPoint Presentation</vt:lpstr>
      <vt:lpstr>PowerPoint Presentation</vt:lpstr>
      <vt:lpstr>PowerPoint Presentation</vt:lpstr>
      <vt:lpstr>PowerPoint Presentation</vt:lpstr>
      <vt:lpstr>Why are there security vulnerabilities? </vt:lpstr>
      <vt:lpstr>PowerPoint Presentation</vt:lpstr>
      <vt:lpstr>PowerPoint Presentation</vt:lpstr>
      <vt:lpstr>Common Vulnerability and Exposure</vt:lpstr>
      <vt:lpstr>Common Vulnerability and Exposure</vt:lpstr>
      <vt:lpstr>Why do we need to ensure software security? </vt:lpstr>
      <vt:lpstr>Industry NEEDS Formal Verification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Lucas Cordeiro</cp:lastModifiedBy>
  <cp:revision>389</cp:revision>
  <dcterms:modified xsi:type="dcterms:W3CDTF">2026-06-11T15:41:51Z</dcterms:modified>
</cp:coreProperties>
</file>